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5D0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554A20-85F6-4931-8DE1-0E2DC276F0A8}" v="17" dt="2026-04-07T21:24:43.9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59" d="100"/>
          <a:sy n="59" d="100"/>
        </p:scale>
        <p:origin x="40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éhane Aricat" userId="9b9baa68dadc99cd" providerId="LiveId" clId="{CFF65579-D951-4B49-9F67-1CAE19EE9A63}"/>
    <pc:docChg chg="undo custSel addSld delSld modSld">
      <pc:chgData name="Réhane Aricat" userId="9b9baa68dadc99cd" providerId="LiveId" clId="{CFF65579-D951-4B49-9F67-1CAE19EE9A63}" dt="2026-04-07T21:32:01.069" v="329" actId="1076"/>
      <pc:docMkLst>
        <pc:docMk/>
      </pc:docMkLst>
      <pc:sldChg chg="modSp mod">
        <pc:chgData name="Réhane Aricat" userId="9b9baa68dadc99cd" providerId="LiveId" clId="{CFF65579-D951-4B49-9F67-1CAE19EE9A63}" dt="2026-04-07T21:13:14.309" v="41" actId="1076"/>
        <pc:sldMkLst>
          <pc:docMk/>
          <pc:sldMk cId="0" sldId="259"/>
        </pc:sldMkLst>
        <pc:picChg chg="mod">
          <ac:chgData name="Réhane Aricat" userId="9b9baa68dadc99cd" providerId="LiveId" clId="{CFF65579-D951-4B49-9F67-1CAE19EE9A63}" dt="2026-04-07T21:13:14.309" v="41" actId="1076"/>
          <ac:picMkLst>
            <pc:docMk/>
            <pc:sldMk cId="0" sldId="259"/>
            <ac:picMk id="40" creationId="{FAA2EB97-78C2-A537-8F8A-33AFA3C4979A}"/>
          </ac:picMkLst>
        </pc:picChg>
      </pc:sldChg>
      <pc:sldChg chg="addSp delSp modSp mod">
        <pc:chgData name="Réhane Aricat" userId="9b9baa68dadc99cd" providerId="LiveId" clId="{CFF65579-D951-4B49-9F67-1CAE19EE9A63}" dt="2026-04-07T21:15:32.620" v="69" actId="1076"/>
        <pc:sldMkLst>
          <pc:docMk/>
          <pc:sldMk cId="0" sldId="260"/>
        </pc:sldMkLst>
        <pc:spChg chg="mod">
          <ac:chgData name="Réhane Aricat" userId="9b9baa68dadc99cd" providerId="LiveId" clId="{CFF65579-D951-4B49-9F67-1CAE19EE9A63}" dt="2026-04-07T21:07:02.184" v="9" actId="14100"/>
          <ac:spMkLst>
            <pc:docMk/>
            <pc:sldMk cId="0" sldId="260"/>
            <ac:spMk id="4" creationId="{00000000-0000-0000-0000-000000000000}"/>
          </ac:spMkLst>
        </pc:spChg>
        <pc:spChg chg="del">
          <ac:chgData name="Réhane Aricat" userId="9b9baa68dadc99cd" providerId="LiveId" clId="{CFF65579-D951-4B49-9F67-1CAE19EE9A63}" dt="2026-04-07T21:06:48.721" v="2" actId="478"/>
          <ac:spMkLst>
            <pc:docMk/>
            <pc:sldMk cId="0" sldId="260"/>
            <ac:spMk id="5" creationId="{00000000-0000-0000-0000-000000000000}"/>
          </ac:spMkLst>
        </pc:spChg>
        <pc:spChg chg="mod">
          <ac:chgData name="Réhane Aricat" userId="9b9baa68dadc99cd" providerId="LiveId" clId="{CFF65579-D951-4B49-9F67-1CAE19EE9A63}" dt="2026-04-07T21:07:13.104" v="11" actId="1076"/>
          <ac:spMkLst>
            <pc:docMk/>
            <pc:sldMk cId="0" sldId="260"/>
            <ac:spMk id="7" creationId="{00000000-0000-0000-0000-000000000000}"/>
          </ac:spMkLst>
        </pc:spChg>
        <pc:spChg chg="mod">
          <ac:chgData name="Réhane Aricat" userId="9b9baa68dadc99cd" providerId="LiveId" clId="{CFF65579-D951-4B49-9F67-1CAE19EE9A63}" dt="2026-04-07T21:07:21.749" v="13" actId="1076"/>
          <ac:spMkLst>
            <pc:docMk/>
            <pc:sldMk cId="0" sldId="260"/>
            <ac:spMk id="8" creationId="{00000000-0000-0000-0000-000000000000}"/>
          </ac:spMkLst>
        </pc:spChg>
        <pc:spChg chg="del">
          <ac:chgData name="Réhane Aricat" userId="9b9baa68dadc99cd" providerId="LiveId" clId="{CFF65579-D951-4B49-9F67-1CAE19EE9A63}" dt="2026-04-07T21:06:55.620" v="8" actId="478"/>
          <ac:spMkLst>
            <pc:docMk/>
            <pc:sldMk cId="0" sldId="260"/>
            <ac:spMk id="9" creationId="{00000000-0000-0000-0000-000000000000}"/>
          </ac:spMkLst>
        </pc:spChg>
        <pc:spChg chg="mod">
          <ac:chgData name="Réhane Aricat" userId="9b9baa68dadc99cd" providerId="LiveId" clId="{CFF65579-D951-4B49-9F67-1CAE19EE9A63}" dt="2026-04-07T21:10:39.711" v="21" actId="1076"/>
          <ac:spMkLst>
            <pc:docMk/>
            <pc:sldMk cId="0" sldId="260"/>
            <ac:spMk id="10" creationId="{00000000-0000-0000-0000-000000000000}"/>
          </ac:spMkLst>
        </pc:spChg>
        <pc:spChg chg="del">
          <ac:chgData name="Réhane Aricat" userId="9b9baa68dadc99cd" providerId="LiveId" clId="{CFF65579-D951-4B49-9F67-1CAE19EE9A63}" dt="2026-04-07T21:06:49.860" v="3" actId="478"/>
          <ac:spMkLst>
            <pc:docMk/>
            <pc:sldMk cId="0" sldId="260"/>
            <ac:spMk id="11" creationId="{00000000-0000-0000-0000-000000000000}"/>
          </ac:spMkLst>
        </pc:spChg>
        <pc:spChg chg="mod">
          <ac:chgData name="Réhane Aricat" userId="9b9baa68dadc99cd" providerId="LiveId" clId="{CFF65579-D951-4B49-9F67-1CAE19EE9A63}" dt="2026-04-07T21:10:04.474" v="16" actId="1076"/>
          <ac:spMkLst>
            <pc:docMk/>
            <pc:sldMk cId="0" sldId="260"/>
            <ac:spMk id="13" creationId="{00000000-0000-0000-0000-000000000000}"/>
          </ac:spMkLst>
        </pc:spChg>
        <pc:spChg chg="mod">
          <ac:chgData name="Réhane Aricat" userId="9b9baa68dadc99cd" providerId="LiveId" clId="{CFF65579-D951-4B49-9F67-1CAE19EE9A63}" dt="2026-04-07T21:12:06.358" v="31" actId="1076"/>
          <ac:spMkLst>
            <pc:docMk/>
            <pc:sldMk cId="0" sldId="260"/>
            <ac:spMk id="14" creationId="{00000000-0000-0000-0000-000000000000}"/>
          </ac:spMkLst>
        </pc:spChg>
        <pc:spChg chg="del">
          <ac:chgData name="Réhane Aricat" userId="9b9baa68dadc99cd" providerId="LiveId" clId="{CFF65579-D951-4B49-9F67-1CAE19EE9A63}" dt="2026-04-07T21:06:54.047" v="7" actId="478"/>
          <ac:spMkLst>
            <pc:docMk/>
            <pc:sldMk cId="0" sldId="260"/>
            <ac:spMk id="15" creationId="{00000000-0000-0000-0000-000000000000}"/>
          </ac:spMkLst>
        </pc:spChg>
        <pc:spChg chg="mod">
          <ac:chgData name="Réhane Aricat" userId="9b9baa68dadc99cd" providerId="LiveId" clId="{CFF65579-D951-4B49-9F67-1CAE19EE9A63}" dt="2026-04-07T21:11:40.280" v="29" actId="1076"/>
          <ac:spMkLst>
            <pc:docMk/>
            <pc:sldMk cId="0" sldId="260"/>
            <ac:spMk id="16" creationId="{00000000-0000-0000-0000-000000000000}"/>
          </ac:spMkLst>
        </pc:spChg>
        <pc:spChg chg="del">
          <ac:chgData name="Réhane Aricat" userId="9b9baa68dadc99cd" providerId="LiveId" clId="{CFF65579-D951-4B49-9F67-1CAE19EE9A63}" dt="2026-04-07T21:06:50.876" v="4" actId="478"/>
          <ac:spMkLst>
            <pc:docMk/>
            <pc:sldMk cId="0" sldId="260"/>
            <ac:spMk id="17" creationId="{00000000-0000-0000-0000-000000000000}"/>
          </ac:spMkLst>
        </pc:spChg>
        <pc:spChg chg="mod">
          <ac:chgData name="Réhane Aricat" userId="9b9baa68dadc99cd" providerId="LiveId" clId="{CFF65579-D951-4B49-9F67-1CAE19EE9A63}" dt="2026-04-07T21:11:05.669" v="25" actId="1076"/>
          <ac:spMkLst>
            <pc:docMk/>
            <pc:sldMk cId="0" sldId="260"/>
            <ac:spMk id="19" creationId="{00000000-0000-0000-0000-000000000000}"/>
          </ac:spMkLst>
        </pc:spChg>
        <pc:spChg chg="mod">
          <ac:chgData name="Réhane Aricat" userId="9b9baa68dadc99cd" providerId="LiveId" clId="{CFF65579-D951-4B49-9F67-1CAE19EE9A63}" dt="2026-04-07T21:12:14.874" v="32" actId="1076"/>
          <ac:spMkLst>
            <pc:docMk/>
            <pc:sldMk cId="0" sldId="260"/>
            <ac:spMk id="20" creationId="{00000000-0000-0000-0000-000000000000}"/>
          </ac:spMkLst>
        </pc:spChg>
        <pc:spChg chg="del">
          <ac:chgData name="Réhane Aricat" userId="9b9baa68dadc99cd" providerId="LiveId" clId="{CFF65579-D951-4B49-9F67-1CAE19EE9A63}" dt="2026-04-07T21:06:52.947" v="6" actId="478"/>
          <ac:spMkLst>
            <pc:docMk/>
            <pc:sldMk cId="0" sldId="260"/>
            <ac:spMk id="21" creationId="{00000000-0000-0000-0000-000000000000}"/>
          </ac:spMkLst>
        </pc:spChg>
        <pc:spChg chg="mod">
          <ac:chgData name="Réhane Aricat" userId="9b9baa68dadc99cd" providerId="LiveId" clId="{CFF65579-D951-4B49-9F67-1CAE19EE9A63}" dt="2026-04-07T21:12:29.861" v="33" actId="14100"/>
          <ac:spMkLst>
            <pc:docMk/>
            <pc:sldMk cId="0" sldId="260"/>
            <ac:spMk id="22" creationId="{00000000-0000-0000-0000-000000000000}"/>
          </ac:spMkLst>
        </pc:spChg>
        <pc:spChg chg="del">
          <ac:chgData name="Réhane Aricat" userId="9b9baa68dadc99cd" providerId="LiveId" clId="{CFF65579-D951-4B49-9F67-1CAE19EE9A63}" dt="2026-04-07T21:06:51.777" v="5" actId="478"/>
          <ac:spMkLst>
            <pc:docMk/>
            <pc:sldMk cId="0" sldId="260"/>
            <ac:spMk id="23" creationId="{00000000-0000-0000-0000-000000000000}"/>
          </ac:spMkLst>
        </pc:spChg>
        <pc:spChg chg="mod">
          <ac:chgData name="Réhane Aricat" userId="9b9baa68dadc99cd" providerId="LiveId" clId="{CFF65579-D951-4B49-9F67-1CAE19EE9A63}" dt="2026-04-07T21:12:49.171" v="35" actId="1076"/>
          <ac:spMkLst>
            <pc:docMk/>
            <pc:sldMk cId="0" sldId="260"/>
            <ac:spMk id="25" creationId="{00000000-0000-0000-0000-000000000000}"/>
          </ac:spMkLst>
        </pc:spChg>
        <pc:spChg chg="mod">
          <ac:chgData name="Réhane Aricat" userId="9b9baa68dadc99cd" providerId="LiveId" clId="{CFF65579-D951-4B49-9F67-1CAE19EE9A63}" dt="2026-04-07T21:13:00.820" v="37" actId="1076"/>
          <ac:spMkLst>
            <pc:docMk/>
            <pc:sldMk cId="0" sldId="260"/>
            <ac:spMk id="26" creationId="{00000000-0000-0000-0000-000000000000}"/>
          </ac:spMkLst>
        </pc:spChg>
        <pc:picChg chg="add mod">
          <ac:chgData name="Réhane Aricat" userId="9b9baa68dadc99cd" providerId="LiveId" clId="{CFF65579-D951-4B49-9F67-1CAE19EE9A63}" dt="2026-04-07T21:13:09.429" v="40" actId="14100"/>
          <ac:picMkLst>
            <pc:docMk/>
            <pc:sldMk cId="0" sldId="260"/>
            <ac:picMk id="35" creationId="{B7FD8E12-DFAD-B5F2-C2E9-4F9328CBD8F2}"/>
          </ac:picMkLst>
        </pc:picChg>
        <pc:picChg chg="add del mod">
          <ac:chgData name="Réhane Aricat" userId="9b9baa68dadc99cd" providerId="LiveId" clId="{CFF65579-D951-4B49-9F67-1CAE19EE9A63}" dt="2026-04-07T21:15:22.931" v="66" actId="478"/>
          <ac:picMkLst>
            <pc:docMk/>
            <pc:sldMk cId="0" sldId="260"/>
            <ac:picMk id="36" creationId="{9F283FEE-CBD6-B13D-DF80-C8A927BB78AD}"/>
          </ac:picMkLst>
        </pc:picChg>
        <pc:picChg chg="add del mod">
          <ac:chgData name="Réhane Aricat" userId="9b9baa68dadc99cd" providerId="LiveId" clId="{CFF65579-D951-4B49-9F67-1CAE19EE9A63}" dt="2026-04-07T21:14:05.402" v="46" actId="478"/>
          <ac:picMkLst>
            <pc:docMk/>
            <pc:sldMk cId="0" sldId="260"/>
            <ac:picMk id="38" creationId="{BE9BE68E-B97F-5B3E-5D30-D99DE93D01B3}"/>
          </ac:picMkLst>
        </pc:picChg>
        <pc:picChg chg="add del">
          <ac:chgData name="Réhane Aricat" userId="9b9baa68dadc99cd" providerId="LiveId" clId="{CFF65579-D951-4B49-9F67-1CAE19EE9A63}" dt="2026-04-07T21:14:20.465" v="48" actId="478"/>
          <ac:picMkLst>
            <pc:docMk/>
            <pc:sldMk cId="0" sldId="260"/>
            <ac:picMk id="40" creationId="{23425368-A105-C5CE-52F1-62EDF365C758}"/>
          </ac:picMkLst>
        </pc:picChg>
        <pc:picChg chg="add mod">
          <ac:chgData name="Réhane Aricat" userId="9b9baa68dadc99cd" providerId="LiveId" clId="{CFF65579-D951-4B49-9F67-1CAE19EE9A63}" dt="2026-04-07T21:15:32.620" v="69" actId="1076"/>
          <ac:picMkLst>
            <pc:docMk/>
            <pc:sldMk cId="0" sldId="260"/>
            <ac:picMk id="42" creationId="{D34D9F9B-E5E9-3413-A652-C25507383444}"/>
          </ac:picMkLst>
        </pc:picChg>
      </pc:sldChg>
      <pc:sldChg chg="modSp mod">
        <pc:chgData name="Réhane Aricat" userId="9b9baa68dadc99cd" providerId="LiveId" clId="{CFF65579-D951-4B49-9F67-1CAE19EE9A63}" dt="2026-04-07T21:30:16.702" v="317" actId="790"/>
        <pc:sldMkLst>
          <pc:docMk/>
          <pc:sldMk cId="0" sldId="261"/>
        </pc:sldMkLst>
        <pc:spChg chg="mod">
          <ac:chgData name="Réhane Aricat" userId="9b9baa68dadc99cd" providerId="LiveId" clId="{CFF65579-D951-4B49-9F67-1CAE19EE9A63}" dt="2026-04-07T21:30:16.702" v="317" actId="790"/>
          <ac:spMkLst>
            <pc:docMk/>
            <pc:sldMk cId="0" sldId="261"/>
            <ac:spMk id="14" creationId="{00000000-0000-0000-0000-000000000000}"/>
          </ac:spMkLst>
        </pc:spChg>
      </pc:sldChg>
      <pc:sldChg chg="delSp modSp add mod">
        <pc:chgData name="Réhane Aricat" userId="9b9baa68dadc99cd" providerId="LiveId" clId="{CFF65579-D951-4B49-9F67-1CAE19EE9A63}" dt="2026-04-07T21:17:38.178" v="90" actId="790"/>
        <pc:sldMkLst>
          <pc:docMk/>
          <pc:sldMk cId="390611924" sldId="270"/>
        </pc:sldMkLst>
        <pc:spChg chg="mod">
          <ac:chgData name="Réhane Aricat" userId="9b9baa68dadc99cd" providerId="LiveId" clId="{CFF65579-D951-4B49-9F67-1CAE19EE9A63}" dt="2026-04-07T21:17:38.178" v="90" actId="790"/>
          <ac:spMkLst>
            <pc:docMk/>
            <pc:sldMk cId="390611924" sldId="270"/>
            <ac:spMk id="4" creationId="{40BD754F-1420-DBE1-11AD-6F2804F6AE45}"/>
          </ac:spMkLst>
        </pc:spChg>
        <pc:spChg chg="del mod">
          <ac:chgData name="Réhane Aricat" userId="9b9baa68dadc99cd" providerId="LiveId" clId="{CFF65579-D951-4B49-9F67-1CAE19EE9A63}" dt="2026-04-07T21:17:21.186" v="79" actId="21"/>
          <ac:spMkLst>
            <pc:docMk/>
            <pc:sldMk cId="390611924" sldId="270"/>
            <ac:spMk id="6" creationId="{48BA47EB-7E4A-08BC-DFA3-2F20D7CC427D}"/>
          </ac:spMkLst>
        </pc:spChg>
      </pc:sldChg>
      <pc:sldChg chg="add del">
        <pc:chgData name="Réhane Aricat" userId="9b9baa68dadc99cd" providerId="LiveId" clId="{CFF65579-D951-4B49-9F67-1CAE19EE9A63}" dt="2026-04-07T21:06:07.720" v="1" actId="2696"/>
        <pc:sldMkLst>
          <pc:docMk/>
          <pc:sldMk cId="3434688646" sldId="270"/>
        </pc:sldMkLst>
      </pc:sldChg>
      <pc:sldChg chg="addSp delSp modSp add mod modAnim">
        <pc:chgData name="Réhane Aricat" userId="9b9baa68dadc99cd" providerId="LiveId" clId="{CFF65579-D951-4B49-9F67-1CAE19EE9A63}" dt="2026-04-07T21:28:05.033" v="206" actId="20577"/>
        <pc:sldMkLst>
          <pc:docMk/>
          <pc:sldMk cId="1812432925" sldId="271"/>
        </pc:sldMkLst>
        <pc:spChg chg="mod">
          <ac:chgData name="Réhane Aricat" userId="9b9baa68dadc99cd" providerId="LiveId" clId="{CFF65579-D951-4B49-9F67-1CAE19EE9A63}" dt="2026-04-07T21:18:29.551" v="95" actId="1076"/>
          <ac:spMkLst>
            <pc:docMk/>
            <pc:sldMk cId="1812432925" sldId="271"/>
            <ac:spMk id="2" creationId="{A41E5E4C-A84C-0A55-5A0D-698F0B5E32AB}"/>
          </ac:spMkLst>
        </pc:spChg>
        <pc:spChg chg="mod">
          <ac:chgData name="Réhane Aricat" userId="9b9baa68dadc99cd" providerId="LiveId" clId="{CFF65579-D951-4B49-9F67-1CAE19EE9A63}" dt="2026-04-07T21:18:37.646" v="114" actId="20577"/>
          <ac:spMkLst>
            <pc:docMk/>
            <pc:sldMk cId="1812432925" sldId="271"/>
            <ac:spMk id="3" creationId="{1CB4607F-F1F6-869C-5B97-6B5C07C00E45}"/>
          </ac:spMkLst>
        </pc:spChg>
        <pc:spChg chg="del">
          <ac:chgData name="Réhane Aricat" userId="9b9baa68dadc99cd" providerId="LiveId" clId="{CFF65579-D951-4B49-9F67-1CAE19EE9A63}" dt="2026-04-07T21:18:55.298" v="119" actId="21"/>
          <ac:spMkLst>
            <pc:docMk/>
            <pc:sldMk cId="1812432925" sldId="271"/>
            <ac:spMk id="5" creationId="{C732F306-D7FC-8019-9EE2-FD5FD8BEC716}"/>
          </ac:spMkLst>
        </pc:spChg>
        <pc:spChg chg="del">
          <ac:chgData name="Réhane Aricat" userId="9b9baa68dadc99cd" providerId="LiveId" clId="{CFF65579-D951-4B49-9F67-1CAE19EE9A63}" dt="2026-04-07T21:18:51.696" v="118" actId="21"/>
          <ac:spMkLst>
            <pc:docMk/>
            <pc:sldMk cId="1812432925" sldId="271"/>
            <ac:spMk id="6" creationId="{E6092B28-FDA9-6E4A-3082-29188047E44C}"/>
          </ac:spMkLst>
        </pc:spChg>
        <pc:spChg chg="mod">
          <ac:chgData name="Réhane Aricat" userId="9b9baa68dadc99cd" providerId="LiveId" clId="{CFF65579-D951-4B49-9F67-1CAE19EE9A63}" dt="2026-04-07T21:28:05.033" v="206" actId="20577"/>
          <ac:spMkLst>
            <pc:docMk/>
            <pc:sldMk cId="1812432925" sldId="271"/>
            <ac:spMk id="9" creationId="{0E46D584-3C64-7835-5C47-49F607D741BE}"/>
          </ac:spMkLst>
        </pc:spChg>
        <pc:graphicFrameChg chg="del mod modGraphic">
          <ac:chgData name="Réhane Aricat" userId="9b9baa68dadc99cd" providerId="LiveId" clId="{CFF65579-D951-4B49-9F67-1CAE19EE9A63}" dt="2026-04-07T21:18:48.691" v="117" actId="21"/>
          <ac:graphicFrameMkLst>
            <pc:docMk/>
            <pc:sldMk cId="1812432925" sldId="271"/>
            <ac:graphicFrameMk id="11" creationId="{144DB14A-EF27-1DC1-F03F-0BE54B79BB5D}"/>
          </ac:graphicFrameMkLst>
        </pc:graphicFrameChg>
        <pc:picChg chg="add mod modCrop">
          <ac:chgData name="Réhane Aricat" userId="9b9baa68dadc99cd" providerId="LiveId" clId="{CFF65579-D951-4B49-9F67-1CAE19EE9A63}" dt="2026-04-07T21:21:27.960" v="143" actId="1076"/>
          <ac:picMkLst>
            <pc:docMk/>
            <pc:sldMk cId="1812432925" sldId="271"/>
            <ac:picMk id="10" creationId="{9C6829E5-6736-ACDB-A0D2-EA506861ABE8}"/>
          </ac:picMkLst>
        </pc:picChg>
        <pc:picChg chg="add mod">
          <ac:chgData name="Réhane Aricat" userId="9b9baa68dadc99cd" providerId="LiveId" clId="{CFF65579-D951-4B49-9F67-1CAE19EE9A63}" dt="2026-04-07T21:25:43.134" v="182" actId="1076"/>
          <ac:picMkLst>
            <pc:docMk/>
            <pc:sldMk cId="1812432925" sldId="271"/>
            <ac:picMk id="13" creationId="{C3678D60-4503-EB4E-2E81-3D07E6CC7BA1}"/>
          </ac:picMkLst>
        </pc:picChg>
        <pc:picChg chg="add mod">
          <ac:chgData name="Réhane Aricat" userId="9b9baa68dadc99cd" providerId="LiveId" clId="{CFF65579-D951-4B49-9F67-1CAE19EE9A63}" dt="2026-04-07T21:21:25.991" v="142" actId="1076"/>
          <ac:picMkLst>
            <pc:docMk/>
            <pc:sldMk cId="1812432925" sldId="271"/>
            <ac:picMk id="15" creationId="{4AE9656C-3EAF-87DE-C18D-7070F873160A}"/>
          </ac:picMkLst>
        </pc:picChg>
        <pc:picChg chg="add mod">
          <ac:chgData name="Réhane Aricat" userId="9b9baa68dadc99cd" providerId="LiveId" clId="{CFF65579-D951-4B49-9F67-1CAE19EE9A63}" dt="2026-04-07T21:25:47.831" v="183" actId="1076"/>
          <ac:picMkLst>
            <pc:docMk/>
            <pc:sldMk cId="1812432925" sldId="271"/>
            <ac:picMk id="17" creationId="{44CC1DAB-43B4-9E41-EF6C-8FEC199FD752}"/>
          </ac:picMkLst>
        </pc:picChg>
      </pc:sldChg>
      <pc:sldChg chg="new del">
        <pc:chgData name="Réhane Aricat" userId="9b9baa68dadc99cd" providerId="LiveId" clId="{CFF65579-D951-4B49-9F67-1CAE19EE9A63}" dt="2026-04-07T21:18:04.247" v="92" actId="2696"/>
        <pc:sldMkLst>
          <pc:docMk/>
          <pc:sldMk cId="2160520948" sldId="271"/>
        </pc:sldMkLst>
      </pc:sldChg>
      <pc:sldChg chg="addSp delSp modSp add mod">
        <pc:chgData name="Réhane Aricat" userId="9b9baa68dadc99cd" providerId="LiveId" clId="{CFF65579-D951-4B49-9F67-1CAE19EE9A63}" dt="2026-04-07T21:28:09.077" v="211" actId="20577"/>
        <pc:sldMkLst>
          <pc:docMk/>
          <pc:sldMk cId="3681387145" sldId="272"/>
        </pc:sldMkLst>
        <pc:spChg chg="mod">
          <ac:chgData name="Réhane Aricat" userId="9b9baa68dadc99cd" providerId="LiveId" clId="{CFF65579-D951-4B49-9F67-1CAE19EE9A63}" dt="2026-04-07T21:24:59.902" v="165" actId="20577"/>
          <ac:spMkLst>
            <pc:docMk/>
            <pc:sldMk cId="3681387145" sldId="272"/>
            <ac:spMk id="3" creationId="{0D259454-6459-83F4-ACCF-1AE6728A3BA4}"/>
          </ac:spMkLst>
        </pc:spChg>
        <pc:spChg chg="mod">
          <ac:chgData name="Réhane Aricat" userId="9b9baa68dadc99cd" providerId="LiveId" clId="{CFF65579-D951-4B49-9F67-1CAE19EE9A63}" dt="2026-04-07T21:28:09.077" v="211" actId="20577"/>
          <ac:spMkLst>
            <pc:docMk/>
            <pc:sldMk cId="3681387145" sldId="272"/>
            <ac:spMk id="9" creationId="{57FB144C-AC90-325F-FBAF-E25134D091A4}"/>
          </ac:spMkLst>
        </pc:spChg>
        <pc:picChg chg="add mod">
          <ac:chgData name="Réhane Aricat" userId="9b9baa68dadc99cd" providerId="LiveId" clId="{CFF65579-D951-4B49-9F67-1CAE19EE9A63}" dt="2026-04-07T21:27:04.995" v="195" actId="1076"/>
          <ac:picMkLst>
            <pc:docMk/>
            <pc:sldMk cId="3681387145" sldId="272"/>
            <ac:picMk id="5" creationId="{2283CE25-2AF6-153D-49B6-75C7A4752CB5}"/>
          </ac:picMkLst>
        </pc:picChg>
        <pc:picChg chg="del">
          <ac:chgData name="Réhane Aricat" userId="9b9baa68dadc99cd" providerId="LiveId" clId="{CFF65579-D951-4B49-9F67-1CAE19EE9A63}" dt="2026-04-07T21:25:13.863" v="173" actId="478"/>
          <ac:picMkLst>
            <pc:docMk/>
            <pc:sldMk cId="3681387145" sldId="272"/>
            <ac:picMk id="10" creationId="{D4BAC1CA-42D3-933D-4792-1BAA2D647DE9}"/>
          </ac:picMkLst>
        </pc:picChg>
        <pc:picChg chg="add mod">
          <ac:chgData name="Réhane Aricat" userId="9b9baa68dadc99cd" providerId="LiveId" clId="{CFF65579-D951-4B49-9F67-1CAE19EE9A63}" dt="2026-04-07T21:26:49.958" v="187" actId="1076"/>
          <ac:picMkLst>
            <pc:docMk/>
            <pc:sldMk cId="3681387145" sldId="272"/>
            <ac:picMk id="11" creationId="{B9E2BB30-AF48-232E-9A8D-16A91AE295E7}"/>
          </ac:picMkLst>
        </pc:picChg>
        <pc:picChg chg="del">
          <ac:chgData name="Réhane Aricat" userId="9b9baa68dadc99cd" providerId="LiveId" clId="{CFF65579-D951-4B49-9F67-1CAE19EE9A63}" dt="2026-04-07T21:25:12.977" v="171" actId="478"/>
          <ac:picMkLst>
            <pc:docMk/>
            <pc:sldMk cId="3681387145" sldId="272"/>
            <ac:picMk id="13" creationId="{BC7BA549-5FCC-10FD-7421-DB51ADF9C8B6}"/>
          </ac:picMkLst>
        </pc:picChg>
        <pc:picChg chg="add mod">
          <ac:chgData name="Réhane Aricat" userId="9b9baa68dadc99cd" providerId="LiveId" clId="{CFF65579-D951-4B49-9F67-1CAE19EE9A63}" dt="2026-04-07T21:27:08.225" v="196" actId="1076"/>
          <ac:picMkLst>
            <pc:docMk/>
            <pc:sldMk cId="3681387145" sldId="272"/>
            <ac:picMk id="14" creationId="{D97CF7A9-91E0-40E5-4921-E14BCF2D9683}"/>
          </ac:picMkLst>
        </pc:picChg>
        <pc:picChg chg="del">
          <ac:chgData name="Réhane Aricat" userId="9b9baa68dadc99cd" providerId="LiveId" clId="{CFF65579-D951-4B49-9F67-1CAE19EE9A63}" dt="2026-04-07T21:25:13.443" v="172" actId="478"/>
          <ac:picMkLst>
            <pc:docMk/>
            <pc:sldMk cId="3681387145" sldId="272"/>
            <ac:picMk id="15" creationId="{4671D8EC-7F9A-ECB6-CB08-AA5907C0B451}"/>
          </ac:picMkLst>
        </pc:picChg>
        <pc:picChg chg="del">
          <ac:chgData name="Réhane Aricat" userId="9b9baa68dadc99cd" providerId="LiveId" clId="{CFF65579-D951-4B49-9F67-1CAE19EE9A63}" dt="2026-04-07T21:25:12.400" v="170" actId="478"/>
          <ac:picMkLst>
            <pc:docMk/>
            <pc:sldMk cId="3681387145" sldId="272"/>
            <ac:picMk id="17" creationId="{638CE859-6380-3B5C-620C-AC88D4BB0038}"/>
          </ac:picMkLst>
        </pc:picChg>
        <pc:picChg chg="add mod">
          <ac:chgData name="Réhane Aricat" userId="9b9baa68dadc99cd" providerId="LiveId" clId="{CFF65579-D951-4B49-9F67-1CAE19EE9A63}" dt="2026-04-07T21:27:16.301" v="199" actId="1076"/>
          <ac:picMkLst>
            <pc:docMk/>
            <pc:sldMk cId="3681387145" sldId="272"/>
            <ac:picMk id="18" creationId="{6BB2DC22-F67E-7955-FA4A-099B7DF4C90C}"/>
          </ac:picMkLst>
        </pc:picChg>
      </pc:sldChg>
      <pc:sldChg chg="addSp delSp modSp add mod">
        <pc:chgData name="Réhane Aricat" userId="9b9baa68dadc99cd" providerId="LiveId" clId="{CFF65579-D951-4B49-9F67-1CAE19EE9A63}" dt="2026-04-07T21:29:24.560" v="225" actId="1076"/>
        <pc:sldMkLst>
          <pc:docMk/>
          <pc:sldMk cId="3804651350" sldId="273"/>
        </pc:sldMkLst>
        <pc:spChg chg="mod">
          <ac:chgData name="Réhane Aricat" userId="9b9baa68dadc99cd" providerId="LiveId" clId="{CFF65579-D951-4B49-9F67-1CAE19EE9A63}" dt="2026-04-07T21:25:04.419" v="167" actId="20577"/>
          <ac:spMkLst>
            <pc:docMk/>
            <pc:sldMk cId="3804651350" sldId="273"/>
            <ac:spMk id="3" creationId="{1C970E09-B61B-9CBF-DB38-9E45A8B1B52E}"/>
          </ac:spMkLst>
        </pc:spChg>
        <pc:picChg chg="add mod">
          <ac:chgData name="Réhane Aricat" userId="9b9baa68dadc99cd" providerId="LiveId" clId="{CFF65579-D951-4B49-9F67-1CAE19EE9A63}" dt="2026-04-07T21:29:24.560" v="225" actId="1076"/>
          <ac:picMkLst>
            <pc:docMk/>
            <pc:sldMk cId="3804651350" sldId="273"/>
            <ac:picMk id="5" creationId="{FAEB2709-4EC4-CD1D-7C7C-1096DCA9506F}"/>
          </ac:picMkLst>
        </pc:picChg>
        <pc:picChg chg="del">
          <ac:chgData name="Réhane Aricat" userId="9b9baa68dadc99cd" providerId="LiveId" clId="{CFF65579-D951-4B49-9F67-1CAE19EE9A63}" dt="2026-04-07T21:25:16.253" v="176" actId="478"/>
          <ac:picMkLst>
            <pc:docMk/>
            <pc:sldMk cId="3804651350" sldId="273"/>
            <ac:picMk id="10" creationId="{9BF807AC-A75B-87FD-65D4-891306D2594B}"/>
          </ac:picMkLst>
        </pc:picChg>
        <pc:picChg chg="add mod">
          <ac:chgData name="Réhane Aricat" userId="9b9baa68dadc99cd" providerId="LiveId" clId="{CFF65579-D951-4B49-9F67-1CAE19EE9A63}" dt="2026-04-07T21:29:18.606" v="223" actId="1076"/>
          <ac:picMkLst>
            <pc:docMk/>
            <pc:sldMk cId="3804651350" sldId="273"/>
            <ac:picMk id="11" creationId="{32BA9978-4440-C023-2AB1-7C6C40E624DB}"/>
          </ac:picMkLst>
        </pc:picChg>
        <pc:picChg chg="del">
          <ac:chgData name="Réhane Aricat" userId="9b9baa68dadc99cd" providerId="LiveId" clId="{CFF65579-D951-4B49-9F67-1CAE19EE9A63}" dt="2026-04-07T21:25:15.733" v="175" actId="478"/>
          <ac:picMkLst>
            <pc:docMk/>
            <pc:sldMk cId="3804651350" sldId="273"/>
            <ac:picMk id="13" creationId="{2C750BAD-5334-7730-1E2B-A8A293341580}"/>
          </ac:picMkLst>
        </pc:picChg>
        <pc:picChg chg="add mod">
          <ac:chgData name="Réhane Aricat" userId="9b9baa68dadc99cd" providerId="LiveId" clId="{CFF65579-D951-4B49-9F67-1CAE19EE9A63}" dt="2026-04-07T21:29:11.694" v="220" actId="1076"/>
          <ac:picMkLst>
            <pc:docMk/>
            <pc:sldMk cId="3804651350" sldId="273"/>
            <ac:picMk id="14" creationId="{008F4B7D-EF28-053B-D5F7-85F05A4D609F}"/>
          </ac:picMkLst>
        </pc:picChg>
        <pc:picChg chg="del">
          <ac:chgData name="Réhane Aricat" userId="9b9baa68dadc99cd" providerId="LiveId" clId="{CFF65579-D951-4B49-9F67-1CAE19EE9A63}" dt="2026-04-07T21:25:16.732" v="177" actId="478"/>
          <ac:picMkLst>
            <pc:docMk/>
            <pc:sldMk cId="3804651350" sldId="273"/>
            <ac:picMk id="15" creationId="{DF7F7DDC-D0FC-16C5-0787-50348F4C89BC}"/>
          </ac:picMkLst>
        </pc:picChg>
        <pc:picChg chg="del">
          <ac:chgData name="Réhane Aricat" userId="9b9baa68dadc99cd" providerId="LiveId" clId="{CFF65579-D951-4B49-9F67-1CAE19EE9A63}" dt="2026-04-07T21:25:15.253" v="174" actId="478"/>
          <ac:picMkLst>
            <pc:docMk/>
            <pc:sldMk cId="3804651350" sldId="273"/>
            <ac:picMk id="17" creationId="{276803DD-28AE-D055-A531-5F3D54EE815C}"/>
          </ac:picMkLst>
        </pc:picChg>
        <pc:picChg chg="add mod">
          <ac:chgData name="Réhane Aricat" userId="9b9baa68dadc99cd" providerId="LiveId" clId="{CFF65579-D951-4B49-9F67-1CAE19EE9A63}" dt="2026-04-07T21:29:03.171" v="216" actId="1076"/>
          <ac:picMkLst>
            <pc:docMk/>
            <pc:sldMk cId="3804651350" sldId="273"/>
            <ac:picMk id="18" creationId="{C6CEA9ED-4213-C2E8-E314-8BF21145E23C}"/>
          </ac:picMkLst>
        </pc:picChg>
      </pc:sldChg>
      <pc:sldChg chg="addSp delSp modSp add mod">
        <pc:chgData name="Réhane Aricat" userId="9b9baa68dadc99cd" providerId="LiveId" clId="{CFF65579-D951-4B49-9F67-1CAE19EE9A63}" dt="2026-04-07T21:32:01.069" v="329" actId="1076"/>
        <pc:sldMkLst>
          <pc:docMk/>
          <pc:sldMk cId="3825783617" sldId="274"/>
        </pc:sldMkLst>
        <pc:spChg chg="mod">
          <ac:chgData name="Réhane Aricat" userId="9b9baa68dadc99cd" providerId="LiveId" clId="{CFF65579-D951-4B49-9F67-1CAE19EE9A63}" dt="2026-04-07T21:25:09.895" v="169" actId="20577"/>
          <ac:spMkLst>
            <pc:docMk/>
            <pc:sldMk cId="3825783617" sldId="274"/>
            <ac:spMk id="3" creationId="{76049975-DBC2-BA1F-630C-A4414E529F21}"/>
          </ac:spMkLst>
        </pc:spChg>
        <pc:picChg chg="add mod">
          <ac:chgData name="Réhane Aricat" userId="9b9baa68dadc99cd" providerId="LiveId" clId="{CFF65579-D951-4B49-9F67-1CAE19EE9A63}" dt="2026-04-07T21:31:53.664" v="328" actId="14100"/>
          <ac:picMkLst>
            <pc:docMk/>
            <pc:sldMk cId="3825783617" sldId="274"/>
            <ac:picMk id="5" creationId="{2A097F66-B02F-0D5E-046D-A7CEA4EA02FA}"/>
          </ac:picMkLst>
        </pc:picChg>
        <pc:picChg chg="del">
          <ac:chgData name="Réhane Aricat" userId="9b9baa68dadc99cd" providerId="LiveId" clId="{CFF65579-D951-4B49-9F67-1CAE19EE9A63}" dt="2026-04-07T21:25:20.020" v="181" actId="478"/>
          <ac:picMkLst>
            <pc:docMk/>
            <pc:sldMk cId="3825783617" sldId="274"/>
            <ac:picMk id="10" creationId="{94F23896-BDB6-C6F7-5A40-0DEC69F4F910}"/>
          </ac:picMkLst>
        </pc:picChg>
        <pc:picChg chg="add mod">
          <ac:chgData name="Réhane Aricat" userId="9b9baa68dadc99cd" providerId="LiveId" clId="{CFF65579-D951-4B49-9F67-1CAE19EE9A63}" dt="2026-04-07T21:31:50.855" v="327" actId="14100"/>
          <ac:picMkLst>
            <pc:docMk/>
            <pc:sldMk cId="3825783617" sldId="274"/>
            <ac:picMk id="11" creationId="{32C5BFC7-7F00-94F1-CBF7-C17D51895DEB}"/>
          </ac:picMkLst>
        </pc:picChg>
        <pc:picChg chg="del">
          <ac:chgData name="Réhane Aricat" userId="9b9baa68dadc99cd" providerId="LiveId" clId="{CFF65579-D951-4B49-9F67-1CAE19EE9A63}" dt="2026-04-07T21:25:18.609" v="179" actId="478"/>
          <ac:picMkLst>
            <pc:docMk/>
            <pc:sldMk cId="3825783617" sldId="274"/>
            <ac:picMk id="13" creationId="{A9068277-A19E-C8DB-4E1C-158E5C13274B}"/>
          </ac:picMkLst>
        </pc:picChg>
        <pc:picChg chg="add mod">
          <ac:chgData name="Réhane Aricat" userId="9b9baa68dadc99cd" providerId="LiveId" clId="{CFF65579-D951-4B49-9F67-1CAE19EE9A63}" dt="2026-04-07T21:32:01.069" v="329" actId="1076"/>
          <ac:picMkLst>
            <pc:docMk/>
            <pc:sldMk cId="3825783617" sldId="274"/>
            <ac:picMk id="14" creationId="{E43C9632-4AD7-993A-B3FA-0CA5D31C2795}"/>
          </ac:picMkLst>
        </pc:picChg>
        <pc:picChg chg="del">
          <ac:chgData name="Réhane Aricat" userId="9b9baa68dadc99cd" providerId="LiveId" clId="{CFF65579-D951-4B49-9F67-1CAE19EE9A63}" dt="2026-04-07T21:25:19.520" v="180" actId="478"/>
          <ac:picMkLst>
            <pc:docMk/>
            <pc:sldMk cId="3825783617" sldId="274"/>
            <ac:picMk id="15" creationId="{BCF47085-F5B5-AA47-928A-888C23674ABC}"/>
          </ac:picMkLst>
        </pc:picChg>
        <pc:picChg chg="del">
          <ac:chgData name="Réhane Aricat" userId="9b9baa68dadc99cd" providerId="LiveId" clId="{CFF65579-D951-4B49-9F67-1CAE19EE9A63}" dt="2026-04-07T21:25:18.138" v="178" actId="478"/>
          <ac:picMkLst>
            <pc:docMk/>
            <pc:sldMk cId="3825783617" sldId="274"/>
            <ac:picMk id="17" creationId="{387BBF3E-A7BC-D5BE-6273-FB8875F32913}"/>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c:style val="2"/>
  <c:chart>
    <c:title>
      <c:tx>
        <c:rich>
          <a:bodyPr/>
          <a:lstStyle/>
          <a:p>
            <a:pPr>
              <a:defRPr sz="1800" b="0" i="0" u="none" strike="noStrike">
                <a:solidFill>
                  <a:srgbClr val="000000"/>
                </a:solidFill>
                <a:latin typeface="Arial"/>
              </a:defRPr>
            </a:pPr>
            <a:r>
              <a:rPr lang="fr-FR" sz="1800" b="0" i="0" u="none" strike="noStrike">
                <a:solidFill>
                  <a:srgbClr val="000000"/>
                </a:solidFill>
                <a:latin typeface="Arial"/>
              </a:rPr>
              <a:t>Accuracy finale (%) — CIFAR-10</a:t>
            </a:r>
          </a:p>
        </c:rich>
      </c:tx>
      <c:overlay val="0"/>
    </c:title>
    <c:autoTitleDeleted val="0"/>
    <c:plotArea>
      <c:layout/>
      <c:barChart>
        <c:barDir val="col"/>
        <c:grouping val="clustered"/>
        <c:varyColors val="0"/>
        <c:ser>
          <c:idx val="0"/>
          <c:order val="0"/>
          <c:tx>
            <c:strRef>
              <c:f>Sheet1!$B$1</c:f>
              <c:strCache>
                <c:ptCount val="1"/>
                <c:pt idx="0">
                  <c:v>ViT</c:v>
                </c:pt>
              </c:strCache>
            </c:strRef>
          </c:tx>
          <c:spPr>
            <a:solidFill>
              <a:srgbClr val="2E3F7F"/>
            </a:solidFill>
            <a:effectLst/>
          </c:spPr>
          <c:invertIfNegative val="0"/>
          <c:dLbls>
            <c:numFmt formatCode="#,##0" sourceLinked="0"/>
            <c:spPr>
              <a:noFill/>
              <a:ln>
                <a:noFill/>
              </a:ln>
              <a:effectLst/>
            </c:spPr>
            <c:txPr>
              <a:bodyPr/>
              <a:lstStyle/>
              <a:p>
                <a:pPr>
                  <a:defRPr sz="1200" b="0" i="0" u="none" strike="noStrike">
                    <a:solidFill>
                      <a:srgbClr val="1A1A2E"/>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100</c:v>
                </c:pt>
                <c:pt idx="1">
                  <c:v>1k</c:v>
                </c:pt>
                <c:pt idx="2">
                  <c:v>5k</c:v>
                </c:pt>
                <c:pt idx="3">
                  <c:v>10k</c:v>
                </c:pt>
                <c:pt idx="4">
                  <c:v>25k</c:v>
                </c:pt>
                <c:pt idx="5">
                  <c:v>50k</c:v>
                </c:pt>
              </c:strCache>
            </c:strRef>
          </c:cat>
          <c:val>
            <c:numRef>
              <c:f>Sheet1!$B$2:$B$7</c:f>
              <c:numCache>
                <c:formatCode>General</c:formatCode>
                <c:ptCount val="6"/>
                <c:pt idx="0">
                  <c:v>16.600000000000001</c:v>
                </c:pt>
                <c:pt idx="1">
                  <c:v>24.5</c:v>
                </c:pt>
                <c:pt idx="2">
                  <c:v>46.1</c:v>
                </c:pt>
                <c:pt idx="3">
                  <c:v>52.3</c:v>
                </c:pt>
                <c:pt idx="4">
                  <c:v>60</c:v>
                </c:pt>
                <c:pt idx="5">
                  <c:v>63.1</c:v>
                </c:pt>
              </c:numCache>
            </c:numRef>
          </c:val>
          <c:extLst>
            <c:ext xmlns:c16="http://schemas.microsoft.com/office/drawing/2014/chart" uri="{C3380CC4-5D6E-409C-BE32-E72D297353CC}">
              <c16:uniqueId val="{00000000-7DE2-4537-BDB5-54B384E0517B}"/>
            </c:ext>
          </c:extLst>
        </c:ser>
        <c:ser>
          <c:idx val="1"/>
          <c:order val="1"/>
          <c:tx>
            <c:strRef>
              <c:f>Sheet1!$C$1</c:f>
              <c:strCache>
                <c:ptCount val="1"/>
                <c:pt idx="0">
                  <c:v>CNN</c:v>
                </c:pt>
              </c:strCache>
            </c:strRef>
          </c:tx>
          <c:spPr>
            <a:solidFill>
              <a:srgbClr val="4DB6AC"/>
            </a:solidFill>
            <a:effectLst/>
          </c:spPr>
          <c:invertIfNegative val="0"/>
          <c:dLbls>
            <c:numFmt formatCode="#,##0" sourceLinked="0"/>
            <c:spPr>
              <a:noFill/>
              <a:ln>
                <a:noFill/>
              </a:ln>
              <a:effectLst/>
            </c:spPr>
            <c:txPr>
              <a:bodyPr/>
              <a:lstStyle/>
              <a:p>
                <a:pPr>
                  <a:defRPr sz="1200" b="0" i="0" u="none" strike="noStrike">
                    <a:solidFill>
                      <a:srgbClr val="1A1A2E"/>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100</c:v>
                </c:pt>
                <c:pt idx="1">
                  <c:v>1k</c:v>
                </c:pt>
                <c:pt idx="2">
                  <c:v>5k</c:v>
                </c:pt>
                <c:pt idx="3">
                  <c:v>10k</c:v>
                </c:pt>
                <c:pt idx="4">
                  <c:v>25k</c:v>
                </c:pt>
                <c:pt idx="5">
                  <c:v>50k</c:v>
                </c:pt>
              </c:strCache>
            </c:strRef>
          </c:cat>
          <c:val>
            <c:numRef>
              <c:f>Sheet1!$C$2:$C$7</c:f>
              <c:numCache>
                <c:formatCode>General</c:formatCode>
                <c:ptCount val="6"/>
                <c:pt idx="0">
                  <c:v>10.5</c:v>
                </c:pt>
                <c:pt idx="1">
                  <c:v>34.6</c:v>
                </c:pt>
                <c:pt idx="2">
                  <c:v>58.2</c:v>
                </c:pt>
                <c:pt idx="3">
                  <c:v>67.3</c:v>
                </c:pt>
                <c:pt idx="4">
                  <c:v>76.900000000000006</c:v>
                </c:pt>
                <c:pt idx="5">
                  <c:v>83.2</c:v>
                </c:pt>
              </c:numCache>
            </c:numRef>
          </c:val>
          <c:extLst>
            <c:ext xmlns:c16="http://schemas.microsoft.com/office/drawing/2014/chart" uri="{C3380CC4-5D6E-409C-BE32-E72D297353CC}">
              <c16:uniqueId val="{00000001-7DE2-4537-BDB5-54B384E0517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480"/>
                </a:solidFill>
                <a:latin typeface="Arial"/>
              </a:defRPr>
            </a:pPr>
            <a:endParaRPr lang="en-US"/>
          </a:p>
        </c:txPr>
        <c:crossAx val="2094734552"/>
        <c:crosses val="autoZero"/>
        <c:auto val="1"/>
        <c:lblAlgn val="ctr"/>
        <c:lblOffset val="100"/>
        <c:noMultiLvlLbl val="1"/>
      </c:catAx>
      <c:valAx>
        <c:axId val="2094734552"/>
        <c:scaling>
          <c:orientation val="minMax"/>
          <c:max val="10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48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c:style val="2"/>
  <c:chart>
    <c:title>
      <c:tx>
        <c:rich>
          <a:bodyPr/>
          <a:lstStyle/>
          <a:p>
            <a:pPr>
              <a:defRPr sz="1800" b="0" i="0" u="none" strike="noStrike">
                <a:solidFill>
                  <a:srgbClr val="000000"/>
                </a:solidFill>
                <a:latin typeface="Arial"/>
              </a:defRPr>
            </a:pPr>
            <a:r>
              <a:rPr lang="fr-FR" sz="1800" b="0" i="0" u="none" strike="noStrike">
                <a:solidFill>
                  <a:srgbClr val="000000"/>
                </a:solidFill>
                <a:latin typeface="Arial"/>
              </a:rPr>
              <a:t>Accuracy finale sur ensemble de test (%)</a:t>
            </a:r>
          </a:p>
        </c:rich>
      </c:tx>
      <c:overlay val="0"/>
    </c:title>
    <c:autoTitleDeleted val="0"/>
    <c:plotArea>
      <c:layout/>
      <c:barChart>
        <c:barDir val="col"/>
        <c:grouping val="clustered"/>
        <c:varyColors val="0"/>
        <c:ser>
          <c:idx val="0"/>
          <c:order val="0"/>
          <c:tx>
            <c:strRef>
              <c:f>Sheet1!$B$1</c:f>
              <c:strCache>
                <c:ptCount val="1"/>
                <c:pt idx="0">
                  <c:v>Accuracy test (%)</c:v>
                </c:pt>
              </c:strCache>
            </c:strRef>
          </c:tx>
          <c:spPr>
            <a:solidFill>
              <a:srgbClr val="2E3F7F"/>
            </a:solidFill>
            <a:effectLst/>
          </c:spPr>
          <c:invertIfNegative val="0"/>
          <c:dPt>
            <c:idx val="0"/>
            <c:invertIfNegative val="0"/>
            <c:bubble3D val="0"/>
            <c:extLst>
              <c:ext xmlns:c16="http://schemas.microsoft.com/office/drawing/2014/chart" uri="{C3380CC4-5D6E-409C-BE32-E72D297353CC}">
                <c16:uniqueId val="{00000001-4FCC-40E7-8602-2476C29C2FF0}"/>
              </c:ext>
            </c:extLst>
          </c:dPt>
          <c:dPt>
            <c:idx val="1"/>
            <c:invertIfNegative val="0"/>
            <c:bubble3D val="0"/>
            <c:spPr>
              <a:solidFill>
                <a:srgbClr val="4DB6AC"/>
              </a:solidFill>
              <a:effectLst/>
            </c:spPr>
            <c:extLst>
              <c:ext xmlns:c16="http://schemas.microsoft.com/office/drawing/2014/chart" uri="{C3380CC4-5D6E-409C-BE32-E72D297353CC}">
                <c16:uniqueId val="{00000003-4FCC-40E7-8602-2476C29C2FF0}"/>
              </c:ext>
            </c:extLst>
          </c:dPt>
          <c:dLbls>
            <c:numFmt formatCode="#,##0" sourceLinked="0"/>
            <c:spPr>
              <a:noFill/>
              <a:ln>
                <a:noFill/>
              </a:ln>
              <a:effectLst/>
            </c:spPr>
            <c:txPr>
              <a:bodyPr/>
              <a:lstStyle/>
              <a:p>
                <a:pPr>
                  <a:defRPr sz="1200" b="0" i="0" u="none" strike="noStrike">
                    <a:solidFill>
                      <a:srgbClr val="1A1A2E"/>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ViT</c:v>
                </c:pt>
                <c:pt idx="1">
                  <c:v>CNN</c:v>
                </c:pt>
              </c:strCache>
            </c:strRef>
          </c:cat>
          <c:val>
            <c:numRef>
              <c:f>Sheet1!$B$2:$B$3</c:f>
              <c:numCache>
                <c:formatCode>General</c:formatCode>
                <c:ptCount val="2"/>
                <c:pt idx="0">
                  <c:v>36.700000000000003</c:v>
                </c:pt>
                <c:pt idx="1">
                  <c:v>85.2</c:v>
                </c:pt>
              </c:numCache>
            </c:numRef>
          </c:val>
          <c:extLst>
            <c:ext xmlns:c16="http://schemas.microsoft.com/office/drawing/2014/chart" uri="{C3380CC4-5D6E-409C-BE32-E72D297353CC}">
              <c16:uniqueId val="{00000004-4FCC-40E7-8602-2476C29C2FF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480"/>
                </a:solidFill>
                <a:latin typeface="Arial"/>
              </a:defRPr>
            </a:pPr>
            <a:endParaRPr lang="en-US"/>
          </a:p>
        </c:txPr>
        <c:crossAx val="2094734552"/>
        <c:crosses val="autoZero"/>
        <c:auto val="1"/>
        <c:lblAlgn val="ctr"/>
        <c:lblOffset val="100"/>
        <c:noMultiLvlLbl val="1"/>
      </c:catAx>
      <c:valAx>
        <c:axId val="2094734552"/>
        <c:scaling>
          <c:orientation val="minMax"/>
          <c:max val="10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4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c:style val="2"/>
  <c:chart>
    <c:title>
      <c:tx>
        <c:rich>
          <a:bodyPr/>
          <a:lstStyle/>
          <a:p>
            <a:pPr>
              <a:defRPr sz="1800" b="0" i="0" u="none" strike="noStrike">
                <a:solidFill>
                  <a:srgbClr val="000000"/>
                </a:solidFill>
                <a:latin typeface="Arial"/>
              </a:defRPr>
            </a:pPr>
            <a:r>
              <a:rPr lang="fr-FR" sz="1800" b="0" i="0" u="none" strike="noStrike">
                <a:solidFill>
                  <a:srgbClr val="000000"/>
                </a:solidFill>
                <a:latin typeface="Arial"/>
              </a:rPr>
              <a:t>Accuracy Train vs Test (%)</a:t>
            </a:r>
          </a:p>
        </c:rich>
      </c:tx>
      <c:overlay val="0"/>
    </c:title>
    <c:autoTitleDeleted val="0"/>
    <c:plotArea>
      <c:layout/>
      <c:barChart>
        <c:barDir val="col"/>
        <c:grouping val="clustered"/>
        <c:varyColors val="0"/>
        <c:ser>
          <c:idx val="0"/>
          <c:order val="0"/>
          <c:tx>
            <c:strRef>
              <c:f>Sheet1!$B$1</c:f>
              <c:strCache>
                <c:ptCount val="1"/>
                <c:pt idx="0">
                  <c:v>Train (%)</c:v>
                </c:pt>
              </c:strCache>
            </c:strRef>
          </c:tx>
          <c:spPr>
            <a:solidFill>
              <a:srgbClr val="2E3F7F"/>
            </a:solidFill>
            <a:effectLst/>
          </c:spPr>
          <c:invertIfNegative val="0"/>
          <c:dLbls>
            <c:numFmt formatCode="#,##0" sourceLinked="0"/>
            <c:spPr>
              <a:noFill/>
              <a:ln>
                <a:noFill/>
              </a:ln>
              <a:effectLst/>
            </c:spPr>
            <c:txPr>
              <a:bodyPr/>
              <a:lstStyle/>
              <a:p>
                <a:pPr>
                  <a:defRPr sz="1200" b="0" i="0" u="none" strike="noStrike">
                    <a:solidFill>
                      <a:srgbClr val="1A1A2E"/>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ViT</c:v>
                </c:pt>
                <c:pt idx="1">
                  <c:v>CNN</c:v>
                </c:pt>
              </c:strCache>
            </c:strRef>
          </c:cat>
          <c:val>
            <c:numRef>
              <c:f>Sheet1!$B$2:$B$3</c:f>
              <c:numCache>
                <c:formatCode>General</c:formatCode>
                <c:ptCount val="2"/>
                <c:pt idx="0">
                  <c:v>66</c:v>
                </c:pt>
                <c:pt idx="1">
                  <c:v>100</c:v>
                </c:pt>
              </c:numCache>
            </c:numRef>
          </c:val>
          <c:extLst>
            <c:ext xmlns:c16="http://schemas.microsoft.com/office/drawing/2014/chart" uri="{C3380CC4-5D6E-409C-BE32-E72D297353CC}">
              <c16:uniqueId val="{00000000-8911-49E6-8C0A-8C27D7BCBDAA}"/>
            </c:ext>
          </c:extLst>
        </c:ser>
        <c:ser>
          <c:idx val="1"/>
          <c:order val="1"/>
          <c:tx>
            <c:strRef>
              <c:f>Sheet1!$C$1</c:f>
              <c:strCache>
                <c:ptCount val="1"/>
                <c:pt idx="0">
                  <c:v>Test (%)</c:v>
                </c:pt>
              </c:strCache>
            </c:strRef>
          </c:tx>
          <c:spPr>
            <a:solidFill>
              <a:srgbClr val="4DB6AC"/>
            </a:solidFill>
            <a:effectLst/>
          </c:spPr>
          <c:invertIfNegative val="0"/>
          <c:dLbls>
            <c:numFmt formatCode="#,##0" sourceLinked="0"/>
            <c:spPr>
              <a:noFill/>
              <a:ln>
                <a:noFill/>
              </a:ln>
              <a:effectLst/>
            </c:spPr>
            <c:txPr>
              <a:bodyPr/>
              <a:lstStyle/>
              <a:p>
                <a:pPr>
                  <a:defRPr sz="1200" b="0" i="0" u="none" strike="noStrike">
                    <a:solidFill>
                      <a:srgbClr val="1A1A2E"/>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ViT</c:v>
                </c:pt>
                <c:pt idx="1">
                  <c:v>CNN</c:v>
                </c:pt>
              </c:strCache>
            </c:strRef>
          </c:cat>
          <c:val>
            <c:numRef>
              <c:f>Sheet1!$C$2:$C$3</c:f>
              <c:numCache>
                <c:formatCode>General</c:formatCode>
                <c:ptCount val="2"/>
                <c:pt idx="0">
                  <c:v>50</c:v>
                </c:pt>
                <c:pt idx="1">
                  <c:v>52</c:v>
                </c:pt>
              </c:numCache>
            </c:numRef>
          </c:val>
          <c:extLst>
            <c:ext xmlns:c16="http://schemas.microsoft.com/office/drawing/2014/chart" uri="{C3380CC4-5D6E-409C-BE32-E72D297353CC}">
              <c16:uniqueId val="{00000001-8911-49E6-8C0A-8C27D7BCBDA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480"/>
                </a:solidFill>
                <a:latin typeface="Arial"/>
              </a:defRPr>
            </a:pPr>
            <a:endParaRPr lang="en-US"/>
          </a:p>
        </c:txPr>
        <c:crossAx val="2094734552"/>
        <c:crosses val="autoZero"/>
        <c:auto val="1"/>
        <c:lblAlgn val="ctr"/>
        <c:lblOffset val="100"/>
        <c:noMultiLvlLbl val="1"/>
      </c:catAx>
      <c:valAx>
        <c:axId val="2094734552"/>
        <c:scaling>
          <c:orientation val="minMax"/>
          <c:max val="10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48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3DA1E5-EF58-4C03-9871-A5709FDCCDCC}" type="datetimeFigureOut">
              <a:rPr lang="fr-FR" smtClean="0"/>
              <a:t>07/04/2026</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FF263C-46A9-456B-BD12-C15F576C0DF9}" type="slidenum">
              <a:rPr lang="fr-FR" smtClean="0"/>
              <a:t>‹N°›</a:t>
            </a:fld>
            <a:endParaRPr lang="fr-FR"/>
          </a:p>
        </p:txBody>
      </p:sp>
    </p:spTree>
    <p:extLst>
      <p:ext uri="{BB962C8B-B14F-4D97-AF65-F5344CB8AC3E}">
        <p14:creationId xmlns:p14="http://schemas.microsoft.com/office/powerpoint/2010/main" val="41821488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63545-FC15-5798-6C54-58F320906F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EDCC0C-4063-C808-3EB4-FABD481A5F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1E06AF-8DD2-BE58-B008-AEE84F4A01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3E04E7-533F-9CD2-4D0C-F952AA342BC0}"/>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987798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E7716-BB5A-CB43-8A16-20A4FA5601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0B270B-848E-25DA-D1F3-DB80C38515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A50ECF-1223-7CDD-59C6-C0B708639A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FDA101-3B36-1AC0-B5E3-18D59A524266}"/>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0430959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D2877-31CB-C0EC-0704-6AC8980D9C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E10C99-3FDA-1D7F-1D1A-B372889B45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758725-2F6B-D4D3-B120-1837F10BCB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C64088-678D-6009-3414-7465D7F0CD6F}"/>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3422312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D0538-77BD-0170-D6E5-1C46739D6B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A285B9-6196-D519-84BA-707C6C518E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4E5D9B-3C24-036E-96ED-9E616D07C6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7FAF54-034F-9461-528A-F995A2BA0F65}"/>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6520574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F4AE9-4B64-26FB-9F3B-AADFCE5AF1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42B916-A769-1EED-0C1C-0D33551C82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42E6F5-BC6C-5325-93B7-1953FDC9B1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6E5B25-9A03-A8C9-4131-776806CFABB8}"/>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2999923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D8FEC-6816-B012-7708-64487C6A636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r-FR"/>
          </a:p>
        </p:txBody>
      </p:sp>
      <p:sp>
        <p:nvSpPr>
          <p:cNvPr id="3" name="Subtitle 2">
            <a:extLst>
              <a:ext uri="{FF2B5EF4-FFF2-40B4-BE49-F238E27FC236}">
                <a16:creationId xmlns:a16="http://schemas.microsoft.com/office/drawing/2014/main" id="{5243C591-3FB2-42FB-863E-5C63C74D59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FR"/>
          </a:p>
        </p:txBody>
      </p:sp>
      <p:sp>
        <p:nvSpPr>
          <p:cNvPr id="4" name="Date Placeholder 3">
            <a:extLst>
              <a:ext uri="{FF2B5EF4-FFF2-40B4-BE49-F238E27FC236}">
                <a16:creationId xmlns:a16="http://schemas.microsoft.com/office/drawing/2014/main" id="{EDCFFD3C-17C8-0CC9-74E7-203E83372389}"/>
              </a:ext>
            </a:extLst>
          </p:cNvPr>
          <p:cNvSpPr>
            <a:spLocks noGrp="1"/>
          </p:cNvSpPr>
          <p:nvPr>
            <p:ph type="dt" sz="half" idx="10"/>
          </p:nvPr>
        </p:nvSpPr>
        <p:spPr/>
        <p:txBody>
          <a:bodyPr/>
          <a:lstStyle/>
          <a:p>
            <a:fld id="{DC644FA6-2A37-4708-9009-4BACC2746E37}" type="datetimeFigureOut">
              <a:rPr lang="fr-FR" smtClean="0"/>
              <a:t>07/04/2026</a:t>
            </a:fld>
            <a:endParaRPr lang="fr-FR"/>
          </a:p>
        </p:txBody>
      </p:sp>
      <p:sp>
        <p:nvSpPr>
          <p:cNvPr id="5" name="Footer Placeholder 4">
            <a:extLst>
              <a:ext uri="{FF2B5EF4-FFF2-40B4-BE49-F238E27FC236}">
                <a16:creationId xmlns:a16="http://schemas.microsoft.com/office/drawing/2014/main" id="{1380282D-381B-C3BC-5BC7-88971FB62AC2}"/>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42AA194B-8D83-5DC5-5479-6D94F8DB4494}"/>
              </a:ext>
            </a:extLst>
          </p:cNvPr>
          <p:cNvSpPr>
            <a:spLocks noGrp="1"/>
          </p:cNvSpPr>
          <p:nvPr>
            <p:ph type="sldNum" sz="quarter" idx="12"/>
          </p:nvPr>
        </p:nvSpPr>
        <p:spPr/>
        <p:txBody>
          <a:bodyPr/>
          <a:lstStyle/>
          <a:p>
            <a:fld id="{27FCAFB5-31E6-40D7-AE04-A67410C2E8F5}" type="slidenum">
              <a:rPr lang="fr-FR" smtClean="0"/>
              <a:t>‹N°›</a:t>
            </a:fld>
            <a:endParaRPr lang="fr-FR"/>
          </a:p>
        </p:txBody>
      </p:sp>
    </p:spTree>
    <p:extLst>
      <p:ext uri="{BB962C8B-B14F-4D97-AF65-F5344CB8AC3E}">
        <p14:creationId xmlns:p14="http://schemas.microsoft.com/office/powerpoint/2010/main" val="3654581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94A92-02BA-F945-B266-289A6DCF5585}"/>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A348976D-D1AB-2F27-488F-E6CF4A49E9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393F7B6C-1C9E-812F-11DF-3F8B2766DD59}"/>
              </a:ext>
            </a:extLst>
          </p:cNvPr>
          <p:cNvSpPr>
            <a:spLocks noGrp="1"/>
          </p:cNvSpPr>
          <p:nvPr>
            <p:ph type="dt" sz="half" idx="10"/>
          </p:nvPr>
        </p:nvSpPr>
        <p:spPr/>
        <p:txBody>
          <a:bodyPr/>
          <a:lstStyle/>
          <a:p>
            <a:fld id="{DC644FA6-2A37-4708-9009-4BACC2746E37}" type="datetimeFigureOut">
              <a:rPr lang="fr-FR" smtClean="0"/>
              <a:t>07/04/2026</a:t>
            </a:fld>
            <a:endParaRPr lang="fr-FR"/>
          </a:p>
        </p:txBody>
      </p:sp>
      <p:sp>
        <p:nvSpPr>
          <p:cNvPr id="5" name="Footer Placeholder 4">
            <a:extLst>
              <a:ext uri="{FF2B5EF4-FFF2-40B4-BE49-F238E27FC236}">
                <a16:creationId xmlns:a16="http://schemas.microsoft.com/office/drawing/2014/main" id="{3E11270F-8135-3F9C-0E19-4DEFA82D30FF}"/>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3ACC9E47-C6DC-5046-2DCA-392D02E21475}"/>
              </a:ext>
            </a:extLst>
          </p:cNvPr>
          <p:cNvSpPr>
            <a:spLocks noGrp="1"/>
          </p:cNvSpPr>
          <p:nvPr>
            <p:ph type="sldNum" sz="quarter" idx="12"/>
          </p:nvPr>
        </p:nvSpPr>
        <p:spPr/>
        <p:txBody>
          <a:bodyPr/>
          <a:lstStyle/>
          <a:p>
            <a:fld id="{27FCAFB5-31E6-40D7-AE04-A67410C2E8F5}" type="slidenum">
              <a:rPr lang="fr-FR" smtClean="0"/>
              <a:t>‹N°›</a:t>
            </a:fld>
            <a:endParaRPr lang="fr-FR"/>
          </a:p>
        </p:txBody>
      </p:sp>
    </p:spTree>
    <p:extLst>
      <p:ext uri="{BB962C8B-B14F-4D97-AF65-F5344CB8AC3E}">
        <p14:creationId xmlns:p14="http://schemas.microsoft.com/office/powerpoint/2010/main" val="3380780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D9202-4820-4860-113D-28E235C4C8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r-FR"/>
          </a:p>
        </p:txBody>
      </p:sp>
      <p:sp>
        <p:nvSpPr>
          <p:cNvPr id="3" name="Text Placeholder 2">
            <a:extLst>
              <a:ext uri="{FF2B5EF4-FFF2-40B4-BE49-F238E27FC236}">
                <a16:creationId xmlns:a16="http://schemas.microsoft.com/office/drawing/2014/main" id="{227DC3EA-9065-0B87-600E-443904ADE5B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FC7FF3-66AB-C8E3-3431-2E24F70E48AE}"/>
              </a:ext>
            </a:extLst>
          </p:cNvPr>
          <p:cNvSpPr>
            <a:spLocks noGrp="1"/>
          </p:cNvSpPr>
          <p:nvPr>
            <p:ph type="dt" sz="half" idx="10"/>
          </p:nvPr>
        </p:nvSpPr>
        <p:spPr/>
        <p:txBody>
          <a:bodyPr/>
          <a:lstStyle/>
          <a:p>
            <a:fld id="{DC644FA6-2A37-4708-9009-4BACC2746E37}" type="datetimeFigureOut">
              <a:rPr lang="fr-FR" smtClean="0"/>
              <a:t>07/04/2026</a:t>
            </a:fld>
            <a:endParaRPr lang="fr-FR"/>
          </a:p>
        </p:txBody>
      </p:sp>
      <p:sp>
        <p:nvSpPr>
          <p:cNvPr id="5" name="Footer Placeholder 4">
            <a:extLst>
              <a:ext uri="{FF2B5EF4-FFF2-40B4-BE49-F238E27FC236}">
                <a16:creationId xmlns:a16="http://schemas.microsoft.com/office/drawing/2014/main" id="{63D4440D-D406-069B-22EB-93ED934A6DBB}"/>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DEDD13BF-3CC3-9EDE-8E80-B4E168F48ECD}"/>
              </a:ext>
            </a:extLst>
          </p:cNvPr>
          <p:cNvSpPr>
            <a:spLocks noGrp="1"/>
          </p:cNvSpPr>
          <p:nvPr>
            <p:ph type="sldNum" sz="quarter" idx="12"/>
          </p:nvPr>
        </p:nvSpPr>
        <p:spPr/>
        <p:txBody>
          <a:bodyPr/>
          <a:lstStyle/>
          <a:p>
            <a:fld id="{27FCAFB5-31E6-40D7-AE04-A67410C2E8F5}" type="slidenum">
              <a:rPr lang="fr-FR" smtClean="0"/>
              <a:t>‹N°›</a:t>
            </a:fld>
            <a:endParaRPr lang="fr-FR"/>
          </a:p>
        </p:txBody>
      </p:sp>
    </p:spTree>
    <p:extLst>
      <p:ext uri="{BB962C8B-B14F-4D97-AF65-F5344CB8AC3E}">
        <p14:creationId xmlns:p14="http://schemas.microsoft.com/office/powerpoint/2010/main" val="33495082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A9A5D-6C27-E6D5-2E36-74099EF17BE8}"/>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DFE002DD-4FD2-C01F-25B5-3510BC5D0E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a:extLst>
              <a:ext uri="{FF2B5EF4-FFF2-40B4-BE49-F238E27FC236}">
                <a16:creationId xmlns:a16="http://schemas.microsoft.com/office/drawing/2014/main" id="{22307ABF-5681-93E6-4CA3-59A17FE77D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Date Placeholder 4">
            <a:extLst>
              <a:ext uri="{FF2B5EF4-FFF2-40B4-BE49-F238E27FC236}">
                <a16:creationId xmlns:a16="http://schemas.microsoft.com/office/drawing/2014/main" id="{24572335-F6B0-9D2C-4E12-9204EEC24F51}"/>
              </a:ext>
            </a:extLst>
          </p:cNvPr>
          <p:cNvSpPr>
            <a:spLocks noGrp="1"/>
          </p:cNvSpPr>
          <p:nvPr>
            <p:ph type="dt" sz="half" idx="10"/>
          </p:nvPr>
        </p:nvSpPr>
        <p:spPr/>
        <p:txBody>
          <a:bodyPr/>
          <a:lstStyle/>
          <a:p>
            <a:fld id="{DC644FA6-2A37-4708-9009-4BACC2746E37}" type="datetimeFigureOut">
              <a:rPr lang="fr-FR" smtClean="0"/>
              <a:t>07/04/2026</a:t>
            </a:fld>
            <a:endParaRPr lang="fr-FR"/>
          </a:p>
        </p:txBody>
      </p:sp>
      <p:sp>
        <p:nvSpPr>
          <p:cNvPr id="6" name="Footer Placeholder 5">
            <a:extLst>
              <a:ext uri="{FF2B5EF4-FFF2-40B4-BE49-F238E27FC236}">
                <a16:creationId xmlns:a16="http://schemas.microsoft.com/office/drawing/2014/main" id="{8EC70F83-AB17-F505-910E-ED7A50EDB8A7}"/>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9C2695C8-5CB7-702E-ADDA-F69B5F9E2FB5}"/>
              </a:ext>
            </a:extLst>
          </p:cNvPr>
          <p:cNvSpPr>
            <a:spLocks noGrp="1"/>
          </p:cNvSpPr>
          <p:nvPr>
            <p:ph type="sldNum" sz="quarter" idx="12"/>
          </p:nvPr>
        </p:nvSpPr>
        <p:spPr/>
        <p:txBody>
          <a:bodyPr/>
          <a:lstStyle/>
          <a:p>
            <a:fld id="{27FCAFB5-31E6-40D7-AE04-A67410C2E8F5}" type="slidenum">
              <a:rPr lang="fr-FR" smtClean="0"/>
              <a:t>‹N°›</a:t>
            </a:fld>
            <a:endParaRPr lang="fr-FR"/>
          </a:p>
        </p:txBody>
      </p:sp>
    </p:spTree>
    <p:extLst>
      <p:ext uri="{BB962C8B-B14F-4D97-AF65-F5344CB8AC3E}">
        <p14:creationId xmlns:p14="http://schemas.microsoft.com/office/powerpoint/2010/main" val="2065258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34E66-0F4F-2129-87EF-FBBFBF9DF6D9}"/>
              </a:ext>
            </a:extLst>
          </p:cNvPr>
          <p:cNvSpPr>
            <a:spLocks noGrp="1"/>
          </p:cNvSpPr>
          <p:nvPr>
            <p:ph type="title"/>
          </p:nvPr>
        </p:nvSpPr>
        <p:spPr>
          <a:xfrm>
            <a:off x="839788" y="365125"/>
            <a:ext cx="10515600" cy="1325563"/>
          </a:xfrm>
        </p:spPr>
        <p:txBody>
          <a:bodyPr/>
          <a:lstStyle/>
          <a:p>
            <a:r>
              <a:rPr lang="en-US"/>
              <a:t>Click to edit Master title style</a:t>
            </a:r>
            <a:endParaRPr lang="fr-FR"/>
          </a:p>
        </p:txBody>
      </p:sp>
      <p:sp>
        <p:nvSpPr>
          <p:cNvPr id="3" name="Text Placeholder 2">
            <a:extLst>
              <a:ext uri="{FF2B5EF4-FFF2-40B4-BE49-F238E27FC236}">
                <a16:creationId xmlns:a16="http://schemas.microsoft.com/office/drawing/2014/main" id="{5BB92619-7C3B-BAC4-DAB2-3D5E92B445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62A9F32-AFAF-AF4D-F772-F8A1A527EEB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Text Placeholder 4">
            <a:extLst>
              <a:ext uri="{FF2B5EF4-FFF2-40B4-BE49-F238E27FC236}">
                <a16:creationId xmlns:a16="http://schemas.microsoft.com/office/drawing/2014/main" id="{563CB613-172B-961E-6FB7-F87B1F231F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0F5A82-557C-17E2-1F72-94CAD93D74A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7" name="Date Placeholder 6">
            <a:extLst>
              <a:ext uri="{FF2B5EF4-FFF2-40B4-BE49-F238E27FC236}">
                <a16:creationId xmlns:a16="http://schemas.microsoft.com/office/drawing/2014/main" id="{1AE86986-EAE6-1F47-32F7-E31EAA204305}"/>
              </a:ext>
            </a:extLst>
          </p:cNvPr>
          <p:cNvSpPr>
            <a:spLocks noGrp="1"/>
          </p:cNvSpPr>
          <p:nvPr>
            <p:ph type="dt" sz="half" idx="10"/>
          </p:nvPr>
        </p:nvSpPr>
        <p:spPr/>
        <p:txBody>
          <a:bodyPr/>
          <a:lstStyle/>
          <a:p>
            <a:fld id="{DC644FA6-2A37-4708-9009-4BACC2746E37}" type="datetimeFigureOut">
              <a:rPr lang="fr-FR" smtClean="0"/>
              <a:t>07/04/2026</a:t>
            </a:fld>
            <a:endParaRPr lang="fr-FR"/>
          </a:p>
        </p:txBody>
      </p:sp>
      <p:sp>
        <p:nvSpPr>
          <p:cNvPr id="8" name="Footer Placeholder 7">
            <a:extLst>
              <a:ext uri="{FF2B5EF4-FFF2-40B4-BE49-F238E27FC236}">
                <a16:creationId xmlns:a16="http://schemas.microsoft.com/office/drawing/2014/main" id="{96BA358C-5E01-051F-2192-D8179E2EB9A9}"/>
              </a:ext>
            </a:extLst>
          </p:cNvPr>
          <p:cNvSpPr>
            <a:spLocks noGrp="1"/>
          </p:cNvSpPr>
          <p:nvPr>
            <p:ph type="ftr" sz="quarter" idx="11"/>
          </p:nvPr>
        </p:nvSpPr>
        <p:spPr/>
        <p:txBody>
          <a:bodyPr/>
          <a:lstStyle/>
          <a:p>
            <a:endParaRPr lang="fr-FR"/>
          </a:p>
        </p:txBody>
      </p:sp>
      <p:sp>
        <p:nvSpPr>
          <p:cNvPr id="9" name="Slide Number Placeholder 8">
            <a:extLst>
              <a:ext uri="{FF2B5EF4-FFF2-40B4-BE49-F238E27FC236}">
                <a16:creationId xmlns:a16="http://schemas.microsoft.com/office/drawing/2014/main" id="{CF5A04D3-71CD-2E2F-17B4-62CB7C954D1C}"/>
              </a:ext>
            </a:extLst>
          </p:cNvPr>
          <p:cNvSpPr>
            <a:spLocks noGrp="1"/>
          </p:cNvSpPr>
          <p:nvPr>
            <p:ph type="sldNum" sz="quarter" idx="12"/>
          </p:nvPr>
        </p:nvSpPr>
        <p:spPr/>
        <p:txBody>
          <a:bodyPr/>
          <a:lstStyle/>
          <a:p>
            <a:fld id="{27FCAFB5-31E6-40D7-AE04-A67410C2E8F5}" type="slidenum">
              <a:rPr lang="fr-FR" smtClean="0"/>
              <a:t>‹N°›</a:t>
            </a:fld>
            <a:endParaRPr lang="fr-FR"/>
          </a:p>
        </p:txBody>
      </p:sp>
    </p:spTree>
    <p:extLst>
      <p:ext uri="{BB962C8B-B14F-4D97-AF65-F5344CB8AC3E}">
        <p14:creationId xmlns:p14="http://schemas.microsoft.com/office/powerpoint/2010/main" val="2900476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CECC6-BA0F-75C4-6620-77ED2BCA03CA}"/>
              </a:ext>
            </a:extLst>
          </p:cNvPr>
          <p:cNvSpPr>
            <a:spLocks noGrp="1"/>
          </p:cNvSpPr>
          <p:nvPr>
            <p:ph type="title"/>
          </p:nvPr>
        </p:nvSpPr>
        <p:spPr/>
        <p:txBody>
          <a:bodyPr/>
          <a:lstStyle/>
          <a:p>
            <a:r>
              <a:rPr lang="en-US"/>
              <a:t>Click to edit Master title style</a:t>
            </a:r>
            <a:endParaRPr lang="fr-FR"/>
          </a:p>
        </p:txBody>
      </p:sp>
      <p:sp>
        <p:nvSpPr>
          <p:cNvPr id="3" name="Date Placeholder 2">
            <a:extLst>
              <a:ext uri="{FF2B5EF4-FFF2-40B4-BE49-F238E27FC236}">
                <a16:creationId xmlns:a16="http://schemas.microsoft.com/office/drawing/2014/main" id="{27B04E36-679E-318C-4EAF-AE17977985A3}"/>
              </a:ext>
            </a:extLst>
          </p:cNvPr>
          <p:cNvSpPr>
            <a:spLocks noGrp="1"/>
          </p:cNvSpPr>
          <p:nvPr>
            <p:ph type="dt" sz="half" idx="10"/>
          </p:nvPr>
        </p:nvSpPr>
        <p:spPr/>
        <p:txBody>
          <a:bodyPr/>
          <a:lstStyle/>
          <a:p>
            <a:fld id="{DC644FA6-2A37-4708-9009-4BACC2746E37}" type="datetimeFigureOut">
              <a:rPr lang="fr-FR" smtClean="0"/>
              <a:t>07/04/2026</a:t>
            </a:fld>
            <a:endParaRPr lang="fr-FR"/>
          </a:p>
        </p:txBody>
      </p:sp>
      <p:sp>
        <p:nvSpPr>
          <p:cNvPr id="4" name="Footer Placeholder 3">
            <a:extLst>
              <a:ext uri="{FF2B5EF4-FFF2-40B4-BE49-F238E27FC236}">
                <a16:creationId xmlns:a16="http://schemas.microsoft.com/office/drawing/2014/main" id="{D56AF354-E1A0-CB77-EFEA-F0511EBC1FBD}"/>
              </a:ext>
            </a:extLst>
          </p:cNvPr>
          <p:cNvSpPr>
            <a:spLocks noGrp="1"/>
          </p:cNvSpPr>
          <p:nvPr>
            <p:ph type="ftr" sz="quarter" idx="11"/>
          </p:nvPr>
        </p:nvSpPr>
        <p:spPr/>
        <p:txBody>
          <a:bodyPr/>
          <a:lstStyle/>
          <a:p>
            <a:endParaRPr lang="fr-FR"/>
          </a:p>
        </p:txBody>
      </p:sp>
      <p:sp>
        <p:nvSpPr>
          <p:cNvPr id="5" name="Slide Number Placeholder 4">
            <a:extLst>
              <a:ext uri="{FF2B5EF4-FFF2-40B4-BE49-F238E27FC236}">
                <a16:creationId xmlns:a16="http://schemas.microsoft.com/office/drawing/2014/main" id="{3C777807-E74F-3757-18B3-FB76D9A46761}"/>
              </a:ext>
            </a:extLst>
          </p:cNvPr>
          <p:cNvSpPr>
            <a:spLocks noGrp="1"/>
          </p:cNvSpPr>
          <p:nvPr>
            <p:ph type="sldNum" sz="quarter" idx="12"/>
          </p:nvPr>
        </p:nvSpPr>
        <p:spPr/>
        <p:txBody>
          <a:bodyPr/>
          <a:lstStyle/>
          <a:p>
            <a:fld id="{27FCAFB5-31E6-40D7-AE04-A67410C2E8F5}" type="slidenum">
              <a:rPr lang="fr-FR" smtClean="0"/>
              <a:t>‹N°›</a:t>
            </a:fld>
            <a:endParaRPr lang="fr-FR"/>
          </a:p>
        </p:txBody>
      </p:sp>
    </p:spTree>
    <p:extLst>
      <p:ext uri="{BB962C8B-B14F-4D97-AF65-F5344CB8AC3E}">
        <p14:creationId xmlns:p14="http://schemas.microsoft.com/office/powerpoint/2010/main" val="41426690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1C15C9-C837-891F-4D34-B57D39D3EB81}"/>
              </a:ext>
            </a:extLst>
          </p:cNvPr>
          <p:cNvSpPr>
            <a:spLocks noGrp="1"/>
          </p:cNvSpPr>
          <p:nvPr>
            <p:ph type="dt" sz="half" idx="10"/>
          </p:nvPr>
        </p:nvSpPr>
        <p:spPr/>
        <p:txBody>
          <a:bodyPr/>
          <a:lstStyle/>
          <a:p>
            <a:fld id="{DC644FA6-2A37-4708-9009-4BACC2746E37}" type="datetimeFigureOut">
              <a:rPr lang="fr-FR" smtClean="0"/>
              <a:t>07/04/2026</a:t>
            </a:fld>
            <a:endParaRPr lang="fr-FR"/>
          </a:p>
        </p:txBody>
      </p:sp>
      <p:sp>
        <p:nvSpPr>
          <p:cNvPr id="3" name="Footer Placeholder 2">
            <a:extLst>
              <a:ext uri="{FF2B5EF4-FFF2-40B4-BE49-F238E27FC236}">
                <a16:creationId xmlns:a16="http://schemas.microsoft.com/office/drawing/2014/main" id="{7FB2BBDE-8BD5-E101-7413-342108501B47}"/>
              </a:ext>
            </a:extLst>
          </p:cNvPr>
          <p:cNvSpPr>
            <a:spLocks noGrp="1"/>
          </p:cNvSpPr>
          <p:nvPr>
            <p:ph type="ftr" sz="quarter" idx="11"/>
          </p:nvPr>
        </p:nvSpPr>
        <p:spPr/>
        <p:txBody>
          <a:bodyPr/>
          <a:lstStyle/>
          <a:p>
            <a:endParaRPr lang="fr-FR"/>
          </a:p>
        </p:txBody>
      </p:sp>
      <p:sp>
        <p:nvSpPr>
          <p:cNvPr id="4" name="Slide Number Placeholder 3">
            <a:extLst>
              <a:ext uri="{FF2B5EF4-FFF2-40B4-BE49-F238E27FC236}">
                <a16:creationId xmlns:a16="http://schemas.microsoft.com/office/drawing/2014/main" id="{A7BFA8C7-ED52-19FD-AC56-E5B786F1D062}"/>
              </a:ext>
            </a:extLst>
          </p:cNvPr>
          <p:cNvSpPr>
            <a:spLocks noGrp="1"/>
          </p:cNvSpPr>
          <p:nvPr>
            <p:ph type="sldNum" sz="quarter" idx="12"/>
          </p:nvPr>
        </p:nvSpPr>
        <p:spPr/>
        <p:txBody>
          <a:bodyPr/>
          <a:lstStyle/>
          <a:p>
            <a:fld id="{27FCAFB5-31E6-40D7-AE04-A67410C2E8F5}" type="slidenum">
              <a:rPr lang="fr-FR" smtClean="0"/>
              <a:t>‹N°›</a:t>
            </a:fld>
            <a:endParaRPr lang="fr-FR"/>
          </a:p>
        </p:txBody>
      </p:sp>
    </p:spTree>
    <p:extLst>
      <p:ext uri="{BB962C8B-B14F-4D97-AF65-F5344CB8AC3E}">
        <p14:creationId xmlns:p14="http://schemas.microsoft.com/office/powerpoint/2010/main" val="31760334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3A3A8-0D3E-59BA-0509-982A759482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Content Placeholder 2">
            <a:extLst>
              <a:ext uri="{FF2B5EF4-FFF2-40B4-BE49-F238E27FC236}">
                <a16:creationId xmlns:a16="http://schemas.microsoft.com/office/drawing/2014/main" id="{B70E9666-89DB-EBC9-FB41-1556D3827C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Text Placeholder 3">
            <a:extLst>
              <a:ext uri="{FF2B5EF4-FFF2-40B4-BE49-F238E27FC236}">
                <a16:creationId xmlns:a16="http://schemas.microsoft.com/office/drawing/2014/main" id="{0D24AEC0-9B03-B728-3A69-490043C0F8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673BF4-0016-4A6B-CD21-6CACBF19D2CF}"/>
              </a:ext>
            </a:extLst>
          </p:cNvPr>
          <p:cNvSpPr>
            <a:spLocks noGrp="1"/>
          </p:cNvSpPr>
          <p:nvPr>
            <p:ph type="dt" sz="half" idx="10"/>
          </p:nvPr>
        </p:nvSpPr>
        <p:spPr/>
        <p:txBody>
          <a:bodyPr/>
          <a:lstStyle/>
          <a:p>
            <a:fld id="{DC644FA6-2A37-4708-9009-4BACC2746E37}" type="datetimeFigureOut">
              <a:rPr lang="fr-FR" smtClean="0"/>
              <a:t>07/04/2026</a:t>
            </a:fld>
            <a:endParaRPr lang="fr-FR"/>
          </a:p>
        </p:txBody>
      </p:sp>
      <p:sp>
        <p:nvSpPr>
          <p:cNvPr id="6" name="Footer Placeholder 5">
            <a:extLst>
              <a:ext uri="{FF2B5EF4-FFF2-40B4-BE49-F238E27FC236}">
                <a16:creationId xmlns:a16="http://schemas.microsoft.com/office/drawing/2014/main" id="{92826ED1-AE64-6554-DA5C-EAF8BC7A0489}"/>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8C4F6115-A743-4EA6-EAE8-FD9E8E3799DD}"/>
              </a:ext>
            </a:extLst>
          </p:cNvPr>
          <p:cNvSpPr>
            <a:spLocks noGrp="1"/>
          </p:cNvSpPr>
          <p:nvPr>
            <p:ph type="sldNum" sz="quarter" idx="12"/>
          </p:nvPr>
        </p:nvSpPr>
        <p:spPr/>
        <p:txBody>
          <a:bodyPr/>
          <a:lstStyle/>
          <a:p>
            <a:fld id="{27FCAFB5-31E6-40D7-AE04-A67410C2E8F5}" type="slidenum">
              <a:rPr lang="fr-FR" smtClean="0"/>
              <a:t>‹N°›</a:t>
            </a:fld>
            <a:endParaRPr lang="fr-FR"/>
          </a:p>
        </p:txBody>
      </p:sp>
    </p:spTree>
    <p:extLst>
      <p:ext uri="{BB962C8B-B14F-4D97-AF65-F5344CB8AC3E}">
        <p14:creationId xmlns:p14="http://schemas.microsoft.com/office/powerpoint/2010/main" val="3214042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C43E3-1C64-71D1-2D1D-8C2E1BA121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Picture Placeholder 2">
            <a:extLst>
              <a:ext uri="{FF2B5EF4-FFF2-40B4-BE49-F238E27FC236}">
                <a16:creationId xmlns:a16="http://schemas.microsoft.com/office/drawing/2014/main" id="{3C8661E4-A095-444F-C50C-7DBF4F3BB4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a:extLst>
              <a:ext uri="{FF2B5EF4-FFF2-40B4-BE49-F238E27FC236}">
                <a16:creationId xmlns:a16="http://schemas.microsoft.com/office/drawing/2014/main" id="{F072B713-E72F-C9D7-CDDA-EFFFBFA3B2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DA8F35-4FF1-8860-3D3F-53EDD39B7957}"/>
              </a:ext>
            </a:extLst>
          </p:cNvPr>
          <p:cNvSpPr>
            <a:spLocks noGrp="1"/>
          </p:cNvSpPr>
          <p:nvPr>
            <p:ph type="dt" sz="half" idx="10"/>
          </p:nvPr>
        </p:nvSpPr>
        <p:spPr/>
        <p:txBody>
          <a:bodyPr/>
          <a:lstStyle/>
          <a:p>
            <a:fld id="{DC644FA6-2A37-4708-9009-4BACC2746E37}" type="datetimeFigureOut">
              <a:rPr lang="fr-FR" smtClean="0"/>
              <a:t>07/04/2026</a:t>
            </a:fld>
            <a:endParaRPr lang="fr-FR"/>
          </a:p>
        </p:txBody>
      </p:sp>
      <p:sp>
        <p:nvSpPr>
          <p:cNvPr id="6" name="Footer Placeholder 5">
            <a:extLst>
              <a:ext uri="{FF2B5EF4-FFF2-40B4-BE49-F238E27FC236}">
                <a16:creationId xmlns:a16="http://schemas.microsoft.com/office/drawing/2014/main" id="{77B004E1-C488-2CAC-8879-D7EBB12FF6EB}"/>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FD046ABD-4899-DD4E-9A6C-988AEE890E7A}"/>
              </a:ext>
            </a:extLst>
          </p:cNvPr>
          <p:cNvSpPr>
            <a:spLocks noGrp="1"/>
          </p:cNvSpPr>
          <p:nvPr>
            <p:ph type="sldNum" sz="quarter" idx="12"/>
          </p:nvPr>
        </p:nvSpPr>
        <p:spPr/>
        <p:txBody>
          <a:bodyPr/>
          <a:lstStyle/>
          <a:p>
            <a:fld id="{27FCAFB5-31E6-40D7-AE04-A67410C2E8F5}" type="slidenum">
              <a:rPr lang="fr-FR" smtClean="0"/>
              <a:t>‹N°›</a:t>
            </a:fld>
            <a:endParaRPr lang="fr-FR"/>
          </a:p>
        </p:txBody>
      </p:sp>
    </p:spTree>
    <p:extLst>
      <p:ext uri="{BB962C8B-B14F-4D97-AF65-F5344CB8AC3E}">
        <p14:creationId xmlns:p14="http://schemas.microsoft.com/office/powerpoint/2010/main" val="16617507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3CC3B-0344-0FB6-10DF-2E9C9EA2B819}"/>
              </a:ext>
            </a:extLst>
          </p:cNvPr>
          <p:cNvSpPr>
            <a:spLocks noGrp="1"/>
          </p:cNvSpPr>
          <p:nvPr>
            <p:ph type="title"/>
          </p:nvPr>
        </p:nvSpPr>
        <p:spPr/>
        <p:txBody>
          <a:bodyPr/>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7B16D433-1ED6-F844-9BBF-2FF7525007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BEE020AE-F87A-B10D-1B13-B9CC8DF7BD53}"/>
              </a:ext>
            </a:extLst>
          </p:cNvPr>
          <p:cNvSpPr>
            <a:spLocks noGrp="1"/>
          </p:cNvSpPr>
          <p:nvPr>
            <p:ph type="dt" sz="half" idx="10"/>
          </p:nvPr>
        </p:nvSpPr>
        <p:spPr/>
        <p:txBody>
          <a:bodyPr/>
          <a:lstStyle/>
          <a:p>
            <a:fld id="{DC644FA6-2A37-4708-9009-4BACC2746E37}" type="datetimeFigureOut">
              <a:rPr lang="fr-FR" smtClean="0"/>
              <a:t>07/04/2026</a:t>
            </a:fld>
            <a:endParaRPr lang="fr-FR"/>
          </a:p>
        </p:txBody>
      </p:sp>
      <p:sp>
        <p:nvSpPr>
          <p:cNvPr id="5" name="Footer Placeholder 4">
            <a:extLst>
              <a:ext uri="{FF2B5EF4-FFF2-40B4-BE49-F238E27FC236}">
                <a16:creationId xmlns:a16="http://schemas.microsoft.com/office/drawing/2014/main" id="{72C0A514-2D20-B3EC-5678-46A76280BAA6}"/>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351538FD-B261-39D7-3455-667366336701}"/>
              </a:ext>
            </a:extLst>
          </p:cNvPr>
          <p:cNvSpPr>
            <a:spLocks noGrp="1"/>
          </p:cNvSpPr>
          <p:nvPr>
            <p:ph type="sldNum" sz="quarter" idx="12"/>
          </p:nvPr>
        </p:nvSpPr>
        <p:spPr/>
        <p:txBody>
          <a:bodyPr/>
          <a:lstStyle/>
          <a:p>
            <a:fld id="{27FCAFB5-31E6-40D7-AE04-A67410C2E8F5}" type="slidenum">
              <a:rPr lang="fr-FR" smtClean="0"/>
              <a:t>‹N°›</a:t>
            </a:fld>
            <a:endParaRPr lang="fr-FR"/>
          </a:p>
        </p:txBody>
      </p:sp>
    </p:spTree>
    <p:extLst>
      <p:ext uri="{BB962C8B-B14F-4D97-AF65-F5344CB8AC3E}">
        <p14:creationId xmlns:p14="http://schemas.microsoft.com/office/powerpoint/2010/main" val="884718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5E066B-F3A3-C7C8-71CA-F184B952433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2E09AE08-7DED-033E-B940-860BFF71FE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30AF99C8-E434-0A55-BA3D-E83BAFE08AEE}"/>
              </a:ext>
            </a:extLst>
          </p:cNvPr>
          <p:cNvSpPr>
            <a:spLocks noGrp="1"/>
          </p:cNvSpPr>
          <p:nvPr>
            <p:ph type="dt" sz="half" idx="10"/>
          </p:nvPr>
        </p:nvSpPr>
        <p:spPr/>
        <p:txBody>
          <a:bodyPr/>
          <a:lstStyle/>
          <a:p>
            <a:fld id="{DC644FA6-2A37-4708-9009-4BACC2746E37}" type="datetimeFigureOut">
              <a:rPr lang="fr-FR" smtClean="0"/>
              <a:t>07/04/2026</a:t>
            </a:fld>
            <a:endParaRPr lang="fr-FR"/>
          </a:p>
        </p:txBody>
      </p:sp>
      <p:sp>
        <p:nvSpPr>
          <p:cNvPr id="5" name="Footer Placeholder 4">
            <a:extLst>
              <a:ext uri="{FF2B5EF4-FFF2-40B4-BE49-F238E27FC236}">
                <a16:creationId xmlns:a16="http://schemas.microsoft.com/office/drawing/2014/main" id="{E349903C-6E94-1477-5502-DAC717FE32D2}"/>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0CF3F458-C05A-252B-A0D4-520DABC45319}"/>
              </a:ext>
            </a:extLst>
          </p:cNvPr>
          <p:cNvSpPr>
            <a:spLocks noGrp="1"/>
          </p:cNvSpPr>
          <p:nvPr>
            <p:ph type="sldNum" sz="quarter" idx="12"/>
          </p:nvPr>
        </p:nvSpPr>
        <p:spPr/>
        <p:txBody>
          <a:bodyPr/>
          <a:lstStyle/>
          <a:p>
            <a:fld id="{27FCAFB5-31E6-40D7-AE04-A67410C2E8F5}" type="slidenum">
              <a:rPr lang="fr-FR" smtClean="0"/>
              <a:t>‹N°›</a:t>
            </a:fld>
            <a:endParaRPr lang="fr-FR"/>
          </a:p>
        </p:txBody>
      </p:sp>
    </p:spTree>
    <p:extLst>
      <p:ext uri="{BB962C8B-B14F-4D97-AF65-F5344CB8AC3E}">
        <p14:creationId xmlns:p14="http://schemas.microsoft.com/office/powerpoint/2010/main" val="12263280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79232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066225-9D25-037C-CAEA-08FE95E7A3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r-FR"/>
          </a:p>
        </p:txBody>
      </p:sp>
      <p:sp>
        <p:nvSpPr>
          <p:cNvPr id="3" name="Text Placeholder 2">
            <a:extLst>
              <a:ext uri="{FF2B5EF4-FFF2-40B4-BE49-F238E27FC236}">
                <a16:creationId xmlns:a16="http://schemas.microsoft.com/office/drawing/2014/main" id="{44060771-E570-B0AB-71F2-364B72C0CFE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9749D84E-FB0F-2B29-BCB3-E9165BE5A4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C644FA6-2A37-4708-9009-4BACC2746E37}" type="datetimeFigureOut">
              <a:rPr lang="fr-FR" smtClean="0"/>
              <a:t>07/04/2026</a:t>
            </a:fld>
            <a:endParaRPr lang="fr-FR"/>
          </a:p>
        </p:txBody>
      </p:sp>
      <p:sp>
        <p:nvSpPr>
          <p:cNvPr id="5" name="Footer Placeholder 4">
            <a:extLst>
              <a:ext uri="{FF2B5EF4-FFF2-40B4-BE49-F238E27FC236}">
                <a16:creationId xmlns:a16="http://schemas.microsoft.com/office/drawing/2014/main" id="{F5E5A30F-18D1-281E-CD3C-969CAA8C9C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Slide Number Placeholder 5">
            <a:extLst>
              <a:ext uri="{FF2B5EF4-FFF2-40B4-BE49-F238E27FC236}">
                <a16:creationId xmlns:a16="http://schemas.microsoft.com/office/drawing/2014/main" id="{188EECC1-2601-90B3-B44C-0432FC438F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FCAFB5-31E6-40D7-AE04-A67410C2E8F5}" type="slidenum">
              <a:rPr lang="fr-FR" smtClean="0"/>
              <a:t>‹N°›</a:t>
            </a:fld>
            <a:endParaRPr lang="fr-FR"/>
          </a:p>
        </p:txBody>
      </p:sp>
    </p:spTree>
    <p:extLst>
      <p:ext uri="{BB962C8B-B14F-4D97-AF65-F5344CB8AC3E}">
        <p14:creationId xmlns:p14="http://schemas.microsoft.com/office/powerpoint/2010/main" val="11151568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2.xml"/><Relationship Id="rId5" Type="http://schemas.openxmlformats.org/officeDocument/2006/relationships/image" Target="../media/image20.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5"/>
          <p:cNvSpPr/>
          <p:nvPr/>
        </p:nvSpPr>
        <p:spPr>
          <a:xfrm>
            <a:off x="853440" y="1828800"/>
            <a:ext cx="10485120" cy="1889760"/>
          </a:xfrm>
          <a:prstGeom prst="rect">
            <a:avLst/>
          </a:prstGeom>
          <a:noFill/>
          <a:ln w="19050">
            <a:solidFill>
              <a:srgbClr val="8FA3D4"/>
            </a:solidFill>
            <a:prstDash val="solid"/>
          </a:ln>
        </p:spPr>
        <p:txBody>
          <a:bodyPr/>
          <a:lstStyle/>
          <a:p>
            <a:endParaRPr lang="fr-FR" sz="2400"/>
          </a:p>
        </p:txBody>
      </p:sp>
      <p:sp>
        <p:nvSpPr>
          <p:cNvPr id="8" name="Text 6"/>
          <p:cNvSpPr/>
          <p:nvPr/>
        </p:nvSpPr>
        <p:spPr>
          <a:xfrm>
            <a:off x="853440" y="1828800"/>
            <a:ext cx="10485120" cy="1889760"/>
          </a:xfrm>
          <a:prstGeom prst="rect">
            <a:avLst/>
          </a:prstGeom>
          <a:solidFill>
            <a:srgbClr val="0070C0"/>
          </a:solidFill>
          <a:ln/>
        </p:spPr>
        <p:txBody>
          <a:bodyPr wrap="square" rtlCol="0" anchor="ctr"/>
          <a:lstStyle/>
          <a:p>
            <a:pPr algn="ctr"/>
            <a:r>
              <a:rPr lang="en-US" sz="2933" b="1" dirty="0"/>
              <a:t>DEEP LEARNING
</a:t>
            </a:r>
            <a:endParaRPr lang="en-US" sz="2933" dirty="0"/>
          </a:p>
          <a:p>
            <a:pPr algn="ctr"/>
            <a:r>
              <a:rPr lang="en-US" sz="2000" dirty="0">
                <a:solidFill>
                  <a:srgbClr val="1A1A2E"/>
                </a:solidFill>
              </a:rPr>
              <a:t>Comparaison CNN et Vision Transformers</a:t>
            </a:r>
            <a:endParaRPr lang="en-US" sz="2933" dirty="0"/>
          </a:p>
          <a:p>
            <a:pPr algn="ctr"/>
            <a:r>
              <a:rPr lang="en-US" sz="2000" dirty="0">
                <a:solidFill>
                  <a:srgbClr val="1A1A2E"/>
                </a:solidFill>
              </a:rPr>
              <a:t>pour la classification d'images</a:t>
            </a:r>
            <a:endParaRPr lang="en-US" sz="2933" dirty="0"/>
          </a:p>
        </p:txBody>
      </p:sp>
      <p:sp>
        <p:nvSpPr>
          <p:cNvPr id="9" name="Text 7"/>
          <p:cNvSpPr/>
          <p:nvPr/>
        </p:nvSpPr>
        <p:spPr>
          <a:xfrm>
            <a:off x="609600" y="4023360"/>
            <a:ext cx="10972800" cy="426720"/>
          </a:xfrm>
          <a:prstGeom prst="rect">
            <a:avLst/>
          </a:prstGeom>
          <a:noFill/>
          <a:ln/>
        </p:spPr>
        <p:txBody>
          <a:bodyPr wrap="square" rtlCol="0" anchor="ctr"/>
          <a:lstStyle/>
          <a:p>
            <a:pPr algn="ctr"/>
            <a:r>
              <a:rPr lang="en-US" sz="1733" b="1" dirty="0">
                <a:solidFill>
                  <a:srgbClr val="FFFFFF"/>
                </a:solidFill>
              </a:rPr>
              <a:t>M2 Santé Publique – UE MA7CY070  |  Université Paris Cité</a:t>
            </a:r>
            <a:endParaRPr lang="en-US" sz="1733" dirty="0"/>
          </a:p>
        </p:txBody>
      </p:sp>
      <p:sp>
        <p:nvSpPr>
          <p:cNvPr id="10" name="Shape 8"/>
          <p:cNvSpPr/>
          <p:nvPr/>
        </p:nvSpPr>
        <p:spPr>
          <a:xfrm>
            <a:off x="3048000" y="4572000"/>
            <a:ext cx="6096000" cy="853440"/>
          </a:xfrm>
          <a:prstGeom prst="rect">
            <a:avLst/>
          </a:prstGeom>
          <a:noFill/>
          <a:ln w="12700">
            <a:solidFill>
              <a:srgbClr val="8FA3D4"/>
            </a:solidFill>
            <a:prstDash val="solid"/>
          </a:ln>
        </p:spPr>
        <p:txBody>
          <a:bodyPr/>
          <a:lstStyle/>
          <a:p>
            <a:endParaRPr lang="fr-FR" sz="2400"/>
          </a:p>
        </p:txBody>
      </p:sp>
      <p:sp>
        <p:nvSpPr>
          <p:cNvPr id="11" name="Text 9"/>
          <p:cNvSpPr/>
          <p:nvPr/>
        </p:nvSpPr>
        <p:spPr>
          <a:xfrm>
            <a:off x="3048000" y="4572000"/>
            <a:ext cx="6096000" cy="853440"/>
          </a:xfrm>
          <a:prstGeom prst="rect">
            <a:avLst/>
          </a:prstGeom>
          <a:solidFill>
            <a:srgbClr val="0070C0"/>
          </a:solidFill>
          <a:ln/>
        </p:spPr>
        <p:txBody>
          <a:bodyPr wrap="square" rtlCol="0" anchor="ctr"/>
          <a:lstStyle/>
          <a:p>
            <a:pPr algn="ctr"/>
            <a:r>
              <a:rPr lang="en-US" sz="1733" dirty="0"/>
              <a:t>Asma AL RIFAI  ·  Réhane ARICAT</a:t>
            </a:r>
          </a:p>
        </p:txBody>
      </p:sp>
      <p:sp>
        <p:nvSpPr>
          <p:cNvPr id="12" name="Text 10"/>
          <p:cNvSpPr/>
          <p:nvPr/>
        </p:nvSpPr>
        <p:spPr>
          <a:xfrm>
            <a:off x="1219200" y="5608320"/>
            <a:ext cx="9753600" cy="426720"/>
          </a:xfrm>
          <a:prstGeom prst="rect">
            <a:avLst/>
          </a:prstGeom>
          <a:noFill/>
          <a:ln/>
        </p:spPr>
        <p:txBody>
          <a:bodyPr wrap="square" rtlCol="0" anchor="ctr"/>
          <a:lstStyle/>
          <a:p>
            <a:pPr algn="ctr"/>
            <a:r>
              <a:rPr lang="en-US" sz="1867" dirty="0"/>
              <a:t>Professeure : Mme. Ilaria </a:t>
            </a:r>
            <a:r>
              <a:rPr lang="en-US" sz="1867" dirty="0" err="1"/>
              <a:t>Giulini</a:t>
            </a:r>
            <a:r>
              <a:rPr lang="en-US" sz="1867" dirty="0"/>
              <a:t> et M. </a:t>
            </a:r>
            <a:r>
              <a:rPr lang="en-US" sz="1867"/>
              <a:t>Cédric </a:t>
            </a:r>
            <a:r>
              <a:rPr lang="en-US" sz="1867" dirty="0"/>
              <a:t>Adam  </a:t>
            </a:r>
            <a:r>
              <a:rPr lang="en-US" sz="1867"/>
              <a:t>|  08 </a:t>
            </a:r>
            <a:r>
              <a:rPr lang="en-US" sz="1867" dirty="0"/>
              <a:t>Avril 2026</a:t>
            </a:r>
          </a:p>
        </p:txBody>
      </p:sp>
      <p:sp>
        <p:nvSpPr>
          <p:cNvPr id="13" name="Shape 11"/>
          <p:cNvSpPr/>
          <p:nvPr/>
        </p:nvSpPr>
        <p:spPr>
          <a:xfrm>
            <a:off x="5120640" y="6486144"/>
            <a:ext cx="1950720" cy="0"/>
          </a:xfrm>
          <a:prstGeom prst="line">
            <a:avLst/>
          </a:prstGeom>
          <a:noFill/>
          <a:ln w="25400">
            <a:solidFill>
              <a:srgbClr val="2E3F7F"/>
            </a:solidFill>
            <a:prstDash val="solid"/>
          </a:ln>
        </p:spPr>
        <p:txBody>
          <a:bodyPr/>
          <a:lstStyle/>
          <a:p>
            <a:endParaRPr lang="fr-FR" sz="2400"/>
          </a:p>
        </p:txBody>
      </p:sp>
      <p:sp>
        <p:nvSpPr>
          <p:cNvPr id="14" name="Text 12"/>
          <p:cNvSpPr/>
          <p:nvPr/>
        </p:nvSpPr>
        <p:spPr>
          <a:xfrm>
            <a:off x="6949440" y="6364224"/>
            <a:ext cx="304800" cy="243840"/>
          </a:xfrm>
          <a:prstGeom prst="rect">
            <a:avLst/>
          </a:prstGeom>
          <a:noFill/>
          <a:ln/>
        </p:spPr>
        <p:txBody>
          <a:bodyPr wrap="square" rtlCol="0" anchor="ctr"/>
          <a:lstStyle/>
          <a:p>
            <a:r>
              <a:rPr lang="en-US" sz="1067" dirty="0">
                <a:solidFill>
                  <a:srgbClr val="2E3F7F"/>
                </a:solidFill>
              </a:rPr>
              <a:t>▶</a:t>
            </a:r>
            <a:endParaRPr lang="en-US" sz="1067" dirty="0"/>
          </a:p>
        </p:txBody>
      </p:sp>
      <p:sp>
        <p:nvSpPr>
          <p:cNvPr id="15" name="Text 13"/>
          <p:cNvSpPr/>
          <p:nvPr/>
        </p:nvSpPr>
        <p:spPr>
          <a:xfrm>
            <a:off x="10728960" y="6400800"/>
            <a:ext cx="1219200" cy="365760"/>
          </a:xfrm>
          <a:prstGeom prst="rect">
            <a:avLst/>
          </a:prstGeom>
          <a:noFill/>
          <a:ln/>
        </p:spPr>
        <p:txBody>
          <a:bodyPr wrap="square" rtlCol="0" anchor="ctr"/>
          <a:lstStyle/>
          <a:p>
            <a:pPr algn="r"/>
            <a:r>
              <a:rPr lang="en-US" sz="1333" dirty="0">
                <a:solidFill>
                  <a:srgbClr val="4A5480"/>
                </a:solidFill>
              </a:rPr>
              <a:t>1/13</a:t>
            </a:r>
            <a:endParaRPr lang="en-US" sz="1333" dirty="0"/>
          </a:p>
        </p:txBody>
      </p:sp>
      <p:pic>
        <p:nvPicPr>
          <p:cNvPr id="5" name="Picture 4">
            <a:extLst>
              <a:ext uri="{FF2B5EF4-FFF2-40B4-BE49-F238E27FC236}">
                <a16:creationId xmlns:a16="http://schemas.microsoft.com/office/drawing/2014/main" id="{5B3FEF23-5549-F54C-E83D-11C5ECE2E258}"/>
              </a:ext>
            </a:extLst>
          </p:cNvPr>
          <p:cNvPicPr>
            <a:picLocks noChangeAspect="1"/>
          </p:cNvPicPr>
          <p:nvPr/>
        </p:nvPicPr>
        <p:blipFill>
          <a:blip r:embed="rId3"/>
          <a:stretch>
            <a:fillRect/>
          </a:stretch>
        </p:blipFill>
        <p:spPr>
          <a:xfrm>
            <a:off x="1006120" y="417779"/>
            <a:ext cx="2768987" cy="74940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C2B5E"/>
          </a:solidFill>
          <a:ln w="12700">
            <a:solidFill>
              <a:srgbClr val="1C2B5E"/>
            </a:solidFill>
            <a:prstDash val="solid"/>
          </a:ln>
        </p:spPr>
        <p:txBody>
          <a:bodyPr/>
          <a:lstStyle/>
          <a:p>
            <a:endParaRPr lang="fr-FR" sz="2400"/>
          </a:p>
        </p:txBody>
      </p:sp>
      <p:sp>
        <p:nvSpPr>
          <p:cNvPr id="3" name="Text 1"/>
          <p:cNvSpPr/>
          <p:nvPr/>
        </p:nvSpPr>
        <p:spPr>
          <a:xfrm>
            <a:off x="548640" y="0"/>
            <a:ext cx="10972800" cy="1036320"/>
          </a:xfrm>
          <a:prstGeom prst="rect">
            <a:avLst/>
          </a:prstGeom>
          <a:noFill/>
          <a:ln/>
        </p:spPr>
        <p:txBody>
          <a:bodyPr wrap="square" lIns="0" tIns="0" rIns="0" bIns="0" rtlCol="0" anchor="ctr"/>
          <a:lstStyle/>
          <a:p>
            <a:r>
              <a:rPr lang="en-US" sz="2933" b="1" dirty="0">
                <a:solidFill>
                  <a:srgbClr val="FFFFFF"/>
                </a:solidFill>
              </a:rPr>
              <a:t>CONTEXTE ET OBJECTIFS</a:t>
            </a:r>
            <a:endParaRPr lang="en-US" sz="2933" dirty="0"/>
          </a:p>
        </p:txBody>
      </p:sp>
      <p:sp>
        <p:nvSpPr>
          <p:cNvPr id="4" name="Shape 2"/>
          <p:cNvSpPr/>
          <p:nvPr/>
        </p:nvSpPr>
        <p:spPr>
          <a:xfrm>
            <a:off x="365760" y="1219200"/>
            <a:ext cx="5364480" cy="4389120"/>
          </a:xfrm>
          <a:prstGeom prst="rect">
            <a:avLst/>
          </a:prstGeom>
          <a:solidFill>
            <a:srgbClr val="FFFFFF"/>
          </a:solidFill>
          <a:ln w="12700">
            <a:solidFill>
              <a:srgbClr val="C5D0EC"/>
            </a:solidFill>
            <a:prstDash val="solid"/>
          </a:ln>
          <a:effectLst>
            <a:outerShdw blurRad="76200" dist="25400" dir="8100000" algn="bl" rotWithShape="0">
              <a:srgbClr val="000000">
                <a:alpha val="8000"/>
              </a:srgbClr>
            </a:outerShdw>
          </a:effectLst>
        </p:spPr>
        <p:txBody>
          <a:bodyPr/>
          <a:lstStyle/>
          <a:p>
            <a:endParaRPr lang="fr-FR" sz="2400"/>
          </a:p>
        </p:txBody>
      </p:sp>
      <p:sp>
        <p:nvSpPr>
          <p:cNvPr id="5" name="Shape 3"/>
          <p:cNvSpPr/>
          <p:nvPr/>
        </p:nvSpPr>
        <p:spPr>
          <a:xfrm>
            <a:off x="365760" y="1219200"/>
            <a:ext cx="5364480" cy="463296"/>
          </a:xfrm>
          <a:prstGeom prst="rect">
            <a:avLst/>
          </a:prstGeom>
          <a:solidFill>
            <a:srgbClr val="6B5EA8"/>
          </a:solidFill>
          <a:ln w="12700">
            <a:solidFill>
              <a:srgbClr val="6B5EA8"/>
            </a:solidFill>
            <a:prstDash val="solid"/>
          </a:ln>
        </p:spPr>
        <p:txBody>
          <a:bodyPr/>
          <a:lstStyle/>
          <a:p>
            <a:endParaRPr lang="fr-FR" sz="2400"/>
          </a:p>
        </p:txBody>
      </p:sp>
      <p:sp>
        <p:nvSpPr>
          <p:cNvPr id="6" name="Text 4"/>
          <p:cNvSpPr/>
          <p:nvPr/>
        </p:nvSpPr>
        <p:spPr>
          <a:xfrm>
            <a:off x="365760" y="1219200"/>
            <a:ext cx="5364480" cy="463296"/>
          </a:xfrm>
          <a:prstGeom prst="rect">
            <a:avLst/>
          </a:prstGeom>
          <a:noFill/>
          <a:ln/>
        </p:spPr>
        <p:txBody>
          <a:bodyPr wrap="square" lIns="0" tIns="0" rIns="0" bIns="0" rtlCol="0" anchor="ctr"/>
          <a:lstStyle/>
          <a:p>
            <a:pPr algn="ctr"/>
            <a:r>
              <a:rPr lang="en-US" sz="1600" b="1" dirty="0">
                <a:solidFill>
                  <a:srgbClr val="FFFFFF"/>
                </a:solidFill>
              </a:rPr>
              <a:t>Contexte</a:t>
            </a:r>
            <a:endParaRPr lang="en-US" sz="1600" dirty="0"/>
          </a:p>
        </p:txBody>
      </p:sp>
      <p:sp>
        <p:nvSpPr>
          <p:cNvPr id="7" name="Text 5"/>
          <p:cNvSpPr/>
          <p:nvPr/>
        </p:nvSpPr>
        <p:spPr>
          <a:xfrm>
            <a:off x="609600" y="1767840"/>
            <a:ext cx="4876800" cy="3596640"/>
          </a:xfrm>
          <a:prstGeom prst="rect">
            <a:avLst/>
          </a:prstGeom>
          <a:noFill/>
          <a:ln/>
        </p:spPr>
        <p:txBody>
          <a:bodyPr wrap="square" rtlCol="0" anchor="t"/>
          <a:lstStyle/>
          <a:p>
            <a:r>
              <a:rPr lang="fr-FR" sz="1600" noProof="0" dirty="0">
                <a:solidFill>
                  <a:srgbClr val="1A1A2E"/>
                </a:solidFill>
              </a:rPr>
              <a:t>Les </a:t>
            </a:r>
            <a:r>
              <a:rPr lang="fr-FR" sz="1600" noProof="0" dirty="0" err="1">
                <a:solidFill>
                  <a:srgbClr val="1A1A2E"/>
                </a:solidFill>
              </a:rPr>
              <a:t>CNNs</a:t>
            </a:r>
            <a:r>
              <a:rPr lang="fr-FR" sz="1600" noProof="0" dirty="0">
                <a:solidFill>
                  <a:srgbClr val="1A1A2E"/>
                </a:solidFill>
              </a:rPr>
              <a:t> et Vision Transformers (</a:t>
            </a:r>
            <a:r>
              <a:rPr lang="fr-FR" sz="1600" noProof="0" dirty="0" err="1">
                <a:solidFill>
                  <a:srgbClr val="1A1A2E"/>
                </a:solidFill>
              </a:rPr>
              <a:t>ViT</a:t>
            </a:r>
            <a:r>
              <a:rPr lang="fr-FR" sz="1600" noProof="0" dirty="0">
                <a:solidFill>
                  <a:srgbClr val="1A1A2E"/>
                </a:solidFill>
              </a:rPr>
              <a:t>) sont deux familles d'architectures dominantes pour la vision par ordinateur.</a:t>
            </a:r>
            <a:endParaRPr lang="fr-FR" sz="1600" noProof="0" dirty="0"/>
          </a:p>
          <a:p>
            <a:r>
              <a:rPr lang="fr-FR" sz="1600" noProof="0" dirty="0">
                <a:solidFill>
                  <a:srgbClr val="1A1A2E"/>
                </a:solidFill>
              </a:rPr>
              <a:t> </a:t>
            </a:r>
            <a:endParaRPr lang="fr-FR" sz="1600" noProof="0" dirty="0"/>
          </a:p>
          <a:p>
            <a:r>
              <a:rPr lang="fr-FR" sz="1600" noProof="0" dirty="0">
                <a:solidFill>
                  <a:srgbClr val="1A1A2E"/>
                </a:solidFill>
              </a:rPr>
              <a:t>Ils diffèrent fondamentalement dans leur approche :</a:t>
            </a:r>
            <a:endParaRPr lang="fr-FR" sz="1600" noProof="0" dirty="0"/>
          </a:p>
          <a:p>
            <a:r>
              <a:rPr lang="fr-FR" sz="1600" noProof="0" dirty="0">
                <a:solidFill>
                  <a:srgbClr val="1A1A2E"/>
                </a:solidFill>
              </a:rPr>
              <a:t>biais inductifs (CNN) vs attention globale (</a:t>
            </a:r>
            <a:r>
              <a:rPr lang="fr-FR" sz="1600" noProof="0" dirty="0" err="1">
                <a:solidFill>
                  <a:srgbClr val="1A1A2E"/>
                </a:solidFill>
              </a:rPr>
              <a:t>ViT</a:t>
            </a:r>
            <a:r>
              <a:rPr lang="fr-FR" sz="1600" noProof="0" dirty="0">
                <a:solidFill>
                  <a:srgbClr val="1A1A2E"/>
                </a:solidFill>
              </a:rPr>
              <a:t>).</a:t>
            </a:r>
            <a:endParaRPr lang="fr-FR" sz="1600" noProof="0" dirty="0"/>
          </a:p>
        </p:txBody>
      </p:sp>
      <p:sp>
        <p:nvSpPr>
          <p:cNvPr id="8" name="Shape 6"/>
          <p:cNvSpPr/>
          <p:nvPr/>
        </p:nvSpPr>
        <p:spPr>
          <a:xfrm>
            <a:off x="6461760" y="1219200"/>
            <a:ext cx="5364480" cy="4389120"/>
          </a:xfrm>
          <a:prstGeom prst="rect">
            <a:avLst/>
          </a:prstGeom>
          <a:solidFill>
            <a:srgbClr val="FFFFFF"/>
          </a:solidFill>
          <a:ln w="12700">
            <a:solidFill>
              <a:srgbClr val="C5D0EC"/>
            </a:solidFill>
            <a:prstDash val="solid"/>
          </a:ln>
          <a:effectLst>
            <a:outerShdw blurRad="76200" dist="25400" dir="8100000" algn="bl" rotWithShape="0">
              <a:srgbClr val="000000">
                <a:alpha val="8000"/>
              </a:srgbClr>
            </a:outerShdw>
          </a:effectLst>
        </p:spPr>
        <p:txBody>
          <a:bodyPr/>
          <a:lstStyle/>
          <a:p>
            <a:endParaRPr lang="fr-FR" sz="2400"/>
          </a:p>
        </p:txBody>
      </p:sp>
      <p:sp>
        <p:nvSpPr>
          <p:cNvPr id="9" name="Shape 7"/>
          <p:cNvSpPr/>
          <p:nvPr/>
        </p:nvSpPr>
        <p:spPr>
          <a:xfrm>
            <a:off x="6461760" y="1219200"/>
            <a:ext cx="5364480" cy="463296"/>
          </a:xfrm>
          <a:prstGeom prst="rect">
            <a:avLst/>
          </a:prstGeom>
          <a:solidFill>
            <a:srgbClr val="5B73B8"/>
          </a:solidFill>
          <a:ln w="12700">
            <a:solidFill>
              <a:srgbClr val="5B73B8"/>
            </a:solidFill>
            <a:prstDash val="solid"/>
          </a:ln>
        </p:spPr>
        <p:txBody>
          <a:bodyPr/>
          <a:lstStyle/>
          <a:p>
            <a:endParaRPr lang="fr-FR" sz="2400"/>
          </a:p>
        </p:txBody>
      </p:sp>
      <p:sp>
        <p:nvSpPr>
          <p:cNvPr id="10" name="Text 8"/>
          <p:cNvSpPr/>
          <p:nvPr/>
        </p:nvSpPr>
        <p:spPr>
          <a:xfrm>
            <a:off x="6461760" y="1219200"/>
            <a:ext cx="5364480" cy="463296"/>
          </a:xfrm>
          <a:prstGeom prst="rect">
            <a:avLst/>
          </a:prstGeom>
          <a:noFill/>
          <a:ln/>
        </p:spPr>
        <p:txBody>
          <a:bodyPr wrap="square" lIns="0" tIns="0" rIns="0" bIns="0" rtlCol="0" anchor="ctr"/>
          <a:lstStyle/>
          <a:p>
            <a:pPr algn="ctr"/>
            <a:r>
              <a:rPr lang="en-US" sz="1600" b="1" dirty="0">
                <a:solidFill>
                  <a:srgbClr val="FFFFFF"/>
                </a:solidFill>
              </a:rPr>
              <a:t>Objectif</a:t>
            </a:r>
            <a:endParaRPr lang="en-US" sz="1600" dirty="0"/>
          </a:p>
        </p:txBody>
      </p:sp>
      <p:sp>
        <p:nvSpPr>
          <p:cNvPr id="11" name="Text 9"/>
          <p:cNvSpPr/>
          <p:nvPr/>
        </p:nvSpPr>
        <p:spPr>
          <a:xfrm>
            <a:off x="6705600" y="1767840"/>
            <a:ext cx="4876800" cy="3596640"/>
          </a:xfrm>
          <a:prstGeom prst="rect">
            <a:avLst/>
          </a:prstGeom>
          <a:noFill/>
          <a:ln/>
        </p:spPr>
        <p:txBody>
          <a:bodyPr wrap="square" rtlCol="0" anchor="t"/>
          <a:lstStyle/>
          <a:p>
            <a:r>
              <a:rPr lang="fr-FR" sz="1600" noProof="0" dirty="0">
                <a:solidFill>
                  <a:srgbClr val="1A1A2E"/>
                </a:solidFill>
              </a:rPr>
              <a:t>Comparer CNN et </a:t>
            </a:r>
            <a:r>
              <a:rPr lang="fr-FR" sz="1600" noProof="0" dirty="0" err="1">
                <a:solidFill>
                  <a:srgbClr val="1A1A2E"/>
                </a:solidFill>
              </a:rPr>
              <a:t>ViT</a:t>
            </a:r>
            <a:r>
              <a:rPr lang="fr-FR" sz="1600" noProof="0" dirty="0">
                <a:solidFill>
                  <a:srgbClr val="1A1A2E"/>
                </a:solidFill>
              </a:rPr>
              <a:t> sur 4 </a:t>
            </a:r>
            <a:r>
              <a:rPr lang="fr-FR" sz="1600" noProof="0" dirty="0" err="1">
                <a:solidFill>
                  <a:srgbClr val="1A1A2E"/>
                </a:solidFill>
              </a:rPr>
              <a:t>datasets</a:t>
            </a:r>
            <a:r>
              <a:rPr lang="fr-FR" sz="1600" noProof="0" dirty="0">
                <a:solidFill>
                  <a:srgbClr val="1A1A2E"/>
                </a:solidFill>
              </a:rPr>
              <a:t> conçus pour mettre en évidence leurs forces et faiblesses :</a:t>
            </a:r>
            <a:endParaRPr lang="fr-FR" sz="1600" noProof="0" dirty="0"/>
          </a:p>
          <a:p>
            <a:r>
              <a:rPr lang="fr-FR" sz="1600" noProof="0" dirty="0">
                <a:solidFill>
                  <a:srgbClr val="1A1A2E"/>
                </a:solidFill>
              </a:rPr>
              <a:t> </a:t>
            </a:r>
            <a:endParaRPr lang="fr-FR" sz="1600" noProof="0" dirty="0"/>
          </a:p>
          <a:p>
            <a:pPr marL="457189" indent="-457189">
              <a:buSzPct val="100000"/>
              <a:buChar char="•"/>
            </a:pPr>
            <a:r>
              <a:rPr lang="fr-FR" sz="1600" noProof="0" dirty="0">
                <a:solidFill>
                  <a:srgbClr val="1A1A2E"/>
                </a:solidFill>
              </a:rPr>
              <a:t>① Petite taille de </a:t>
            </a:r>
            <a:r>
              <a:rPr lang="fr-FR" sz="1600" noProof="0" dirty="0" err="1">
                <a:solidFill>
                  <a:srgbClr val="1A1A2E"/>
                </a:solidFill>
              </a:rPr>
              <a:t>dataset</a:t>
            </a:r>
            <a:r>
              <a:rPr lang="fr-FR" sz="1600" noProof="0" dirty="0">
                <a:solidFill>
                  <a:srgbClr val="1A1A2E"/>
                </a:solidFill>
              </a:rPr>
              <a:t> (CIFAR-10)</a:t>
            </a:r>
            <a:endParaRPr lang="fr-FR" sz="1600" noProof="0" dirty="0"/>
          </a:p>
          <a:p>
            <a:pPr marL="457189" indent="-457189">
              <a:buSzPct val="100000"/>
              <a:buChar char="•"/>
            </a:pPr>
            <a:r>
              <a:rPr lang="fr-FR" sz="1600" noProof="0" dirty="0">
                <a:solidFill>
                  <a:srgbClr val="1A1A2E"/>
                </a:solidFill>
              </a:rPr>
              <a:t>② Classification de textures</a:t>
            </a:r>
            <a:endParaRPr lang="fr-FR" sz="1600" noProof="0" dirty="0"/>
          </a:p>
          <a:p>
            <a:pPr marL="457189" indent="-457189">
              <a:buSzPct val="100000"/>
              <a:buChar char="•"/>
            </a:pPr>
            <a:r>
              <a:rPr lang="fr-FR" sz="1600" noProof="0" dirty="0">
                <a:solidFill>
                  <a:srgbClr val="1A1A2E"/>
                </a:solidFill>
              </a:rPr>
              <a:t>③ Relations spatiales 2D</a:t>
            </a:r>
            <a:endParaRPr lang="fr-FR" sz="1600" noProof="0" dirty="0"/>
          </a:p>
          <a:p>
            <a:pPr marL="457189" indent="-457189">
              <a:buSzPct val="100000"/>
              <a:buChar char="•"/>
            </a:pPr>
            <a:r>
              <a:rPr lang="fr-FR" sz="1600" noProof="0" dirty="0">
                <a:solidFill>
                  <a:srgbClr val="1A1A2E"/>
                </a:solidFill>
              </a:rPr>
              <a:t>④ Interactions globales (comptage)</a:t>
            </a:r>
            <a:endParaRPr lang="fr-FR" sz="1600" noProof="0" dirty="0"/>
          </a:p>
        </p:txBody>
      </p:sp>
      <p:sp>
        <p:nvSpPr>
          <p:cNvPr id="12" name="Shape 10"/>
          <p:cNvSpPr/>
          <p:nvPr/>
        </p:nvSpPr>
        <p:spPr>
          <a:xfrm>
            <a:off x="5120640" y="6486144"/>
            <a:ext cx="1950720" cy="0"/>
          </a:xfrm>
          <a:prstGeom prst="line">
            <a:avLst/>
          </a:prstGeom>
          <a:noFill/>
          <a:ln w="25400">
            <a:solidFill>
              <a:srgbClr val="2E3F7F"/>
            </a:solidFill>
            <a:prstDash val="solid"/>
          </a:ln>
        </p:spPr>
        <p:txBody>
          <a:bodyPr/>
          <a:lstStyle/>
          <a:p>
            <a:endParaRPr lang="fr-FR" sz="2400"/>
          </a:p>
        </p:txBody>
      </p:sp>
      <p:sp>
        <p:nvSpPr>
          <p:cNvPr id="13" name="Text 11"/>
          <p:cNvSpPr/>
          <p:nvPr/>
        </p:nvSpPr>
        <p:spPr>
          <a:xfrm>
            <a:off x="6949440" y="6364224"/>
            <a:ext cx="304800" cy="243840"/>
          </a:xfrm>
          <a:prstGeom prst="rect">
            <a:avLst/>
          </a:prstGeom>
          <a:noFill/>
          <a:ln/>
        </p:spPr>
        <p:txBody>
          <a:bodyPr wrap="square" rtlCol="0" anchor="ctr"/>
          <a:lstStyle/>
          <a:p>
            <a:r>
              <a:rPr lang="en-US" sz="1067" dirty="0">
                <a:solidFill>
                  <a:srgbClr val="2E3F7F"/>
                </a:solidFill>
              </a:rPr>
              <a:t>▶</a:t>
            </a:r>
            <a:endParaRPr lang="en-US" sz="1067" dirty="0"/>
          </a:p>
        </p:txBody>
      </p:sp>
      <p:sp>
        <p:nvSpPr>
          <p:cNvPr id="14" name="Text 12"/>
          <p:cNvSpPr/>
          <p:nvPr/>
        </p:nvSpPr>
        <p:spPr>
          <a:xfrm>
            <a:off x="10728960" y="6400800"/>
            <a:ext cx="1219200" cy="365760"/>
          </a:xfrm>
          <a:prstGeom prst="rect">
            <a:avLst/>
          </a:prstGeom>
          <a:noFill/>
          <a:ln/>
        </p:spPr>
        <p:txBody>
          <a:bodyPr wrap="square" rtlCol="0" anchor="ctr"/>
          <a:lstStyle/>
          <a:p>
            <a:pPr algn="r"/>
            <a:r>
              <a:rPr lang="en-US" sz="1333" dirty="0">
                <a:solidFill>
                  <a:srgbClr val="4A5480"/>
                </a:solidFill>
              </a:rPr>
              <a:t>2/13</a:t>
            </a:r>
            <a:endParaRPr lang="en-US" sz="1333"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C2B5E"/>
          </a:solidFill>
          <a:ln w="12700">
            <a:solidFill>
              <a:srgbClr val="1C2B5E"/>
            </a:solidFill>
            <a:prstDash val="solid"/>
          </a:ln>
        </p:spPr>
        <p:txBody>
          <a:bodyPr/>
          <a:lstStyle/>
          <a:p>
            <a:endParaRPr lang="fr-FR" sz="2400"/>
          </a:p>
        </p:txBody>
      </p:sp>
      <p:sp>
        <p:nvSpPr>
          <p:cNvPr id="3" name="Text 1"/>
          <p:cNvSpPr/>
          <p:nvPr/>
        </p:nvSpPr>
        <p:spPr>
          <a:xfrm>
            <a:off x="548640" y="0"/>
            <a:ext cx="10972800" cy="1036320"/>
          </a:xfrm>
          <a:prstGeom prst="rect">
            <a:avLst/>
          </a:prstGeom>
          <a:noFill/>
          <a:ln/>
        </p:spPr>
        <p:txBody>
          <a:bodyPr wrap="square" lIns="0" tIns="0" rIns="0" bIns="0" rtlCol="0" anchor="ctr"/>
          <a:lstStyle/>
          <a:p>
            <a:r>
              <a:rPr lang="en-US" sz="2933" b="1" dirty="0">
                <a:solidFill>
                  <a:srgbClr val="FFFFFF"/>
                </a:solidFill>
              </a:rPr>
              <a:t>VISUAL TRANSFORMERS (ViT)</a:t>
            </a:r>
            <a:endParaRPr lang="en-US" sz="2933" dirty="0"/>
          </a:p>
        </p:txBody>
      </p:sp>
      <p:sp>
        <p:nvSpPr>
          <p:cNvPr id="4" name="Shape 2"/>
          <p:cNvSpPr/>
          <p:nvPr/>
        </p:nvSpPr>
        <p:spPr>
          <a:xfrm>
            <a:off x="524256" y="5035649"/>
            <a:ext cx="2560320" cy="783336"/>
          </a:xfrm>
          <a:prstGeom prst="rect">
            <a:avLst/>
          </a:prstGeom>
          <a:solidFill>
            <a:srgbClr val="FFFFFF"/>
          </a:solidFill>
          <a:ln w="12700">
            <a:solidFill>
              <a:srgbClr val="C5D0EC"/>
            </a:solidFill>
            <a:prstDash val="solid"/>
          </a:ln>
          <a:effectLst>
            <a:outerShdw blurRad="63500" dist="25400" dir="8100000" algn="bl" rotWithShape="0">
              <a:srgbClr val="000000">
                <a:alpha val="9000"/>
              </a:srgbClr>
            </a:outerShdw>
          </a:effectLst>
        </p:spPr>
        <p:txBody>
          <a:bodyPr/>
          <a:lstStyle/>
          <a:p>
            <a:endParaRPr lang="fr-FR" sz="2400" dirty="0"/>
          </a:p>
        </p:txBody>
      </p:sp>
      <p:sp>
        <p:nvSpPr>
          <p:cNvPr id="7" name="Text 5"/>
          <p:cNvSpPr/>
          <p:nvPr/>
        </p:nvSpPr>
        <p:spPr>
          <a:xfrm>
            <a:off x="573024" y="5065235"/>
            <a:ext cx="2438400" cy="357051"/>
          </a:xfrm>
          <a:prstGeom prst="rect">
            <a:avLst/>
          </a:prstGeom>
          <a:noFill/>
          <a:ln/>
        </p:spPr>
        <p:txBody>
          <a:bodyPr wrap="square" rtlCol="0" anchor="ctr"/>
          <a:lstStyle/>
          <a:p>
            <a:pPr algn="ctr"/>
            <a:r>
              <a:rPr lang="fr-FR" sz="1467" b="1" noProof="0" dirty="0">
                <a:solidFill>
                  <a:srgbClr val="1C2B5E"/>
                </a:solidFill>
              </a:rPr>
              <a:t>Découpage en Patchs</a:t>
            </a:r>
            <a:endParaRPr lang="fr-FR" sz="1467" noProof="0" dirty="0"/>
          </a:p>
        </p:txBody>
      </p:sp>
      <p:sp>
        <p:nvSpPr>
          <p:cNvPr id="8" name="Text 6"/>
          <p:cNvSpPr/>
          <p:nvPr/>
        </p:nvSpPr>
        <p:spPr>
          <a:xfrm>
            <a:off x="633984" y="5321702"/>
            <a:ext cx="2365248" cy="478536"/>
          </a:xfrm>
          <a:prstGeom prst="rect">
            <a:avLst/>
          </a:prstGeom>
          <a:noFill/>
          <a:ln/>
        </p:spPr>
        <p:txBody>
          <a:bodyPr wrap="square" rtlCol="0" anchor="t"/>
          <a:lstStyle/>
          <a:p>
            <a:r>
              <a:rPr lang="en-US" sz="1333" dirty="0">
                <a:solidFill>
                  <a:srgbClr val="4A5480"/>
                </a:solidFill>
              </a:rPr>
              <a:t>Image divisée en N patchs de taille P×P, aplatis en vecteurs.</a:t>
            </a:r>
            <a:endParaRPr lang="en-US" sz="1333" dirty="0"/>
          </a:p>
        </p:txBody>
      </p:sp>
      <p:sp>
        <p:nvSpPr>
          <p:cNvPr id="12" name="Text 10"/>
          <p:cNvSpPr/>
          <p:nvPr/>
        </p:nvSpPr>
        <p:spPr>
          <a:xfrm>
            <a:off x="4169664" y="1341120"/>
            <a:ext cx="792480" cy="792480"/>
          </a:xfrm>
          <a:prstGeom prst="rect">
            <a:avLst/>
          </a:prstGeom>
          <a:noFill/>
          <a:ln/>
        </p:spPr>
        <p:txBody>
          <a:bodyPr wrap="square" lIns="0" tIns="0" rIns="0" bIns="0" rtlCol="0" anchor="ctr"/>
          <a:lstStyle/>
          <a:p>
            <a:pPr algn="ctr"/>
            <a:r>
              <a:rPr lang="en-US" sz="1867" b="1" dirty="0">
                <a:solidFill>
                  <a:srgbClr val="FFFFFF"/>
                </a:solidFill>
              </a:rPr>
              <a:t>2</a:t>
            </a:r>
            <a:endParaRPr lang="en-US" sz="1867" dirty="0"/>
          </a:p>
        </p:txBody>
      </p:sp>
      <p:sp>
        <p:nvSpPr>
          <p:cNvPr id="18" name="Text 16"/>
          <p:cNvSpPr/>
          <p:nvPr/>
        </p:nvSpPr>
        <p:spPr>
          <a:xfrm>
            <a:off x="7034784" y="1341120"/>
            <a:ext cx="792480" cy="792480"/>
          </a:xfrm>
          <a:prstGeom prst="rect">
            <a:avLst/>
          </a:prstGeom>
          <a:noFill/>
          <a:ln/>
        </p:spPr>
        <p:txBody>
          <a:bodyPr wrap="square" lIns="0" tIns="0" rIns="0" bIns="0" rtlCol="0" anchor="ctr"/>
          <a:lstStyle/>
          <a:p>
            <a:pPr algn="ctr"/>
            <a:r>
              <a:rPr lang="en-US" sz="1867" b="1" dirty="0">
                <a:solidFill>
                  <a:srgbClr val="FFFFFF"/>
                </a:solidFill>
              </a:rPr>
              <a:t>3</a:t>
            </a:r>
            <a:endParaRPr lang="en-US" sz="1867" dirty="0"/>
          </a:p>
        </p:txBody>
      </p:sp>
      <p:sp>
        <p:nvSpPr>
          <p:cNvPr id="24" name="Text 22"/>
          <p:cNvSpPr/>
          <p:nvPr/>
        </p:nvSpPr>
        <p:spPr>
          <a:xfrm>
            <a:off x="9899904" y="1341120"/>
            <a:ext cx="792480" cy="792480"/>
          </a:xfrm>
          <a:prstGeom prst="rect">
            <a:avLst/>
          </a:prstGeom>
          <a:noFill/>
          <a:ln/>
        </p:spPr>
        <p:txBody>
          <a:bodyPr wrap="square" lIns="0" tIns="0" rIns="0" bIns="0" rtlCol="0" anchor="ctr"/>
          <a:lstStyle/>
          <a:p>
            <a:pPr algn="ctr"/>
            <a:r>
              <a:rPr lang="en-US" sz="1867" b="1" dirty="0">
                <a:solidFill>
                  <a:srgbClr val="FFFFFF"/>
                </a:solidFill>
              </a:rPr>
              <a:t>4</a:t>
            </a:r>
            <a:endParaRPr lang="en-US" sz="1867" dirty="0"/>
          </a:p>
        </p:txBody>
      </p:sp>
      <p:sp>
        <p:nvSpPr>
          <p:cNvPr id="27" name="Shape 25"/>
          <p:cNvSpPr/>
          <p:nvPr/>
        </p:nvSpPr>
        <p:spPr>
          <a:xfrm>
            <a:off x="426720" y="5974080"/>
            <a:ext cx="5242560" cy="670560"/>
          </a:xfrm>
          <a:prstGeom prst="rect">
            <a:avLst/>
          </a:prstGeom>
          <a:solidFill>
            <a:srgbClr val="A89FD6">
              <a:alpha val="45000"/>
            </a:srgbClr>
          </a:solidFill>
          <a:ln w="10160">
            <a:solidFill>
              <a:srgbClr val="6B5EA8"/>
            </a:solidFill>
            <a:prstDash val="solid"/>
          </a:ln>
        </p:spPr>
        <p:txBody>
          <a:bodyPr/>
          <a:lstStyle/>
          <a:p>
            <a:endParaRPr lang="fr-FR" sz="2400"/>
          </a:p>
        </p:txBody>
      </p:sp>
      <p:sp>
        <p:nvSpPr>
          <p:cNvPr id="28" name="Text 26"/>
          <p:cNvSpPr/>
          <p:nvPr/>
        </p:nvSpPr>
        <p:spPr>
          <a:xfrm>
            <a:off x="548640" y="5974080"/>
            <a:ext cx="5120640" cy="670560"/>
          </a:xfrm>
          <a:prstGeom prst="rect">
            <a:avLst/>
          </a:prstGeom>
          <a:noFill/>
          <a:ln/>
        </p:spPr>
        <p:txBody>
          <a:bodyPr wrap="square" rtlCol="0" anchor="ctr"/>
          <a:lstStyle/>
          <a:p>
            <a:r>
              <a:rPr lang="en-US" sz="1333" dirty="0">
                <a:solidFill>
                  <a:srgbClr val="1C2B5E"/>
                </a:solidFill>
              </a:rPr>
              <a:t>✔ Force : dépendances à longue distance grâce à l'attention globale</a:t>
            </a:r>
            <a:endParaRPr lang="en-US" sz="1333" dirty="0"/>
          </a:p>
        </p:txBody>
      </p:sp>
      <p:sp>
        <p:nvSpPr>
          <p:cNvPr id="29" name="Shape 27"/>
          <p:cNvSpPr/>
          <p:nvPr/>
        </p:nvSpPr>
        <p:spPr>
          <a:xfrm>
            <a:off x="6522720" y="5974080"/>
            <a:ext cx="5242560" cy="670560"/>
          </a:xfrm>
          <a:prstGeom prst="rect">
            <a:avLst/>
          </a:prstGeom>
          <a:solidFill>
            <a:srgbClr val="C5D0EC">
              <a:alpha val="50000"/>
            </a:srgbClr>
          </a:solidFill>
          <a:ln w="10160">
            <a:solidFill>
              <a:srgbClr val="8FA3D4"/>
            </a:solidFill>
            <a:prstDash val="solid"/>
          </a:ln>
        </p:spPr>
        <p:txBody>
          <a:bodyPr/>
          <a:lstStyle/>
          <a:p>
            <a:endParaRPr lang="fr-FR" sz="2400"/>
          </a:p>
        </p:txBody>
      </p:sp>
      <p:sp>
        <p:nvSpPr>
          <p:cNvPr id="30" name="Text 28"/>
          <p:cNvSpPr/>
          <p:nvPr/>
        </p:nvSpPr>
        <p:spPr>
          <a:xfrm>
            <a:off x="6644640" y="5974080"/>
            <a:ext cx="5120640" cy="670560"/>
          </a:xfrm>
          <a:prstGeom prst="rect">
            <a:avLst/>
          </a:prstGeom>
          <a:noFill/>
          <a:ln/>
        </p:spPr>
        <p:txBody>
          <a:bodyPr wrap="square" rtlCol="0" anchor="ctr"/>
          <a:lstStyle/>
          <a:p>
            <a:r>
              <a:rPr lang="en-US" sz="1333" dirty="0">
                <a:solidFill>
                  <a:srgbClr val="1C2B5E"/>
                </a:solidFill>
              </a:rPr>
              <a:t>⚠ Limite : faible biais inductif → nécessite beaucoup de données</a:t>
            </a:r>
            <a:endParaRPr lang="en-US" sz="1333" dirty="0"/>
          </a:p>
        </p:txBody>
      </p:sp>
      <p:sp>
        <p:nvSpPr>
          <p:cNvPr id="31" name="Shape 29"/>
          <p:cNvSpPr/>
          <p:nvPr/>
        </p:nvSpPr>
        <p:spPr>
          <a:xfrm>
            <a:off x="5120640" y="6486144"/>
            <a:ext cx="1950720" cy="0"/>
          </a:xfrm>
          <a:prstGeom prst="line">
            <a:avLst/>
          </a:prstGeom>
          <a:noFill/>
          <a:ln w="25400">
            <a:solidFill>
              <a:srgbClr val="2E3F7F"/>
            </a:solidFill>
            <a:prstDash val="solid"/>
          </a:ln>
        </p:spPr>
        <p:txBody>
          <a:bodyPr/>
          <a:lstStyle/>
          <a:p>
            <a:endParaRPr lang="fr-FR" sz="2400"/>
          </a:p>
        </p:txBody>
      </p:sp>
      <p:sp>
        <p:nvSpPr>
          <p:cNvPr id="32" name="Text 30"/>
          <p:cNvSpPr/>
          <p:nvPr/>
        </p:nvSpPr>
        <p:spPr>
          <a:xfrm>
            <a:off x="6949440" y="6364224"/>
            <a:ext cx="304800" cy="243840"/>
          </a:xfrm>
          <a:prstGeom prst="rect">
            <a:avLst/>
          </a:prstGeom>
          <a:noFill/>
          <a:ln/>
        </p:spPr>
        <p:txBody>
          <a:bodyPr wrap="square" rtlCol="0" anchor="ctr"/>
          <a:lstStyle/>
          <a:p>
            <a:r>
              <a:rPr lang="en-US" sz="1067" dirty="0">
                <a:solidFill>
                  <a:srgbClr val="2E3F7F"/>
                </a:solidFill>
              </a:rPr>
              <a:t>▶</a:t>
            </a:r>
            <a:endParaRPr lang="en-US" sz="1067" dirty="0"/>
          </a:p>
        </p:txBody>
      </p:sp>
      <p:sp>
        <p:nvSpPr>
          <p:cNvPr id="33" name="Text 31"/>
          <p:cNvSpPr/>
          <p:nvPr/>
        </p:nvSpPr>
        <p:spPr>
          <a:xfrm>
            <a:off x="10728960" y="6400800"/>
            <a:ext cx="1219200" cy="365760"/>
          </a:xfrm>
          <a:prstGeom prst="rect">
            <a:avLst/>
          </a:prstGeom>
          <a:noFill/>
          <a:ln/>
        </p:spPr>
        <p:txBody>
          <a:bodyPr wrap="square" rtlCol="0" anchor="ctr"/>
          <a:lstStyle/>
          <a:p>
            <a:pPr algn="r"/>
            <a:r>
              <a:rPr lang="en-US" sz="1333" dirty="0">
                <a:solidFill>
                  <a:srgbClr val="4A5480"/>
                </a:solidFill>
              </a:rPr>
              <a:t>3/13</a:t>
            </a:r>
            <a:endParaRPr lang="en-US" sz="1333" dirty="0"/>
          </a:p>
        </p:txBody>
      </p:sp>
      <p:sp>
        <p:nvSpPr>
          <p:cNvPr id="34" name="Shape 2">
            <a:extLst>
              <a:ext uri="{FF2B5EF4-FFF2-40B4-BE49-F238E27FC236}">
                <a16:creationId xmlns:a16="http://schemas.microsoft.com/office/drawing/2014/main" id="{8409ECE2-E1BC-76F6-5AEC-3486A250C362}"/>
              </a:ext>
            </a:extLst>
          </p:cNvPr>
          <p:cNvSpPr/>
          <p:nvPr/>
        </p:nvSpPr>
        <p:spPr>
          <a:xfrm>
            <a:off x="504225" y="3686548"/>
            <a:ext cx="2560320" cy="1090856"/>
          </a:xfrm>
          <a:prstGeom prst="rect">
            <a:avLst/>
          </a:prstGeom>
          <a:solidFill>
            <a:srgbClr val="FFFFFF"/>
          </a:solidFill>
          <a:ln w="12700">
            <a:solidFill>
              <a:srgbClr val="C5D0EC"/>
            </a:solidFill>
            <a:prstDash val="solid"/>
          </a:ln>
          <a:effectLst>
            <a:outerShdw blurRad="63500" dist="25400" dir="8100000" algn="bl" rotWithShape="0">
              <a:srgbClr val="000000">
                <a:alpha val="9000"/>
              </a:srgbClr>
            </a:outerShdw>
          </a:effectLst>
        </p:spPr>
        <p:txBody>
          <a:bodyPr/>
          <a:lstStyle/>
          <a:p>
            <a:endParaRPr lang="fr-FR" sz="2400" dirty="0"/>
          </a:p>
        </p:txBody>
      </p:sp>
      <p:sp>
        <p:nvSpPr>
          <p:cNvPr id="35" name="Shape 2">
            <a:extLst>
              <a:ext uri="{FF2B5EF4-FFF2-40B4-BE49-F238E27FC236}">
                <a16:creationId xmlns:a16="http://schemas.microsoft.com/office/drawing/2014/main" id="{B3549D7F-12F7-043F-CB8E-3713A3956AE8}"/>
              </a:ext>
            </a:extLst>
          </p:cNvPr>
          <p:cNvSpPr/>
          <p:nvPr/>
        </p:nvSpPr>
        <p:spPr>
          <a:xfrm>
            <a:off x="504225" y="1142565"/>
            <a:ext cx="2560320" cy="783336"/>
          </a:xfrm>
          <a:prstGeom prst="rect">
            <a:avLst/>
          </a:prstGeom>
          <a:solidFill>
            <a:srgbClr val="FFFFFF"/>
          </a:solidFill>
          <a:ln w="12700">
            <a:solidFill>
              <a:srgbClr val="C5D0EC">
                <a:alpha val="99000"/>
              </a:srgbClr>
            </a:solidFill>
            <a:prstDash val="solid"/>
          </a:ln>
          <a:effectLst>
            <a:outerShdw blurRad="63500" dist="25400" dir="8100000" algn="bl" rotWithShape="0">
              <a:srgbClr val="000000">
                <a:alpha val="9000"/>
              </a:srgbClr>
            </a:outerShdw>
          </a:effectLst>
        </p:spPr>
        <p:txBody>
          <a:bodyPr/>
          <a:lstStyle/>
          <a:p>
            <a:endParaRPr lang="fr-FR" sz="2400" dirty="0"/>
          </a:p>
        </p:txBody>
      </p:sp>
      <p:sp>
        <p:nvSpPr>
          <p:cNvPr id="36" name="Shape 2">
            <a:extLst>
              <a:ext uri="{FF2B5EF4-FFF2-40B4-BE49-F238E27FC236}">
                <a16:creationId xmlns:a16="http://schemas.microsoft.com/office/drawing/2014/main" id="{86448D0E-D528-A33A-CC6A-6FDF34AB0FB2}"/>
              </a:ext>
            </a:extLst>
          </p:cNvPr>
          <p:cNvSpPr/>
          <p:nvPr/>
        </p:nvSpPr>
        <p:spPr>
          <a:xfrm>
            <a:off x="504225" y="2226249"/>
            <a:ext cx="2560320" cy="1159952"/>
          </a:xfrm>
          <a:prstGeom prst="rect">
            <a:avLst/>
          </a:prstGeom>
          <a:solidFill>
            <a:srgbClr val="FFFFFF"/>
          </a:solidFill>
          <a:ln w="12700">
            <a:solidFill>
              <a:srgbClr val="C5D0EC"/>
            </a:solidFill>
            <a:prstDash val="solid"/>
          </a:ln>
          <a:effectLst>
            <a:outerShdw blurRad="63500" dist="25400" dir="8100000" algn="bl" rotWithShape="0">
              <a:srgbClr val="000000">
                <a:alpha val="9000"/>
              </a:srgbClr>
            </a:outerShdw>
          </a:effectLst>
        </p:spPr>
        <p:txBody>
          <a:bodyPr/>
          <a:lstStyle/>
          <a:p>
            <a:endParaRPr lang="fr-FR" sz="2400" dirty="0"/>
          </a:p>
        </p:txBody>
      </p:sp>
      <p:sp>
        <p:nvSpPr>
          <p:cNvPr id="13" name="Text 11"/>
          <p:cNvSpPr/>
          <p:nvPr/>
        </p:nvSpPr>
        <p:spPr>
          <a:xfrm>
            <a:off x="1034143" y="3716134"/>
            <a:ext cx="1443010" cy="332736"/>
          </a:xfrm>
          <a:prstGeom prst="rect">
            <a:avLst/>
          </a:prstGeom>
          <a:noFill/>
          <a:ln/>
        </p:spPr>
        <p:txBody>
          <a:bodyPr wrap="square" rtlCol="0" anchor="ctr"/>
          <a:lstStyle/>
          <a:p>
            <a:pPr algn="ctr"/>
            <a:r>
              <a:rPr lang="en-US" sz="1467" b="1" dirty="0">
                <a:solidFill>
                  <a:srgbClr val="1C2B5E"/>
                </a:solidFill>
              </a:rPr>
              <a:t>Embeddings</a:t>
            </a:r>
            <a:endParaRPr lang="en-US" sz="1467" dirty="0"/>
          </a:p>
        </p:txBody>
      </p:sp>
      <p:sp>
        <p:nvSpPr>
          <p:cNvPr id="14" name="Text 12"/>
          <p:cNvSpPr/>
          <p:nvPr/>
        </p:nvSpPr>
        <p:spPr>
          <a:xfrm>
            <a:off x="633984" y="3974379"/>
            <a:ext cx="2462784" cy="712576"/>
          </a:xfrm>
          <a:prstGeom prst="rect">
            <a:avLst/>
          </a:prstGeom>
          <a:noFill/>
          <a:ln/>
        </p:spPr>
        <p:txBody>
          <a:bodyPr wrap="square" rtlCol="0" anchor="t"/>
          <a:lstStyle/>
          <a:p>
            <a:r>
              <a:rPr lang="fr-FR" sz="1333" noProof="0" dirty="0">
                <a:solidFill>
                  <a:srgbClr val="4A5480"/>
                </a:solidFill>
              </a:rPr>
              <a:t>Chaque patch × matrice apprise. Ajout d’un </a:t>
            </a:r>
            <a:r>
              <a:rPr lang="fr-FR" sz="1333" noProof="0" dirty="0" err="1">
                <a:solidFill>
                  <a:srgbClr val="4A5480"/>
                </a:solidFill>
              </a:rPr>
              <a:t>embedding</a:t>
            </a:r>
            <a:r>
              <a:rPr lang="fr-FR" sz="1333" noProof="0" dirty="0">
                <a:solidFill>
                  <a:srgbClr val="4A5480"/>
                </a:solidFill>
              </a:rPr>
              <a:t> de position et d'un </a:t>
            </a:r>
            <a:r>
              <a:rPr lang="fr-FR" sz="1333" noProof="0" dirty="0" err="1">
                <a:solidFill>
                  <a:srgbClr val="4A5480"/>
                </a:solidFill>
              </a:rPr>
              <a:t>token</a:t>
            </a:r>
            <a:r>
              <a:rPr lang="fr-FR" sz="1333" noProof="0" dirty="0">
                <a:solidFill>
                  <a:srgbClr val="4A5480"/>
                </a:solidFill>
              </a:rPr>
              <a:t> [CLS</a:t>
            </a:r>
            <a:r>
              <a:rPr lang="en-US" sz="1333" dirty="0">
                <a:solidFill>
                  <a:srgbClr val="4A5480"/>
                </a:solidFill>
              </a:rPr>
              <a:t>].</a:t>
            </a:r>
            <a:endParaRPr lang="en-US" sz="1333" dirty="0"/>
          </a:p>
        </p:txBody>
      </p:sp>
      <p:sp>
        <p:nvSpPr>
          <p:cNvPr id="19" name="Text 17"/>
          <p:cNvSpPr/>
          <p:nvPr/>
        </p:nvSpPr>
        <p:spPr>
          <a:xfrm>
            <a:off x="922673" y="2262172"/>
            <a:ext cx="1609344" cy="268224"/>
          </a:xfrm>
          <a:prstGeom prst="rect">
            <a:avLst/>
          </a:prstGeom>
          <a:noFill/>
          <a:ln/>
        </p:spPr>
        <p:txBody>
          <a:bodyPr wrap="square" rtlCol="0" anchor="ctr"/>
          <a:lstStyle/>
          <a:p>
            <a:pPr algn="ctr"/>
            <a:r>
              <a:rPr lang="en-US" sz="1467" b="1" dirty="0">
                <a:solidFill>
                  <a:srgbClr val="1C2B5E"/>
                </a:solidFill>
              </a:rPr>
              <a:t>Encodeur</a:t>
            </a:r>
            <a:endParaRPr lang="en-US" sz="1467" dirty="0"/>
          </a:p>
        </p:txBody>
      </p:sp>
      <p:sp>
        <p:nvSpPr>
          <p:cNvPr id="20" name="Text 18"/>
          <p:cNvSpPr/>
          <p:nvPr/>
        </p:nvSpPr>
        <p:spPr>
          <a:xfrm>
            <a:off x="682752" y="2481740"/>
            <a:ext cx="2365248" cy="835392"/>
          </a:xfrm>
          <a:prstGeom prst="rect">
            <a:avLst/>
          </a:prstGeom>
          <a:noFill/>
          <a:ln/>
        </p:spPr>
        <p:txBody>
          <a:bodyPr wrap="square" rtlCol="0" anchor="t"/>
          <a:lstStyle/>
          <a:p>
            <a:r>
              <a:rPr lang="en-US" sz="1333" dirty="0">
                <a:solidFill>
                  <a:srgbClr val="4A5480"/>
                </a:solidFill>
              </a:rPr>
              <a:t>L blocs : Multi-Head Self-Attention + Feed-Forward + LayerNorm + connexions résiduelles.</a:t>
            </a:r>
            <a:endParaRPr lang="en-US" sz="1333" dirty="0"/>
          </a:p>
        </p:txBody>
      </p:sp>
      <p:sp>
        <p:nvSpPr>
          <p:cNvPr id="25" name="Text 23"/>
          <p:cNvSpPr/>
          <p:nvPr/>
        </p:nvSpPr>
        <p:spPr>
          <a:xfrm>
            <a:off x="524256" y="1173262"/>
            <a:ext cx="2406178" cy="272306"/>
          </a:xfrm>
          <a:prstGeom prst="rect">
            <a:avLst/>
          </a:prstGeom>
          <a:noFill/>
          <a:ln/>
        </p:spPr>
        <p:txBody>
          <a:bodyPr wrap="square" rtlCol="0" anchor="ctr"/>
          <a:lstStyle/>
          <a:p>
            <a:pPr algn="ctr"/>
            <a:r>
              <a:rPr lang="en-US" sz="1467" b="1" dirty="0">
                <a:solidFill>
                  <a:srgbClr val="1C2B5E"/>
                </a:solidFill>
              </a:rPr>
              <a:t>Tête de projection</a:t>
            </a:r>
            <a:endParaRPr lang="en-US" sz="1467" dirty="0"/>
          </a:p>
        </p:txBody>
      </p:sp>
      <p:sp>
        <p:nvSpPr>
          <p:cNvPr id="26" name="Text 24"/>
          <p:cNvSpPr/>
          <p:nvPr/>
        </p:nvSpPr>
        <p:spPr>
          <a:xfrm>
            <a:off x="621792" y="1401531"/>
            <a:ext cx="2365248" cy="487679"/>
          </a:xfrm>
          <a:prstGeom prst="rect">
            <a:avLst/>
          </a:prstGeom>
          <a:noFill/>
          <a:ln/>
        </p:spPr>
        <p:txBody>
          <a:bodyPr wrap="square" rtlCol="0" anchor="t"/>
          <a:lstStyle/>
          <a:p>
            <a:r>
              <a:rPr lang="en-US" sz="1333" dirty="0">
                <a:solidFill>
                  <a:srgbClr val="4A5480"/>
                </a:solidFill>
              </a:rPr>
              <a:t>Token [CLS] → MLP → softmax → classe prédite.</a:t>
            </a:r>
            <a:endParaRPr lang="en-US" sz="1333" dirty="0"/>
          </a:p>
        </p:txBody>
      </p:sp>
      <p:pic>
        <p:nvPicPr>
          <p:cNvPr id="38" name="Image 37">
            <a:extLst>
              <a:ext uri="{FF2B5EF4-FFF2-40B4-BE49-F238E27FC236}">
                <a16:creationId xmlns:a16="http://schemas.microsoft.com/office/drawing/2014/main" id="{93A14F71-04B7-07F1-E5B9-A3EDD6F511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5778" y="1243394"/>
            <a:ext cx="7453549" cy="3547999"/>
          </a:xfrm>
          <a:prstGeom prst="rect">
            <a:avLst/>
          </a:prstGeom>
        </p:spPr>
      </p:pic>
      <p:pic>
        <p:nvPicPr>
          <p:cNvPr id="40" name="Image 39">
            <a:extLst>
              <a:ext uri="{FF2B5EF4-FFF2-40B4-BE49-F238E27FC236}">
                <a16:creationId xmlns:a16="http://schemas.microsoft.com/office/drawing/2014/main" id="{FAA2EB97-78C2-A537-8F8A-33AFA3C4979A}"/>
              </a:ext>
            </a:extLst>
          </p:cNvPr>
          <p:cNvPicPr>
            <a:picLocks noChangeAspect="1"/>
          </p:cNvPicPr>
          <p:nvPr/>
        </p:nvPicPr>
        <p:blipFill>
          <a:blip r:embed="rId4"/>
          <a:stretch>
            <a:fillRect/>
          </a:stretch>
        </p:blipFill>
        <p:spPr>
          <a:xfrm>
            <a:off x="6282145" y="4939102"/>
            <a:ext cx="1639389" cy="887268"/>
          </a:xfrm>
          <a:prstGeom prst="rect">
            <a:avLst/>
          </a:prstGeom>
          <a:ln w="12700">
            <a:solidFill>
              <a:srgbClr val="C5D0EC"/>
            </a:solidFill>
          </a:ln>
          <a:effectLst>
            <a:outerShdw blurRad="63500" dist="25400" dir="8100000" algn="ctr" rotWithShape="0">
              <a:schemeClr val="tx1">
                <a:alpha val="9000"/>
              </a:scheme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C2B5E"/>
          </a:solidFill>
          <a:ln w="12700">
            <a:solidFill>
              <a:srgbClr val="1C2B5E"/>
            </a:solidFill>
            <a:prstDash val="solid"/>
          </a:ln>
        </p:spPr>
        <p:txBody>
          <a:bodyPr/>
          <a:lstStyle/>
          <a:p>
            <a:endParaRPr lang="fr-FR" sz="2400"/>
          </a:p>
        </p:txBody>
      </p:sp>
      <p:sp>
        <p:nvSpPr>
          <p:cNvPr id="3" name="Text 1"/>
          <p:cNvSpPr/>
          <p:nvPr/>
        </p:nvSpPr>
        <p:spPr>
          <a:xfrm>
            <a:off x="548640" y="0"/>
            <a:ext cx="10972800" cy="1036320"/>
          </a:xfrm>
          <a:prstGeom prst="rect">
            <a:avLst/>
          </a:prstGeom>
          <a:noFill/>
          <a:ln/>
        </p:spPr>
        <p:txBody>
          <a:bodyPr wrap="square" lIns="0" tIns="0" rIns="0" bIns="0" rtlCol="0" anchor="ctr"/>
          <a:lstStyle/>
          <a:p>
            <a:r>
              <a:rPr lang="en-US" sz="2933" b="1" dirty="0">
                <a:solidFill>
                  <a:srgbClr val="FFFFFF"/>
                </a:solidFill>
              </a:rPr>
              <a:t>RÉSEAUX DE NEURONES CONVOLUTIONNELS (CNN)</a:t>
            </a:r>
            <a:endParaRPr lang="en-US" sz="2933" dirty="0"/>
          </a:p>
        </p:txBody>
      </p:sp>
      <p:sp>
        <p:nvSpPr>
          <p:cNvPr id="4" name="Shape 2"/>
          <p:cNvSpPr/>
          <p:nvPr/>
        </p:nvSpPr>
        <p:spPr>
          <a:xfrm>
            <a:off x="426720" y="4615542"/>
            <a:ext cx="2560320" cy="1175657"/>
          </a:xfrm>
          <a:prstGeom prst="rect">
            <a:avLst/>
          </a:prstGeom>
          <a:solidFill>
            <a:srgbClr val="FFFFFF"/>
          </a:solidFill>
          <a:ln w="12700">
            <a:solidFill>
              <a:srgbClr val="C5D0EC"/>
            </a:solidFill>
            <a:prstDash val="solid"/>
          </a:ln>
          <a:effectLst>
            <a:outerShdw blurRad="63500" dist="25400" dir="8100000" algn="bl" rotWithShape="0">
              <a:srgbClr val="000000">
                <a:alpha val="9000"/>
              </a:srgbClr>
            </a:outerShdw>
          </a:effectLst>
        </p:spPr>
        <p:txBody>
          <a:bodyPr/>
          <a:lstStyle/>
          <a:p>
            <a:endParaRPr lang="fr-FR" sz="2400"/>
          </a:p>
        </p:txBody>
      </p:sp>
      <p:sp>
        <p:nvSpPr>
          <p:cNvPr id="6" name="Text 4"/>
          <p:cNvSpPr/>
          <p:nvPr/>
        </p:nvSpPr>
        <p:spPr>
          <a:xfrm>
            <a:off x="1304544" y="1341120"/>
            <a:ext cx="792480" cy="792480"/>
          </a:xfrm>
          <a:prstGeom prst="rect">
            <a:avLst/>
          </a:prstGeom>
          <a:noFill/>
          <a:ln/>
        </p:spPr>
        <p:txBody>
          <a:bodyPr wrap="square" lIns="0" tIns="0" rIns="0" bIns="0" rtlCol="0" anchor="ctr"/>
          <a:lstStyle/>
          <a:p>
            <a:pPr algn="ctr"/>
            <a:r>
              <a:rPr lang="en-US" sz="1867" b="1" dirty="0">
                <a:solidFill>
                  <a:srgbClr val="FFFFFF"/>
                </a:solidFill>
              </a:rPr>
              <a:t>1</a:t>
            </a:r>
            <a:endParaRPr lang="en-US" sz="1867" dirty="0"/>
          </a:p>
        </p:txBody>
      </p:sp>
      <p:sp>
        <p:nvSpPr>
          <p:cNvPr id="7" name="Text 5"/>
          <p:cNvSpPr/>
          <p:nvPr/>
        </p:nvSpPr>
        <p:spPr>
          <a:xfrm>
            <a:off x="943138" y="4615542"/>
            <a:ext cx="1515291" cy="313509"/>
          </a:xfrm>
          <a:prstGeom prst="rect">
            <a:avLst/>
          </a:prstGeom>
          <a:noFill/>
          <a:ln/>
        </p:spPr>
        <p:txBody>
          <a:bodyPr wrap="square" rtlCol="0" anchor="ctr"/>
          <a:lstStyle/>
          <a:p>
            <a:pPr algn="ctr"/>
            <a:r>
              <a:rPr lang="en-US" sz="1467" b="1" dirty="0">
                <a:solidFill>
                  <a:srgbClr val="1C2B5E"/>
                </a:solidFill>
              </a:rPr>
              <a:t>Convolution</a:t>
            </a:r>
            <a:endParaRPr lang="en-US" sz="1467" dirty="0"/>
          </a:p>
        </p:txBody>
      </p:sp>
      <p:sp>
        <p:nvSpPr>
          <p:cNvPr id="8" name="Text 6"/>
          <p:cNvSpPr/>
          <p:nvPr/>
        </p:nvSpPr>
        <p:spPr>
          <a:xfrm>
            <a:off x="518159" y="4929051"/>
            <a:ext cx="2365248" cy="792480"/>
          </a:xfrm>
          <a:prstGeom prst="rect">
            <a:avLst/>
          </a:prstGeom>
          <a:noFill/>
          <a:ln/>
        </p:spPr>
        <p:txBody>
          <a:bodyPr wrap="square" rtlCol="0" anchor="t"/>
          <a:lstStyle/>
          <a:p>
            <a:r>
              <a:rPr lang="en-US" sz="1333" dirty="0">
                <a:solidFill>
                  <a:srgbClr val="4A5480"/>
                </a:solidFill>
              </a:rPr>
              <a:t>Filtres locaux 3×3 parcourent l'image. Détection de motifs locaux (bords, textures).</a:t>
            </a:r>
            <a:endParaRPr lang="en-US" sz="1333" dirty="0"/>
          </a:p>
        </p:txBody>
      </p:sp>
      <p:sp>
        <p:nvSpPr>
          <p:cNvPr id="10" name="Shape 8"/>
          <p:cNvSpPr/>
          <p:nvPr/>
        </p:nvSpPr>
        <p:spPr>
          <a:xfrm>
            <a:off x="3291840" y="4615542"/>
            <a:ext cx="2560320" cy="1175658"/>
          </a:xfrm>
          <a:prstGeom prst="rect">
            <a:avLst/>
          </a:prstGeom>
          <a:solidFill>
            <a:srgbClr val="FFFFFF"/>
          </a:solidFill>
          <a:ln w="12700">
            <a:solidFill>
              <a:srgbClr val="C5D0EC"/>
            </a:solidFill>
            <a:prstDash val="solid"/>
          </a:ln>
          <a:effectLst>
            <a:outerShdw blurRad="63500" dist="25400" dir="8100000" algn="bl" rotWithShape="0">
              <a:srgbClr val="000000">
                <a:alpha val="9000"/>
              </a:srgbClr>
            </a:outerShdw>
          </a:effectLst>
        </p:spPr>
        <p:txBody>
          <a:bodyPr/>
          <a:lstStyle/>
          <a:p>
            <a:endParaRPr lang="fr-FR" sz="2400"/>
          </a:p>
        </p:txBody>
      </p:sp>
      <p:sp>
        <p:nvSpPr>
          <p:cNvPr id="12" name="Text 10"/>
          <p:cNvSpPr/>
          <p:nvPr/>
        </p:nvSpPr>
        <p:spPr>
          <a:xfrm>
            <a:off x="4169664" y="1341120"/>
            <a:ext cx="792480" cy="792480"/>
          </a:xfrm>
          <a:prstGeom prst="rect">
            <a:avLst/>
          </a:prstGeom>
          <a:noFill/>
          <a:ln/>
        </p:spPr>
        <p:txBody>
          <a:bodyPr wrap="square" lIns="0" tIns="0" rIns="0" bIns="0" rtlCol="0" anchor="ctr"/>
          <a:lstStyle/>
          <a:p>
            <a:pPr algn="ctr"/>
            <a:r>
              <a:rPr lang="en-US" sz="1867" b="1" dirty="0">
                <a:solidFill>
                  <a:srgbClr val="FFFFFF"/>
                </a:solidFill>
              </a:rPr>
              <a:t>2</a:t>
            </a:r>
            <a:endParaRPr lang="en-US" sz="1867" dirty="0"/>
          </a:p>
        </p:txBody>
      </p:sp>
      <p:sp>
        <p:nvSpPr>
          <p:cNvPr id="13" name="Text 11"/>
          <p:cNvSpPr/>
          <p:nvPr/>
        </p:nvSpPr>
        <p:spPr>
          <a:xfrm>
            <a:off x="3681984" y="4577224"/>
            <a:ext cx="1767840" cy="390144"/>
          </a:xfrm>
          <a:prstGeom prst="rect">
            <a:avLst/>
          </a:prstGeom>
          <a:noFill/>
          <a:ln/>
        </p:spPr>
        <p:txBody>
          <a:bodyPr wrap="square" rtlCol="0" anchor="ctr"/>
          <a:lstStyle/>
          <a:p>
            <a:pPr algn="ctr"/>
            <a:r>
              <a:rPr lang="en-US" sz="1467" b="1" dirty="0">
                <a:solidFill>
                  <a:srgbClr val="1C2B5E"/>
                </a:solidFill>
              </a:rPr>
              <a:t>Activation ReLU</a:t>
            </a:r>
            <a:endParaRPr lang="en-US" sz="1467" dirty="0"/>
          </a:p>
        </p:txBody>
      </p:sp>
      <p:sp>
        <p:nvSpPr>
          <p:cNvPr id="14" name="Text 12"/>
          <p:cNvSpPr/>
          <p:nvPr/>
        </p:nvSpPr>
        <p:spPr>
          <a:xfrm>
            <a:off x="3535679" y="4929051"/>
            <a:ext cx="2267712" cy="792480"/>
          </a:xfrm>
          <a:prstGeom prst="rect">
            <a:avLst/>
          </a:prstGeom>
          <a:noFill/>
          <a:ln/>
        </p:spPr>
        <p:txBody>
          <a:bodyPr wrap="square" rtlCol="0" anchor="t"/>
          <a:lstStyle/>
          <a:p>
            <a:r>
              <a:rPr lang="en-US" sz="1333" dirty="0">
                <a:solidFill>
                  <a:srgbClr val="4A5480"/>
                </a:solidFill>
              </a:rPr>
              <a:t>Non-linéarité appliquée élément par élément après chaque convolution.</a:t>
            </a:r>
            <a:endParaRPr lang="en-US" sz="1333" dirty="0"/>
          </a:p>
        </p:txBody>
      </p:sp>
      <p:sp>
        <p:nvSpPr>
          <p:cNvPr id="16" name="Shape 14"/>
          <p:cNvSpPr/>
          <p:nvPr/>
        </p:nvSpPr>
        <p:spPr>
          <a:xfrm>
            <a:off x="6156960" y="4615542"/>
            <a:ext cx="2560320" cy="1175658"/>
          </a:xfrm>
          <a:prstGeom prst="rect">
            <a:avLst/>
          </a:prstGeom>
          <a:solidFill>
            <a:srgbClr val="FFFFFF"/>
          </a:solidFill>
          <a:ln w="12700">
            <a:solidFill>
              <a:srgbClr val="C5D0EC"/>
            </a:solidFill>
            <a:prstDash val="solid"/>
          </a:ln>
          <a:effectLst>
            <a:outerShdw blurRad="63500" dist="25400" dir="8100000" algn="bl" rotWithShape="0">
              <a:srgbClr val="000000">
                <a:alpha val="9000"/>
              </a:srgbClr>
            </a:outerShdw>
          </a:effectLst>
        </p:spPr>
        <p:txBody>
          <a:bodyPr/>
          <a:lstStyle/>
          <a:p>
            <a:endParaRPr lang="fr-FR" sz="2400"/>
          </a:p>
        </p:txBody>
      </p:sp>
      <p:sp>
        <p:nvSpPr>
          <p:cNvPr id="18" name="Text 16"/>
          <p:cNvSpPr/>
          <p:nvPr/>
        </p:nvSpPr>
        <p:spPr>
          <a:xfrm>
            <a:off x="7034784" y="1341120"/>
            <a:ext cx="792480" cy="792480"/>
          </a:xfrm>
          <a:prstGeom prst="rect">
            <a:avLst/>
          </a:prstGeom>
          <a:noFill/>
          <a:ln/>
        </p:spPr>
        <p:txBody>
          <a:bodyPr wrap="square" lIns="0" tIns="0" rIns="0" bIns="0" rtlCol="0" anchor="ctr"/>
          <a:lstStyle/>
          <a:p>
            <a:pPr algn="ctr"/>
            <a:r>
              <a:rPr lang="en-US" sz="1867" b="1" dirty="0">
                <a:solidFill>
                  <a:srgbClr val="FFFFFF"/>
                </a:solidFill>
              </a:rPr>
              <a:t>3</a:t>
            </a:r>
            <a:endParaRPr lang="en-US" sz="1867" dirty="0"/>
          </a:p>
        </p:txBody>
      </p:sp>
      <p:sp>
        <p:nvSpPr>
          <p:cNvPr id="19" name="Text 17"/>
          <p:cNvSpPr/>
          <p:nvPr/>
        </p:nvSpPr>
        <p:spPr>
          <a:xfrm>
            <a:off x="6626352" y="4615542"/>
            <a:ext cx="1609344" cy="268224"/>
          </a:xfrm>
          <a:prstGeom prst="rect">
            <a:avLst/>
          </a:prstGeom>
          <a:noFill/>
          <a:ln/>
        </p:spPr>
        <p:txBody>
          <a:bodyPr wrap="square" rtlCol="0" anchor="ctr"/>
          <a:lstStyle/>
          <a:p>
            <a:pPr algn="ctr"/>
            <a:r>
              <a:rPr lang="en-US" sz="1467" b="1" dirty="0">
                <a:solidFill>
                  <a:srgbClr val="1C2B5E"/>
                </a:solidFill>
              </a:rPr>
              <a:t>Pooling</a:t>
            </a:r>
            <a:endParaRPr lang="en-US" sz="1467" dirty="0"/>
          </a:p>
        </p:txBody>
      </p:sp>
      <p:sp>
        <p:nvSpPr>
          <p:cNvPr id="20" name="Text 18"/>
          <p:cNvSpPr/>
          <p:nvPr/>
        </p:nvSpPr>
        <p:spPr>
          <a:xfrm>
            <a:off x="6547104" y="4882026"/>
            <a:ext cx="2365248" cy="970134"/>
          </a:xfrm>
          <a:prstGeom prst="rect">
            <a:avLst/>
          </a:prstGeom>
          <a:noFill/>
          <a:ln/>
        </p:spPr>
        <p:txBody>
          <a:bodyPr wrap="square" rtlCol="0" anchor="t"/>
          <a:lstStyle/>
          <a:p>
            <a:r>
              <a:rPr lang="en-US" sz="1333" dirty="0">
                <a:solidFill>
                  <a:srgbClr val="4A5480"/>
                </a:solidFill>
              </a:rPr>
              <a:t>Max-pooling : réduit la résolution, conserve l'info saillante. Invariance en translation.</a:t>
            </a:r>
            <a:endParaRPr lang="en-US" sz="1333" dirty="0"/>
          </a:p>
        </p:txBody>
      </p:sp>
      <p:sp>
        <p:nvSpPr>
          <p:cNvPr id="22" name="Shape 20"/>
          <p:cNvSpPr/>
          <p:nvPr/>
        </p:nvSpPr>
        <p:spPr>
          <a:xfrm>
            <a:off x="9022080" y="4615542"/>
            <a:ext cx="2560320" cy="1175658"/>
          </a:xfrm>
          <a:prstGeom prst="rect">
            <a:avLst/>
          </a:prstGeom>
          <a:solidFill>
            <a:srgbClr val="FFFFFF"/>
          </a:solidFill>
          <a:ln w="12700">
            <a:solidFill>
              <a:srgbClr val="C5D0EC"/>
            </a:solidFill>
            <a:prstDash val="solid"/>
          </a:ln>
          <a:effectLst>
            <a:outerShdw blurRad="63500" dist="25400" dir="8100000" algn="bl" rotWithShape="0">
              <a:srgbClr val="000000">
                <a:alpha val="9000"/>
              </a:srgbClr>
            </a:outerShdw>
          </a:effectLst>
        </p:spPr>
        <p:txBody>
          <a:bodyPr/>
          <a:lstStyle/>
          <a:p>
            <a:endParaRPr lang="fr-FR" sz="2400"/>
          </a:p>
        </p:txBody>
      </p:sp>
      <p:sp>
        <p:nvSpPr>
          <p:cNvPr id="24" name="Text 22"/>
          <p:cNvSpPr/>
          <p:nvPr/>
        </p:nvSpPr>
        <p:spPr>
          <a:xfrm>
            <a:off x="9899904" y="1341120"/>
            <a:ext cx="792480" cy="792480"/>
          </a:xfrm>
          <a:prstGeom prst="rect">
            <a:avLst/>
          </a:prstGeom>
          <a:noFill/>
          <a:ln/>
        </p:spPr>
        <p:txBody>
          <a:bodyPr wrap="square" lIns="0" tIns="0" rIns="0" bIns="0" rtlCol="0" anchor="ctr"/>
          <a:lstStyle/>
          <a:p>
            <a:pPr algn="ctr"/>
            <a:r>
              <a:rPr lang="en-US" sz="1867" b="1" dirty="0">
                <a:solidFill>
                  <a:srgbClr val="FFFFFF"/>
                </a:solidFill>
              </a:rPr>
              <a:t>4</a:t>
            </a:r>
            <a:endParaRPr lang="en-US" sz="1867" dirty="0"/>
          </a:p>
        </p:txBody>
      </p:sp>
      <p:sp>
        <p:nvSpPr>
          <p:cNvPr id="25" name="Text 23"/>
          <p:cNvSpPr/>
          <p:nvPr/>
        </p:nvSpPr>
        <p:spPr>
          <a:xfrm>
            <a:off x="9574421" y="4552840"/>
            <a:ext cx="1443446" cy="414528"/>
          </a:xfrm>
          <a:prstGeom prst="rect">
            <a:avLst/>
          </a:prstGeom>
          <a:noFill/>
          <a:ln/>
        </p:spPr>
        <p:txBody>
          <a:bodyPr wrap="square" rtlCol="0" anchor="ctr"/>
          <a:lstStyle/>
          <a:p>
            <a:pPr algn="ctr"/>
            <a:r>
              <a:rPr lang="en-US" sz="1467" b="1" dirty="0">
                <a:solidFill>
                  <a:srgbClr val="1C2B5E"/>
                </a:solidFill>
              </a:rPr>
              <a:t>Couches FC</a:t>
            </a:r>
            <a:endParaRPr lang="en-US" sz="1467" dirty="0"/>
          </a:p>
        </p:txBody>
      </p:sp>
      <p:sp>
        <p:nvSpPr>
          <p:cNvPr id="26" name="Text 24"/>
          <p:cNvSpPr/>
          <p:nvPr/>
        </p:nvSpPr>
        <p:spPr>
          <a:xfrm>
            <a:off x="9266355" y="4929051"/>
            <a:ext cx="2365248" cy="663593"/>
          </a:xfrm>
          <a:prstGeom prst="rect">
            <a:avLst/>
          </a:prstGeom>
          <a:noFill/>
          <a:ln/>
        </p:spPr>
        <p:txBody>
          <a:bodyPr wrap="square" rtlCol="0" anchor="t"/>
          <a:lstStyle/>
          <a:p>
            <a:r>
              <a:rPr lang="en-US" sz="1333" dirty="0">
                <a:solidFill>
                  <a:srgbClr val="4A5480"/>
                </a:solidFill>
              </a:rPr>
              <a:t>Cartes aplaties → MLP → softmax → distribution sur classes.</a:t>
            </a:r>
            <a:endParaRPr lang="en-US" sz="1333" dirty="0"/>
          </a:p>
        </p:txBody>
      </p:sp>
      <p:sp>
        <p:nvSpPr>
          <p:cNvPr id="27" name="Shape 25"/>
          <p:cNvSpPr/>
          <p:nvPr/>
        </p:nvSpPr>
        <p:spPr>
          <a:xfrm>
            <a:off x="426720" y="5974080"/>
            <a:ext cx="5242560" cy="670560"/>
          </a:xfrm>
          <a:prstGeom prst="rect">
            <a:avLst/>
          </a:prstGeom>
          <a:solidFill>
            <a:srgbClr val="C5D0EC">
              <a:alpha val="55000"/>
            </a:srgbClr>
          </a:solidFill>
          <a:ln w="10160">
            <a:solidFill>
              <a:srgbClr val="5B73B8"/>
            </a:solidFill>
            <a:prstDash val="solid"/>
          </a:ln>
        </p:spPr>
        <p:txBody>
          <a:bodyPr/>
          <a:lstStyle/>
          <a:p>
            <a:endParaRPr lang="fr-FR" sz="2400"/>
          </a:p>
        </p:txBody>
      </p:sp>
      <p:sp>
        <p:nvSpPr>
          <p:cNvPr id="28" name="Text 26"/>
          <p:cNvSpPr/>
          <p:nvPr/>
        </p:nvSpPr>
        <p:spPr>
          <a:xfrm>
            <a:off x="548640" y="5974080"/>
            <a:ext cx="5120640" cy="670560"/>
          </a:xfrm>
          <a:prstGeom prst="rect">
            <a:avLst/>
          </a:prstGeom>
          <a:noFill/>
          <a:ln/>
        </p:spPr>
        <p:txBody>
          <a:bodyPr wrap="square" rtlCol="0" anchor="ctr"/>
          <a:lstStyle/>
          <a:p>
            <a:r>
              <a:rPr lang="en-US" sz="1333" dirty="0">
                <a:solidFill>
                  <a:srgbClr val="1C2B5E"/>
                </a:solidFill>
              </a:rPr>
              <a:t>✔ Force : biais inductifs forts (localité, invariance), efficace sur peu de données</a:t>
            </a:r>
            <a:endParaRPr lang="en-US" sz="1333" dirty="0"/>
          </a:p>
        </p:txBody>
      </p:sp>
      <p:sp>
        <p:nvSpPr>
          <p:cNvPr id="29" name="Shape 27"/>
          <p:cNvSpPr/>
          <p:nvPr/>
        </p:nvSpPr>
        <p:spPr>
          <a:xfrm>
            <a:off x="6522720" y="5974080"/>
            <a:ext cx="5242560" cy="670560"/>
          </a:xfrm>
          <a:prstGeom prst="rect">
            <a:avLst/>
          </a:prstGeom>
          <a:solidFill>
            <a:srgbClr val="A89FD6">
              <a:alpha val="40000"/>
            </a:srgbClr>
          </a:solidFill>
          <a:ln w="10160">
            <a:solidFill>
              <a:srgbClr val="6B5EA8"/>
            </a:solidFill>
            <a:prstDash val="solid"/>
          </a:ln>
        </p:spPr>
        <p:txBody>
          <a:bodyPr/>
          <a:lstStyle/>
          <a:p>
            <a:endParaRPr lang="fr-FR" sz="2400"/>
          </a:p>
        </p:txBody>
      </p:sp>
      <p:sp>
        <p:nvSpPr>
          <p:cNvPr id="30" name="Text 28"/>
          <p:cNvSpPr/>
          <p:nvPr/>
        </p:nvSpPr>
        <p:spPr>
          <a:xfrm>
            <a:off x="6644640" y="5974080"/>
            <a:ext cx="5120640" cy="670560"/>
          </a:xfrm>
          <a:prstGeom prst="rect">
            <a:avLst/>
          </a:prstGeom>
          <a:noFill/>
          <a:ln/>
        </p:spPr>
        <p:txBody>
          <a:bodyPr wrap="square" rtlCol="0" anchor="ctr"/>
          <a:lstStyle/>
          <a:p>
            <a:r>
              <a:rPr lang="en-US" sz="1333" dirty="0">
                <a:solidFill>
                  <a:srgbClr val="1C2B5E"/>
                </a:solidFill>
              </a:rPr>
              <a:t>⚠ Limite : champ réceptif local → dépendances à longue distance indirectes</a:t>
            </a:r>
            <a:endParaRPr lang="en-US" sz="1333" dirty="0"/>
          </a:p>
        </p:txBody>
      </p:sp>
      <p:sp>
        <p:nvSpPr>
          <p:cNvPr id="31" name="Shape 29"/>
          <p:cNvSpPr/>
          <p:nvPr/>
        </p:nvSpPr>
        <p:spPr>
          <a:xfrm>
            <a:off x="5120640" y="6486144"/>
            <a:ext cx="1950720" cy="0"/>
          </a:xfrm>
          <a:prstGeom prst="line">
            <a:avLst/>
          </a:prstGeom>
          <a:noFill/>
          <a:ln w="25400">
            <a:solidFill>
              <a:srgbClr val="2E3F7F"/>
            </a:solidFill>
            <a:prstDash val="solid"/>
          </a:ln>
        </p:spPr>
        <p:txBody>
          <a:bodyPr/>
          <a:lstStyle/>
          <a:p>
            <a:endParaRPr lang="fr-FR" sz="2400"/>
          </a:p>
        </p:txBody>
      </p:sp>
      <p:sp>
        <p:nvSpPr>
          <p:cNvPr id="32" name="Text 30"/>
          <p:cNvSpPr/>
          <p:nvPr/>
        </p:nvSpPr>
        <p:spPr>
          <a:xfrm>
            <a:off x="6949440" y="6364224"/>
            <a:ext cx="304800" cy="243840"/>
          </a:xfrm>
          <a:prstGeom prst="rect">
            <a:avLst/>
          </a:prstGeom>
          <a:noFill/>
          <a:ln/>
        </p:spPr>
        <p:txBody>
          <a:bodyPr wrap="square" rtlCol="0" anchor="ctr"/>
          <a:lstStyle/>
          <a:p>
            <a:r>
              <a:rPr lang="en-US" sz="1067" dirty="0">
                <a:solidFill>
                  <a:srgbClr val="2E3F7F"/>
                </a:solidFill>
              </a:rPr>
              <a:t>▶</a:t>
            </a:r>
            <a:endParaRPr lang="en-US" sz="1067" dirty="0"/>
          </a:p>
        </p:txBody>
      </p:sp>
      <p:sp>
        <p:nvSpPr>
          <p:cNvPr id="33" name="Text 31"/>
          <p:cNvSpPr/>
          <p:nvPr/>
        </p:nvSpPr>
        <p:spPr>
          <a:xfrm>
            <a:off x="10728960" y="6400800"/>
            <a:ext cx="1219200" cy="365760"/>
          </a:xfrm>
          <a:prstGeom prst="rect">
            <a:avLst/>
          </a:prstGeom>
          <a:noFill/>
          <a:ln/>
        </p:spPr>
        <p:txBody>
          <a:bodyPr wrap="square" rtlCol="0" anchor="ctr"/>
          <a:lstStyle/>
          <a:p>
            <a:pPr algn="r"/>
            <a:r>
              <a:rPr lang="en-US" sz="1333" dirty="0">
                <a:solidFill>
                  <a:srgbClr val="4A5480"/>
                </a:solidFill>
              </a:rPr>
              <a:t>4/13</a:t>
            </a:r>
            <a:endParaRPr lang="en-US" sz="1333" dirty="0"/>
          </a:p>
        </p:txBody>
      </p:sp>
      <p:pic>
        <p:nvPicPr>
          <p:cNvPr id="35" name="Image 34">
            <a:extLst>
              <a:ext uri="{FF2B5EF4-FFF2-40B4-BE49-F238E27FC236}">
                <a16:creationId xmlns:a16="http://schemas.microsoft.com/office/drawing/2014/main" id="{B7FD8E12-DFAD-B5F2-C2E9-4F9328CBD8F2}"/>
              </a:ext>
            </a:extLst>
          </p:cNvPr>
          <p:cNvPicPr>
            <a:picLocks noChangeAspect="1"/>
          </p:cNvPicPr>
          <p:nvPr/>
        </p:nvPicPr>
        <p:blipFill>
          <a:blip r:embed="rId3"/>
          <a:stretch>
            <a:fillRect/>
          </a:stretch>
        </p:blipFill>
        <p:spPr>
          <a:xfrm>
            <a:off x="716428" y="1482718"/>
            <a:ext cx="6463390" cy="2911623"/>
          </a:xfrm>
          <a:prstGeom prst="rect">
            <a:avLst/>
          </a:prstGeom>
        </p:spPr>
      </p:pic>
      <p:pic>
        <p:nvPicPr>
          <p:cNvPr id="42" name="Image 41">
            <a:extLst>
              <a:ext uri="{FF2B5EF4-FFF2-40B4-BE49-F238E27FC236}">
                <a16:creationId xmlns:a16="http://schemas.microsoft.com/office/drawing/2014/main" id="{D34D9F9B-E5E9-3413-A652-C25507383444}"/>
              </a:ext>
            </a:extLst>
          </p:cNvPr>
          <p:cNvPicPr>
            <a:picLocks noChangeAspect="1"/>
          </p:cNvPicPr>
          <p:nvPr/>
        </p:nvPicPr>
        <p:blipFill>
          <a:blip r:embed="rId4"/>
          <a:stretch>
            <a:fillRect/>
          </a:stretch>
        </p:blipFill>
        <p:spPr>
          <a:xfrm>
            <a:off x="7423592" y="3072752"/>
            <a:ext cx="4165775" cy="572654"/>
          </a:xfrm>
          <a:prstGeom prst="rect">
            <a:avLst/>
          </a:prstGeom>
          <a:ln w="12700">
            <a:solidFill>
              <a:srgbClr val="C5D0EC"/>
            </a:solidFill>
          </a:ln>
          <a:effectLst>
            <a:outerShdw blurRad="63500" dist="25400" dir="8100000" algn="ctr" rotWithShape="0">
              <a:schemeClr val="tx1">
                <a:alpha val="9000"/>
              </a:scheme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C2B5E"/>
          </a:solidFill>
          <a:ln w="12700">
            <a:solidFill>
              <a:srgbClr val="1C2B5E"/>
            </a:solidFill>
            <a:prstDash val="solid"/>
          </a:ln>
        </p:spPr>
        <p:txBody>
          <a:bodyPr/>
          <a:lstStyle/>
          <a:p>
            <a:endParaRPr lang="fr-FR" sz="2400"/>
          </a:p>
        </p:txBody>
      </p:sp>
      <p:sp>
        <p:nvSpPr>
          <p:cNvPr id="3" name="Text 1"/>
          <p:cNvSpPr/>
          <p:nvPr/>
        </p:nvSpPr>
        <p:spPr>
          <a:xfrm>
            <a:off x="548640" y="0"/>
            <a:ext cx="10972800" cy="1036320"/>
          </a:xfrm>
          <a:prstGeom prst="rect">
            <a:avLst/>
          </a:prstGeom>
          <a:noFill/>
          <a:ln/>
        </p:spPr>
        <p:txBody>
          <a:bodyPr wrap="square" lIns="0" tIns="0" rIns="0" bIns="0" rtlCol="0" anchor="ctr"/>
          <a:lstStyle/>
          <a:p>
            <a:r>
              <a:rPr lang="en-US" sz="2933" b="1" dirty="0">
                <a:solidFill>
                  <a:srgbClr val="FFFFFF"/>
                </a:solidFill>
              </a:rPr>
              <a:t>PROTOCOLE EXPÉRIMENTAL</a:t>
            </a:r>
            <a:endParaRPr lang="en-US" sz="2933" dirty="0"/>
          </a:p>
        </p:txBody>
      </p:sp>
      <p:sp>
        <p:nvSpPr>
          <p:cNvPr id="4" name="Shape 2"/>
          <p:cNvSpPr/>
          <p:nvPr/>
        </p:nvSpPr>
        <p:spPr>
          <a:xfrm>
            <a:off x="365760" y="1341120"/>
            <a:ext cx="2560320" cy="548640"/>
          </a:xfrm>
          <a:prstGeom prst="rect">
            <a:avLst/>
          </a:prstGeom>
          <a:solidFill>
            <a:srgbClr val="2E3F7F"/>
          </a:solidFill>
          <a:ln w="12700">
            <a:solidFill>
              <a:srgbClr val="2E3F7F"/>
            </a:solidFill>
            <a:prstDash val="solid"/>
          </a:ln>
        </p:spPr>
        <p:txBody>
          <a:bodyPr/>
          <a:lstStyle/>
          <a:p>
            <a:endParaRPr lang="fr-FR" sz="2400"/>
          </a:p>
        </p:txBody>
      </p:sp>
      <p:sp>
        <p:nvSpPr>
          <p:cNvPr id="5" name="Text 3"/>
          <p:cNvSpPr/>
          <p:nvPr/>
        </p:nvSpPr>
        <p:spPr>
          <a:xfrm>
            <a:off x="365760" y="1341120"/>
            <a:ext cx="2560320" cy="548640"/>
          </a:xfrm>
          <a:prstGeom prst="rect">
            <a:avLst/>
          </a:prstGeom>
          <a:noFill/>
          <a:ln/>
        </p:spPr>
        <p:txBody>
          <a:bodyPr wrap="square" lIns="0" tIns="0" rIns="0" bIns="0" rtlCol="0" anchor="ctr"/>
          <a:lstStyle/>
          <a:p>
            <a:pPr algn="ctr"/>
            <a:r>
              <a:rPr lang="en-US" sz="1467" b="1" dirty="0">
                <a:solidFill>
                  <a:srgbClr val="FFFFFF"/>
                </a:solidFill>
              </a:rPr>
              <a:t>① Petit dataset</a:t>
            </a:r>
            <a:endParaRPr lang="en-US" sz="1467" dirty="0"/>
          </a:p>
        </p:txBody>
      </p:sp>
      <p:sp>
        <p:nvSpPr>
          <p:cNvPr id="6" name="Shape 4"/>
          <p:cNvSpPr/>
          <p:nvPr/>
        </p:nvSpPr>
        <p:spPr>
          <a:xfrm>
            <a:off x="3267456" y="1341120"/>
            <a:ext cx="2560320" cy="548640"/>
          </a:xfrm>
          <a:prstGeom prst="rect">
            <a:avLst/>
          </a:prstGeom>
          <a:solidFill>
            <a:srgbClr val="6B5EA8"/>
          </a:solidFill>
          <a:ln w="12700">
            <a:solidFill>
              <a:srgbClr val="6B5EA8"/>
            </a:solidFill>
            <a:prstDash val="solid"/>
          </a:ln>
        </p:spPr>
        <p:txBody>
          <a:bodyPr/>
          <a:lstStyle/>
          <a:p>
            <a:endParaRPr lang="fr-FR" sz="2400"/>
          </a:p>
        </p:txBody>
      </p:sp>
      <p:sp>
        <p:nvSpPr>
          <p:cNvPr id="7" name="Text 5"/>
          <p:cNvSpPr/>
          <p:nvPr/>
        </p:nvSpPr>
        <p:spPr>
          <a:xfrm>
            <a:off x="3267456" y="1341120"/>
            <a:ext cx="2560320" cy="548640"/>
          </a:xfrm>
          <a:prstGeom prst="rect">
            <a:avLst/>
          </a:prstGeom>
          <a:noFill/>
          <a:ln/>
        </p:spPr>
        <p:txBody>
          <a:bodyPr wrap="square" lIns="0" tIns="0" rIns="0" bIns="0" rtlCol="0" anchor="ctr"/>
          <a:lstStyle/>
          <a:p>
            <a:pPr algn="ctr"/>
            <a:r>
              <a:rPr lang="en-US" sz="1467" b="1" dirty="0">
                <a:solidFill>
                  <a:srgbClr val="FFFFFF"/>
                </a:solidFill>
              </a:rPr>
              <a:t>② Textures</a:t>
            </a:r>
            <a:endParaRPr lang="en-US" sz="1467" dirty="0"/>
          </a:p>
        </p:txBody>
      </p:sp>
      <p:sp>
        <p:nvSpPr>
          <p:cNvPr id="8" name="Shape 6"/>
          <p:cNvSpPr/>
          <p:nvPr/>
        </p:nvSpPr>
        <p:spPr>
          <a:xfrm>
            <a:off x="6169152" y="1341120"/>
            <a:ext cx="2560320" cy="548640"/>
          </a:xfrm>
          <a:prstGeom prst="rect">
            <a:avLst/>
          </a:prstGeom>
          <a:solidFill>
            <a:srgbClr val="5B73B8"/>
          </a:solidFill>
          <a:ln w="12700">
            <a:solidFill>
              <a:srgbClr val="5B73B8"/>
            </a:solidFill>
            <a:prstDash val="solid"/>
          </a:ln>
        </p:spPr>
        <p:txBody>
          <a:bodyPr/>
          <a:lstStyle/>
          <a:p>
            <a:endParaRPr lang="fr-FR" sz="2400"/>
          </a:p>
        </p:txBody>
      </p:sp>
      <p:sp>
        <p:nvSpPr>
          <p:cNvPr id="9" name="Text 7"/>
          <p:cNvSpPr/>
          <p:nvPr/>
        </p:nvSpPr>
        <p:spPr>
          <a:xfrm>
            <a:off x="6169152" y="1341120"/>
            <a:ext cx="2560320" cy="548640"/>
          </a:xfrm>
          <a:prstGeom prst="rect">
            <a:avLst/>
          </a:prstGeom>
          <a:noFill/>
          <a:ln/>
        </p:spPr>
        <p:txBody>
          <a:bodyPr wrap="square" lIns="0" tIns="0" rIns="0" bIns="0" rtlCol="0" anchor="ctr"/>
          <a:lstStyle/>
          <a:p>
            <a:pPr algn="ctr"/>
            <a:r>
              <a:rPr lang="en-US" sz="1467" b="1" dirty="0">
                <a:solidFill>
                  <a:srgbClr val="FFFFFF"/>
                </a:solidFill>
              </a:rPr>
              <a:t>③ Relations spatiales</a:t>
            </a:r>
            <a:endParaRPr lang="en-US" sz="1467" dirty="0"/>
          </a:p>
        </p:txBody>
      </p:sp>
      <p:sp>
        <p:nvSpPr>
          <p:cNvPr id="10" name="Shape 8"/>
          <p:cNvSpPr/>
          <p:nvPr/>
        </p:nvSpPr>
        <p:spPr>
          <a:xfrm>
            <a:off x="9070848" y="1341120"/>
            <a:ext cx="2560320" cy="548640"/>
          </a:xfrm>
          <a:prstGeom prst="rect">
            <a:avLst/>
          </a:prstGeom>
          <a:solidFill>
            <a:srgbClr val="4DB6AC"/>
          </a:solidFill>
          <a:ln w="12700">
            <a:solidFill>
              <a:srgbClr val="4DB6AC"/>
            </a:solidFill>
            <a:prstDash val="solid"/>
          </a:ln>
        </p:spPr>
        <p:txBody>
          <a:bodyPr/>
          <a:lstStyle/>
          <a:p>
            <a:endParaRPr lang="fr-FR" sz="2400"/>
          </a:p>
        </p:txBody>
      </p:sp>
      <p:sp>
        <p:nvSpPr>
          <p:cNvPr id="11" name="Text 9"/>
          <p:cNvSpPr/>
          <p:nvPr/>
        </p:nvSpPr>
        <p:spPr>
          <a:xfrm>
            <a:off x="9070848" y="1341120"/>
            <a:ext cx="2560320" cy="548640"/>
          </a:xfrm>
          <a:prstGeom prst="rect">
            <a:avLst/>
          </a:prstGeom>
          <a:noFill/>
          <a:ln/>
        </p:spPr>
        <p:txBody>
          <a:bodyPr wrap="square" lIns="0" tIns="0" rIns="0" bIns="0" rtlCol="0" anchor="ctr"/>
          <a:lstStyle/>
          <a:p>
            <a:pPr algn="ctr"/>
            <a:r>
              <a:rPr lang="en-US" sz="1467" b="1" dirty="0">
                <a:solidFill>
                  <a:srgbClr val="FFFFFF"/>
                </a:solidFill>
              </a:rPr>
              <a:t>④ Interactions globales</a:t>
            </a:r>
            <a:endParaRPr lang="en-US" sz="1467" dirty="0"/>
          </a:p>
        </p:txBody>
      </p:sp>
      <p:sp>
        <p:nvSpPr>
          <p:cNvPr id="12" name="Shape 10"/>
          <p:cNvSpPr/>
          <p:nvPr/>
        </p:nvSpPr>
        <p:spPr>
          <a:xfrm>
            <a:off x="365760" y="2072640"/>
            <a:ext cx="11460480" cy="3413760"/>
          </a:xfrm>
          <a:prstGeom prst="rect">
            <a:avLst/>
          </a:prstGeom>
          <a:solidFill>
            <a:srgbClr val="FFFFFF"/>
          </a:solidFill>
          <a:ln w="12700">
            <a:solidFill>
              <a:srgbClr val="C5D0EC"/>
            </a:solidFill>
            <a:prstDash val="solid"/>
          </a:ln>
          <a:effectLst>
            <a:outerShdw blurRad="63500" dist="25400" dir="8100000" algn="bl" rotWithShape="0">
              <a:srgbClr val="000000">
                <a:alpha val="8000"/>
              </a:srgbClr>
            </a:outerShdw>
          </a:effectLst>
        </p:spPr>
        <p:txBody>
          <a:bodyPr/>
          <a:lstStyle/>
          <a:p>
            <a:endParaRPr lang="fr-FR" sz="2400"/>
          </a:p>
        </p:txBody>
      </p:sp>
      <p:sp>
        <p:nvSpPr>
          <p:cNvPr id="13" name="Text 11"/>
          <p:cNvSpPr/>
          <p:nvPr/>
        </p:nvSpPr>
        <p:spPr>
          <a:xfrm>
            <a:off x="609600" y="2133600"/>
            <a:ext cx="6096000" cy="426720"/>
          </a:xfrm>
          <a:prstGeom prst="rect">
            <a:avLst/>
          </a:prstGeom>
          <a:noFill/>
          <a:ln/>
        </p:spPr>
        <p:txBody>
          <a:bodyPr wrap="square" rtlCol="0" anchor="ctr"/>
          <a:lstStyle/>
          <a:p>
            <a:r>
              <a:rPr lang="en-US" sz="1733" b="1" dirty="0">
                <a:solidFill>
                  <a:srgbClr val="6B5EA8"/>
                </a:solidFill>
              </a:rPr>
              <a:t>Conditions d'évaluation</a:t>
            </a:r>
            <a:endParaRPr lang="en-US" sz="1733" dirty="0"/>
          </a:p>
        </p:txBody>
      </p:sp>
      <p:sp>
        <p:nvSpPr>
          <p:cNvPr id="14" name="Text 12"/>
          <p:cNvSpPr/>
          <p:nvPr/>
        </p:nvSpPr>
        <p:spPr>
          <a:xfrm>
            <a:off x="609600" y="2621280"/>
            <a:ext cx="5364480" cy="2682240"/>
          </a:xfrm>
          <a:prstGeom prst="rect">
            <a:avLst/>
          </a:prstGeom>
          <a:noFill/>
          <a:ln/>
        </p:spPr>
        <p:txBody>
          <a:bodyPr wrap="square" rtlCol="0" anchor="t"/>
          <a:lstStyle/>
          <a:p>
            <a:r>
              <a:rPr lang="fr-FR" sz="1467" b="1" noProof="0" dirty="0">
                <a:solidFill>
                  <a:srgbClr val="1C2B5E"/>
                </a:solidFill>
              </a:rPr>
              <a:t>Séparation train / test</a:t>
            </a:r>
            <a:endParaRPr lang="fr-FR" sz="1467" noProof="0" dirty="0"/>
          </a:p>
          <a:p>
            <a:r>
              <a:rPr lang="fr-FR" sz="1467" noProof="0" dirty="0">
                <a:solidFill>
                  <a:srgbClr val="4A5480"/>
                </a:solidFill>
              </a:rPr>
              <a:t>Apprentissage sur un ensemble de training et suivi de l’</a:t>
            </a:r>
            <a:r>
              <a:rPr lang="fr-FR" sz="1467" noProof="0" dirty="0" err="1">
                <a:solidFill>
                  <a:srgbClr val="4A5480"/>
                </a:solidFill>
              </a:rPr>
              <a:t>accuracy</a:t>
            </a:r>
            <a:r>
              <a:rPr lang="fr-FR" sz="1467" noProof="0" dirty="0">
                <a:solidFill>
                  <a:srgbClr val="4A5480"/>
                </a:solidFill>
              </a:rPr>
              <a:t> sur un ensemble de test</a:t>
            </a:r>
            <a:endParaRPr lang="fr-FR" sz="1467" noProof="0" dirty="0"/>
          </a:p>
          <a:p>
            <a:r>
              <a:rPr lang="fr-FR" sz="1467" noProof="0" dirty="0">
                <a:solidFill>
                  <a:srgbClr val="000000"/>
                </a:solidFill>
              </a:rPr>
              <a:t> </a:t>
            </a:r>
            <a:endParaRPr lang="fr-FR" sz="1467" noProof="0" dirty="0"/>
          </a:p>
          <a:p>
            <a:r>
              <a:rPr lang="fr-FR" sz="1467" b="1" noProof="0" dirty="0">
                <a:solidFill>
                  <a:srgbClr val="1C2B5E"/>
                </a:solidFill>
              </a:rPr>
              <a:t>Prévention des biais</a:t>
            </a:r>
            <a:endParaRPr lang="fr-FR" sz="1467" noProof="0" dirty="0"/>
          </a:p>
          <a:p>
            <a:r>
              <a:rPr lang="fr-FR" sz="1467" noProof="0" dirty="0">
                <a:solidFill>
                  <a:srgbClr val="4A5480"/>
                </a:solidFill>
              </a:rPr>
              <a:t>Normalisation et entraînement réalisés uniquement sur l'ensemble d'apprentissage</a:t>
            </a:r>
            <a:endParaRPr lang="fr-FR" sz="1467" noProof="0" dirty="0"/>
          </a:p>
          <a:p>
            <a:r>
              <a:rPr lang="fr-FR" sz="1467" noProof="0" dirty="0">
                <a:solidFill>
                  <a:srgbClr val="000000"/>
                </a:solidFill>
              </a:rPr>
              <a:t> </a:t>
            </a:r>
            <a:endParaRPr lang="fr-FR" sz="1467" noProof="0" dirty="0"/>
          </a:p>
          <a:p>
            <a:r>
              <a:rPr lang="fr-FR" sz="1467" b="1" noProof="0" dirty="0">
                <a:solidFill>
                  <a:srgbClr val="1C2B5E"/>
                </a:solidFill>
              </a:rPr>
              <a:t>Métriques</a:t>
            </a:r>
            <a:endParaRPr lang="fr-FR" sz="1467" noProof="0" dirty="0"/>
          </a:p>
          <a:p>
            <a:r>
              <a:rPr lang="fr-FR" sz="1467" noProof="0" dirty="0" err="1">
                <a:solidFill>
                  <a:srgbClr val="4A5480"/>
                </a:solidFill>
              </a:rPr>
              <a:t>Accuracy</a:t>
            </a:r>
            <a:r>
              <a:rPr lang="fr-FR" sz="1467" noProof="0" dirty="0">
                <a:solidFill>
                  <a:srgbClr val="4A5480"/>
                </a:solidFill>
              </a:rPr>
              <a:t> (train &amp; test), </a:t>
            </a:r>
            <a:r>
              <a:rPr lang="fr-FR" sz="1467" noProof="0" dirty="0" err="1">
                <a:solidFill>
                  <a:srgbClr val="4A5480"/>
                </a:solidFill>
              </a:rPr>
              <a:t>Loss</a:t>
            </a:r>
            <a:r>
              <a:rPr lang="fr-FR" sz="1467" noProof="0" dirty="0">
                <a:solidFill>
                  <a:srgbClr val="4A5480"/>
                </a:solidFill>
              </a:rPr>
              <a:t>, Temps d'entraînement</a:t>
            </a:r>
            <a:endParaRPr lang="fr-FR" sz="1467" noProof="0" dirty="0"/>
          </a:p>
        </p:txBody>
      </p:sp>
      <p:sp>
        <p:nvSpPr>
          <p:cNvPr id="15" name="Text 13"/>
          <p:cNvSpPr/>
          <p:nvPr/>
        </p:nvSpPr>
        <p:spPr>
          <a:xfrm>
            <a:off x="6339840" y="2133600"/>
            <a:ext cx="5242560" cy="426720"/>
          </a:xfrm>
          <a:prstGeom prst="rect">
            <a:avLst/>
          </a:prstGeom>
          <a:noFill/>
          <a:ln/>
        </p:spPr>
        <p:txBody>
          <a:bodyPr wrap="square" rtlCol="0" anchor="ctr"/>
          <a:lstStyle/>
          <a:p>
            <a:r>
              <a:rPr lang="en-US" sz="1733" b="1" dirty="0">
                <a:solidFill>
                  <a:srgbClr val="5B73B8"/>
                </a:solidFill>
              </a:rPr>
              <a:t>Architectures testées</a:t>
            </a:r>
            <a:endParaRPr lang="en-US" sz="1733" dirty="0"/>
          </a:p>
        </p:txBody>
      </p:sp>
      <p:sp>
        <p:nvSpPr>
          <p:cNvPr id="16" name="Text 14"/>
          <p:cNvSpPr/>
          <p:nvPr/>
        </p:nvSpPr>
        <p:spPr>
          <a:xfrm>
            <a:off x="6339840" y="2682240"/>
            <a:ext cx="1706880" cy="487680"/>
          </a:xfrm>
          <a:prstGeom prst="rect">
            <a:avLst/>
          </a:prstGeom>
          <a:noFill/>
          <a:ln/>
        </p:spPr>
        <p:txBody>
          <a:bodyPr wrap="square" rtlCol="0" anchor="ctr"/>
          <a:lstStyle/>
          <a:p>
            <a:r>
              <a:rPr lang="en-US" sz="1333" b="1" dirty="0">
                <a:solidFill>
                  <a:srgbClr val="1C2B5E"/>
                </a:solidFill>
              </a:rPr>
              <a:t>CNN</a:t>
            </a:r>
            <a:endParaRPr lang="en-US" sz="1333" dirty="0"/>
          </a:p>
        </p:txBody>
      </p:sp>
      <p:sp>
        <p:nvSpPr>
          <p:cNvPr id="17" name="Text 15"/>
          <p:cNvSpPr/>
          <p:nvPr/>
        </p:nvSpPr>
        <p:spPr>
          <a:xfrm>
            <a:off x="8046720" y="2682240"/>
            <a:ext cx="3535680" cy="487680"/>
          </a:xfrm>
          <a:prstGeom prst="rect">
            <a:avLst/>
          </a:prstGeom>
          <a:noFill/>
          <a:ln/>
        </p:spPr>
        <p:txBody>
          <a:bodyPr wrap="square" rtlCol="0" anchor="ctr"/>
          <a:lstStyle/>
          <a:p>
            <a:r>
              <a:rPr lang="en-US" sz="1333" dirty="0">
                <a:solidFill>
                  <a:srgbClr val="4A5480"/>
                </a:solidFill>
              </a:rPr>
              <a:t>VGGNet-inspired : 4 blocs convolutifs, BatchNorm, MaxPooling, Dropout</a:t>
            </a:r>
            <a:endParaRPr lang="en-US" sz="1333" dirty="0"/>
          </a:p>
        </p:txBody>
      </p:sp>
      <p:sp>
        <p:nvSpPr>
          <p:cNvPr id="18" name="Text 16"/>
          <p:cNvSpPr/>
          <p:nvPr/>
        </p:nvSpPr>
        <p:spPr>
          <a:xfrm>
            <a:off x="6339840" y="3255264"/>
            <a:ext cx="1706880" cy="487680"/>
          </a:xfrm>
          <a:prstGeom prst="rect">
            <a:avLst/>
          </a:prstGeom>
          <a:noFill/>
          <a:ln/>
        </p:spPr>
        <p:txBody>
          <a:bodyPr wrap="square" rtlCol="0" anchor="ctr"/>
          <a:lstStyle/>
          <a:p>
            <a:r>
              <a:rPr lang="en-US" sz="1333" b="1" dirty="0">
                <a:solidFill>
                  <a:srgbClr val="1C2B5E"/>
                </a:solidFill>
              </a:rPr>
              <a:t>ViT Tiny</a:t>
            </a:r>
            <a:endParaRPr lang="en-US" sz="1333" dirty="0"/>
          </a:p>
        </p:txBody>
      </p:sp>
      <p:sp>
        <p:nvSpPr>
          <p:cNvPr id="19" name="Text 17"/>
          <p:cNvSpPr/>
          <p:nvPr/>
        </p:nvSpPr>
        <p:spPr>
          <a:xfrm>
            <a:off x="8046720" y="3255264"/>
            <a:ext cx="3535680" cy="487680"/>
          </a:xfrm>
          <a:prstGeom prst="rect">
            <a:avLst/>
          </a:prstGeom>
          <a:noFill/>
          <a:ln/>
        </p:spPr>
        <p:txBody>
          <a:bodyPr wrap="square" rtlCol="0" anchor="ctr"/>
          <a:lstStyle/>
          <a:p>
            <a:r>
              <a:rPr lang="en-US" sz="1333" dirty="0">
                <a:solidFill>
                  <a:srgbClr val="4A5480"/>
                </a:solidFill>
              </a:rPr>
              <a:t>ViT-Base simplifié (Wu 2025) : 9 blocs, 12 têtes, patchs 4×4</a:t>
            </a:r>
            <a:endParaRPr lang="en-US" sz="1333" dirty="0"/>
          </a:p>
        </p:txBody>
      </p:sp>
      <p:sp>
        <p:nvSpPr>
          <p:cNvPr id="20" name="Text 18"/>
          <p:cNvSpPr/>
          <p:nvPr/>
        </p:nvSpPr>
        <p:spPr>
          <a:xfrm>
            <a:off x="6339840" y="3828288"/>
            <a:ext cx="1706880" cy="487680"/>
          </a:xfrm>
          <a:prstGeom prst="rect">
            <a:avLst/>
          </a:prstGeom>
          <a:noFill/>
          <a:ln/>
        </p:spPr>
        <p:txBody>
          <a:bodyPr wrap="square" rtlCol="0" anchor="ctr"/>
          <a:lstStyle/>
          <a:p>
            <a:r>
              <a:rPr lang="en-US" sz="1333" b="1" dirty="0">
                <a:solidFill>
                  <a:srgbClr val="1C2B5E"/>
                </a:solidFill>
              </a:rPr>
              <a:t>MobileNetV3</a:t>
            </a:r>
            <a:endParaRPr lang="en-US" sz="1333" dirty="0"/>
          </a:p>
        </p:txBody>
      </p:sp>
      <p:sp>
        <p:nvSpPr>
          <p:cNvPr id="21" name="Text 19"/>
          <p:cNvSpPr/>
          <p:nvPr/>
        </p:nvSpPr>
        <p:spPr>
          <a:xfrm>
            <a:off x="8046720" y="3828288"/>
            <a:ext cx="3535680" cy="487680"/>
          </a:xfrm>
          <a:prstGeom prst="rect">
            <a:avLst/>
          </a:prstGeom>
          <a:noFill/>
          <a:ln/>
        </p:spPr>
        <p:txBody>
          <a:bodyPr wrap="square" rtlCol="0" anchor="ctr"/>
          <a:lstStyle/>
          <a:p>
            <a:r>
              <a:rPr lang="en-US" sz="1333" dirty="0">
                <a:solidFill>
                  <a:srgbClr val="4A5480"/>
                </a:solidFill>
              </a:rPr>
              <a:t>CNN léger pré-entraîné (fine-tuning tête)</a:t>
            </a:r>
            <a:endParaRPr lang="en-US" sz="1333" dirty="0"/>
          </a:p>
        </p:txBody>
      </p:sp>
      <p:sp>
        <p:nvSpPr>
          <p:cNvPr id="22" name="Text 20"/>
          <p:cNvSpPr/>
          <p:nvPr/>
        </p:nvSpPr>
        <p:spPr>
          <a:xfrm>
            <a:off x="6339840" y="4401312"/>
            <a:ext cx="1706880" cy="487680"/>
          </a:xfrm>
          <a:prstGeom prst="rect">
            <a:avLst/>
          </a:prstGeom>
          <a:noFill/>
          <a:ln/>
        </p:spPr>
        <p:txBody>
          <a:bodyPr wrap="square" rtlCol="0" anchor="ctr"/>
          <a:lstStyle/>
          <a:p>
            <a:r>
              <a:rPr lang="en-US" sz="1333" b="1" dirty="0">
                <a:solidFill>
                  <a:srgbClr val="1C2B5E"/>
                </a:solidFill>
              </a:rPr>
              <a:t>Tiny ViT-16</a:t>
            </a:r>
            <a:endParaRPr lang="en-US" sz="1333" dirty="0"/>
          </a:p>
        </p:txBody>
      </p:sp>
      <p:sp>
        <p:nvSpPr>
          <p:cNvPr id="23" name="Text 21"/>
          <p:cNvSpPr/>
          <p:nvPr/>
        </p:nvSpPr>
        <p:spPr>
          <a:xfrm>
            <a:off x="8046720" y="4401312"/>
            <a:ext cx="3535680" cy="487680"/>
          </a:xfrm>
          <a:prstGeom prst="rect">
            <a:avLst/>
          </a:prstGeom>
          <a:noFill/>
          <a:ln/>
        </p:spPr>
        <p:txBody>
          <a:bodyPr wrap="square" rtlCol="0" anchor="ctr"/>
          <a:lstStyle/>
          <a:p>
            <a:r>
              <a:rPr lang="en-US" sz="1333" dirty="0">
                <a:solidFill>
                  <a:srgbClr val="4A5480"/>
                </a:solidFill>
              </a:rPr>
              <a:t>ViT pré-entraîné timm (fine-tuning 2 blocs + tête)</a:t>
            </a:r>
            <a:endParaRPr lang="en-US" sz="1333" dirty="0"/>
          </a:p>
        </p:txBody>
      </p:sp>
      <p:sp>
        <p:nvSpPr>
          <p:cNvPr id="24" name="Shape 22"/>
          <p:cNvSpPr/>
          <p:nvPr/>
        </p:nvSpPr>
        <p:spPr>
          <a:xfrm>
            <a:off x="5120640" y="6486144"/>
            <a:ext cx="1950720" cy="0"/>
          </a:xfrm>
          <a:prstGeom prst="line">
            <a:avLst/>
          </a:prstGeom>
          <a:noFill/>
          <a:ln w="25400">
            <a:solidFill>
              <a:srgbClr val="2E3F7F"/>
            </a:solidFill>
            <a:prstDash val="solid"/>
          </a:ln>
        </p:spPr>
        <p:txBody>
          <a:bodyPr/>
          <a:lstStyle/>
          <a:p>
            <a:endParaRPr lang="fr-FR" sz="2400"/>
          </a:p>
        </p:txBody>
      </p:sp>
      <p:sp>
        <p:nvSpPr>
          <p:cNvPr id="25" name="Text 23"/>
          <p:cNvSpPr/>
          <p:nvPr/>
        </p:nvSpPr>
        <p:spPr>
          <a:xfrm>
            <a:off x="6949440" y="6364224"/>
            <a:ext cx="304800" cy="243840"/>
          </a:xfrm>
          <a:prstGeom prst="rect">
            <a:avLst/>
          </a:prstGeom>
          <a:noFill/>
          <a:ln/>
        </p:spPr>
        <p:txBody>
          <a:bodyPr wrap="square" rtlCol="0" anchor="ctr"/>
          <a:lstStyle/>
          <a:p>
            <a:r>
              <a:rPr lang="en-US" sz="1067" dirty="0">
                <a:solidFill>
                  <a:srgbClr val="2E3F7F"/>
                </a:solidFill>
              </a:rPr>
              <a:t>▶</a:t>
            </a:r>
            <a:endParaRPr lang="en-US" sz="1067" dirty="0"/>
          </a:p>
        </p:txBody>
      </p:sp>
      <p:sp>
        <p:nvSpPr>
          <p:cNvPr id="26" name="Text 24"/>
          <p:cNvSpPr/>
          <p:nvPr/>
        </p:nvSpPr>
        <p:spPr>
          <a:xfrm>
            <a:off x="10728960" y="6400800"/>
            <a:ext cx="1219200" cy="365760"/>
          </a:xfrm>
          <a:prstGeom prst="rect">
            <a:avLst/>
          </a:prstGeom>
          <a:noFill/>
          <a:ln/>
        </p:spPr>
        <p:txBody>
          <a:bodyPr wrap="square" rtlCol="0" anchor="ctr"/>
          <a:lstStyle/>
          <a:p>
            <a:pPr algn="r"/>
            <a:r>
              <a:rPr lang="en-US" sz="1333" dirty="0">
                <a:solidFill>
                  <a:srgbClr val="4A5480"/>
                </a:solidFill>
              </a:rPr>
              <a:t>5/13</a:t>
            </a:r>
            <a:endParaRPr lang="en-US" sz="1333"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C2B5E"/>
          </a:solidFill>
          <a:ln w="12700">
            <a:solidFill>
              <a:srgbClr val="1C2B5E"/>
            </a:solidFill>
            <a:prstDash val="solid"/>
          </a:ln>
        </p:spPr>
        <p:txBody>
          <a:bodyPr/>
          <a:lstStyle/>
          <a:p>
            <a:endParaRPr lang="fr-FR" sz="2400"/>
          </a:p>
        </p:txBody>
      </p:sp>
      <p:sp>
        <p:nvSpPr>
          <p:cNvPr id="3" name="Text 1"/>
          <p:cNvSpPr/>
          <p:nvPr/>
        </p:nvSpPr>
        <p:spPr>
          <a:xfrm>
            <a:off x="548640" y="0"/>
            <a:ext cx="10972800" cy="1036320"/>
          </a:xfrm>
          <a:prstGeom prst="rect">
            <a:avLst/>
          </a:prstGeom>
          <a:noFill/>
          <a:ln/>
        </p:spPr>
        <p:txBody>
          <a:bodyPr wrap="square" lIns="0" tIns="0" rIns="0" bIns="0" rtlCol="0" anchor="ctr"/>
          <a:lstStyle/>
          <a:p>
            <a:r>
              <a:rPr lang="en-US" sz="2933" b="1" dirty="0">
                <a:solidFill>
                  <a:srgbClr val="FFFFFF"/>
                </a:solidFill>
              </a:rPr>
              <a:t>DATASET ① — PETIT DATASET (CIFAR-10)</a:t>
            </a:r>
            <a:endParaRPr lang="en-US" sz="2933" dirty="0"/>
          </a:p>
        </p:txBody>
      </p:sp>
      <p:sp>
        <p:nvSpPr>
          <p:cNvPr id="4" name="Shape 2"/>
          <p:cNvSpPr/>
          <p:nvPr/>
        </p:nvSpPr>
        <p:spPr>
          <a:xfrm>
            <a:off x="365760" y="1219200"/>
            <a:ext cx="3901440" cy="463296"/>
          </a:xfrm>
          <a:prstGeom prst="rect">
            <a:avLst/>
          </a:prstGeom>
          <a:solidFill>
            <a:srgbClr val="2E3F7F"/>
          </a:solidFill>
          <a:ln w="12700">
            <a:solidFill>
              <a:srgbClr val="2E3F7F"/>
            </a:solidFill>
            <a:prstDash val="solid"/>
          </a:ln>
        </p:spPr>
        <p:txBody>
          <a:bodyPr/>
          <a:lstStyle/>
          <a:p>
            <a:endParaRPr lang="fr-FR" sz="2400"/>
          </a:p>
        </p:txBody>
      </p:sp>
      <p:sp>
        <p:nvSpPr>
          <p:cNvPr id="5" name="Text 3"/>
          <p:cNvSpPr/>
          <p:nvPr/>
        </p:nvSpPr>
        <p:spPr>
          <a:xfrm>
            <a:off x="365760" y="1219200"/>
            <a:ext cx="3901440" cy="463296"/>
          </a:xfrm>
          <a:prstGeom prst="rect">
            <a:avLst/>
          </a:prstGeom>
          <a:noFill/>
          <a:ln/>
        </p:spPr>
        <p:txBody>
          <a:bodyPr wrap="square" lIns="0" tIns="0" rIns="0" bIns="0" rtlCol="0" anchor="ctr"/>
          <a:lstStyle/>
          <a:p>
            <a:pPr algn="ctr"/>
            <a:r>
              <a:rPr lang="en-US" sz="1333" b="1" dirty="0">
                <a:solidFill>
                  <a:srgbClr val="FFFFFF"/>
                </a:solidFill>
              </a:rPr>
              <a:t>Hypothèse : CNN &gt; ViT avec peu de données</a:t>
            </a:r>
            <a:endParaRPr lang="en-US" sz="1333" dirty="0"/>
          </a:p>
        </p:txBody>
      </p:sp>
      <p:sp>
        <p:nvSpPr>
          <p:cNvPr id="6" name="Text 4"/>
          <p:cNvSpPr/>
          <p:nvPr/>
        </p:nvSpPr>
        <p:spPr>
          <a:xfrm>
            <a:off x="365760" y="1804416"/>
            <a:ext cx="5242560" cy="4632960"/>
          </a:xfrm>
          <a:prstGeom prst="rect">
            <a:avLst/>
          </a:prstGeom>
          <a:noFill/>
          <a:ln/>
        </p:spPr>
        <p:txBody>
          <a:bodyPr wrap="square" rtlCol="0" anchor="t"/>
          <a:lstStyle/>
          <a:p>
            <a:r>
              <a:rPr lang="en-US" sz="1467" b="1" dirty="0">
                <a:solidFill>
                  <a:srgbClr val="1A1A2E"/>
                </a:solidFill>
              </a:rPr>
              <a:t>Dataset CIFAR-10 :</a:t>
            </a:r>
            <a:endParaRPr lang="en-US" sz="1467" dirty="0"/>
          </a:p>
          <a:p>
            <a:r>
              <a:rPr lang="en-US" sz="1467" dirty="0">
                <a:solidFill>
                  <a:srgbClr val="1A1A2E"/>
                </a:solidFill>
              </a:rPr>
              <a:t>60 000 images 32×32 RGB, 10 classes</a:t>
            </a:r>
            <a:endParaRPr lang="en-US" sz="1467" dirty="0"/>
          </a:p>
          <a:p>
            <a:r>
              <a:rPr lang="en-US" sz="1467" dirty="0">
                <a:solidFill>
                  <a:srgbClr val="1A1A2E"/>
                </a:solidFill>
              </a:rPr>
              <a:t> </a:t>
            </a:r>
            <a:endParaRPr lang="en-US" sz="1467" dirty="0"/>
          </a:p>
          <a:p>
            <a:r>
              <a:rPr lang="en-US" sz="1467" b="1" dirty="0">
                <a:solidFill>
                  <a:srgbClr val="1A1A2E"/>
                </a:solidFill>
              </a:rPr>
              <a:t>Protocole :</a:t>
            </a:r>
            <a:endParaRPr lang="en-US" sz="1467" dirty="0"/>
          </a:p>
          <a:p>
            <a:r>
              <a:rPr lang="en-US" sz="1467" dirty="0">
                <a:solidFill>
                  <a:srgbClr val="1A1A2E"/>
                </a:solidFill>
              </a:rPr>
              <a:t>Taille du training set variée : 100, 1 000, 5 000, 10 000, 25 000, 50 000</a:t>
            </a:r>
            <a:endParaRPr lang="en-US" sz="1467" dirty="0"/>
          </a:p>
          <a:p>
            <a:r>
              <a:rPr lang="en-US" sz="1467" dirty="0">
                <a:solidFill>
                  <a:srgbClr val="1A1A2E"/>
                </a:solidFill>
              </a:rPr>
              <a:t>Test set complet conservé (10 000 images)</a:t>
            </a:r>
            <a:endParaRPr lang="en-US" sz="1467" dirty="0"/>
          </a:p>
          <a:p>
            <a:r>
              <a:rPr lang="en-US" sz="1467" dirty="0">
                <a:solidFill>
                  <a:srgbClr val="1A1A2E"/>
                </a:solidFill>
              </a:rPr>
              <a:t> </a:t>
            </a:r>
            <a:endParaRPr lang="en-US" sz="1467" dirty="0"/>
          </a:p>
          <a:p>
            <a:r>
              <a:rPr lang="en-US" sz="1467" b="1" dirty="0">
                <a:solidFill>
                  <a:srgbClr val="1A1A2E"/>
                </a:solidFill>
              </a:rPr>
              <a:t>Résultat :</a:t>
            </a:r>
            <a:endParaRPr lang="en-US" sz="1467" dirty="0"/>
          </a:p>
          <a:p>
            <a:r>
              <a:rPr lang="en-US" sz="1467" dirty="0">
                <a:solidFill>
                  <a:srgbClr val="1A1A2E"/>
                </a:solidFill>
              </a:rPr>
              <a:t>Écart CNN / ViT de 10 à 20% sur le set de test</a:t>
            </a:r>
            <a:endParaRPr lang="en-US" sz="1467" dirty="0"/>
          </a:p>
          <a:p>
            <a:r>
              <a:rPr lang="en-US" sz="1467" dirty="0">
                <a:solidFill>
                  <a:srgbClr val="1A1A2E"/>
                </a:solidFill>
              </a:rPr>
              <a:t>ViT → sur-apprentissage marqué (train ~100 % vs test faible)</a:t>
            </a:r>
            <a:endParaRPr lang="en-US" sz="1467" dirty="0"/>
          </a:p>
        </p:txBody>
      </p:sp>
      <p:graphicFrame>
        <p:nvGraphicFramePr>
          <p:cNvPr id="7" name="Chart 0"/>
          <p:cNvGraphicFramePr/>
          <p:nvPr/>
        </p:nvGraphicFramePr>
        <p:xfrm>
          <a:off x="5913120" y="1194816"/>
          <a:ext cx="5974080" cy="463296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5120640" y="6486144"/>
            <a:ext cx="1950720" cy="0"/>
          </a:xfrm>
          <a:prstGeom prst="line">
            <a:avLst/>
          </a:prstGeom>
          <a:noFill/>
          <a:ln w="25400">
            <a:solidFill>
              <a:srgbClr val="2E3F7F"/>
            </a:solidFill>
            <a:prstDash val="solid"/>
          </a:ln>
        </p:spPr>
        <p:txBody>
          <a:bodyPr/>
          <a:lstStyle/>
          <a:p>
            <a:endParaRPr lang="fr-FR" sz="2400"/>
          </a:p>
        </p:txBody>
      </p:sp>
      <p:sp>
        <p:nvSpPr>
          <p:cNvPr id="9" name="Text 6"/>
          <p:cNvSpPr/>
          <p:nvPr/>
        </p:nvSpPr>
        <p:spPr>
          <a:xfrm>
            <a:off x="6949440" y="6364224"/>
            <a:ext cx="304800" cy="243840"/>
          </a:xfrm>
          <a:prstGeom prst="rect">
            <a:avLst/>
          </a:prstGeom>
          <a:noFill/>
          <a:ln/>
        </p:spPr>
        <p:txBody>
          <a:bodyPr wrap="square" rtlCol="0" anchor="ctr"/>
          <a:lstStyle/>
          <a:p>
            <a:r>
              <a:rPr lang="en-US" sz="1067" dirty="0">
                <a:solidFill>
                  <a:srgbClr val="2E3F7F"/>
                </a:solidFill>
              </a:rPr>
              <a:t>▶</a:t>
            </a:r>
            <a:endParaRPr lang="en-US" sz="1067" dirty="0"/>
          </a:p>
        </p:txBody>
      </p:sp>
      <p:sp>
        <p:nvSpPr>
          <p:cNvPr id="10" name="Text 7"/>
          <p:cNvSpPr/>
          <p:nvPr/>
        </p:nvSpPr>
        <p:spPr>
          <a:xfrm>
            <a:off x="10728960" y="6400800"/>
            <a:ext cx="1219200" cy="365760"/>
          </a:xfrm>
          <a:prstGeom prst="rect">
            <a:avLst/>
          </a:prstGeom>
          <a:noFill/>
          <a:ln/>
        </p:spPr>
        <p:txBody>
          <a:bodyPr wrap="square" rtlCol="0" anchor="ctr"/>
          <a:lstStyle/>
          <a:p>
            <a:pPr algn="r"/>
            <a:r>
              <a:rPr lang="en-US" sz="1333" dirty="0">
                <a:solidFill>
                  <a:srgbClr val="4A5480"/>
                </a:solidFill>
              </a:rPr>
              <a:t>6/13</a:t>
            </a:r>
            <a:endParaRPr lang="en-US" sz="1333"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C2B5E"/>
          </a:solidFill>
          <a:ln w="12700">
            <a:solidFill>
              <a:srgbClr val="1C2B5E"/>
            </a:solidFill>
            <a:prstDash val="solid"/>
          </a:ln>
        </p:spPr>
        <p:txBody>
          <a:bodyPr/>
          <a:lstStyle/>
          <a:p>
            <a:endParaRPr lang="fr-FR" sz="2400"/>
          </a:p>
        </p:txBody>
      </p:sp>
      <p:sp>
        <p:nvSpPr>
          <p:cNvPr id="3" name="Text 1"/>
          <p:cNvSpPr/>
          <p:nvPr/>
        </p:nvSpPr>
        <p:spPr>
          <a:xfrm>
            <a:off x="548640" y="0"/>
            <a:ext cx="10972800" cy="1036320"/>
          </a:xfrm>
          <a:prstGeom prst="rect">
            <a:avLst/>
          </a:prstGeom>
          <a:noFill/>
          <a:ln/>
        </p:spPr>
        <p:txBody>
          <a:bodyPr wrap="square" lIns="0" tIns="0" rIns="0" bIns="0" rtlCol="0" anchor="ctr"/>
          <a:lstStyle/>
          <a:p>
            <a:r>
              <a:rPr lang="en-US" sz="2933" b="1" dirty="0">
                <a:solidFill>
                  <a:srgbClr val="FFFFFF"/>
                </a:solidFill>
              </a:rPr>
              <a:t>DATASET ② — CLASSIFICATION DE TEXTURES</a:t>
            </a:r>
            <a:endParaRPr lang="en-US" sz="2933" dirty="0"/>
          </a:p>
        </p:txBody>
      </p:sp>
      <p:sp>
        <p:nvSpPr>
          <p:cNvPr id="4" name="Shape 2"/>
          <p:cNvSpPr/>
          <p:nvPr/>
        </p:nvSpPr>
        <p:spPr>
          <a:xfrm>
            <a:off x="365760" y="1219200"/>
            <a:ext cx="4389120" cy="463296"/>
          </a:xfrm>
          <a:prstGeom prst="rect">
            <a:avLst/>
          </a:prstGeom>
          <a:solidFill>
            <a:srgbClr val="6B5EA8"/>
          </a:solidFill>
          <a:ln w="12700">
            <a:solidFill>
              <a:srgbClr val="6B5EA8"/>
            </a:solidFill>
            <a:prstDash val="solid"/>
          </a:ln>
        </p:spPr>
        <p:txBody>
          <a:bodyPr/>
          <a:lstStyle/>
          <a:p>
            <a:endParaRPr lang="fr-FR" sz="2400"/>
          </a:p>
        </p:txBody>
      </p:sp>
      <p:sp>
        <p:nvSpPr>
          <p:cNvPr id="5" name="Text 3"/>
          <p:cNvSpPr/>
          <p:nvPr/>
        </p:nvSpPr>
        <p:spPr>
          <a:xfrm>
            <a:off x="365760" y="1219200"/>
            <a:ext cx="4389120" cy="463296"/>
          </a:xfrm>
          <a:prstGeom prst="rect">
            <a:avLst/>
          </a:prstGeom>
          <a:noFill/>
          <a:ln/>
        </p:spPr>
        <p:txBody>
          <a:bodyPr wrap="square" lIns="0" tIns="0" rIns="0" bIns="0" rtlCol="0" anchor="ctr"/>
          <a:lstStyle/>
          <a:p>
            <a:pPr algn="ctr"/>
            <a:r>
              <a:rPr lang="en-US" sz="1333" b="1" dirty="0">
                <a:solidFill>
                  <a:srgbClr val="FFFFFF"/>
                </a:solidFill>
              </a:rPr>
              <a:t>Hypothèse : CNN &gt; ViT sur motifs répétitifs locaux</a:t>
            </a:r>
            <a:endParaRPr lang="en-US" sz="1333" dirty="0"/>
          </a:p>
        </p:txBody>
      </p:sp>
      <p:sp>
        <p:nvSpPr>
          <p:cNvPr id="6" name="Text 4"/>
          <p:cNvSpPr/>
          <p:nvPr/>
        </p:nvSpPr>
        <p:spPr>
          <a:xfrm>
            <a:off x="365760" y="1804416"/>
            <a:ext cx="5364480" cy="4876800"/>
          </a:xfrm>
          <a:prstGeom prst="rect">
            <a:avLst/>
          </a:prstGeom>
          <a:noFill/>
          <a:ln/>
        </p:spPr>
        <p:txBody>
          <a:bodyPr wrap="square" rtlCol="0" anchor="t"/>
          <a:lstStyle/>
          <a:p>
            <a:r>
              <a:rPr lang="en-US" sz="1467" b="1" dirty="0">
                <a:solidFill>
                  <a:srgbClr val="1A1A2E"/>
                </a:solidFill>
              </a:rPr>
              <a:t>6 classes synthétiques :</a:t>
            </a:r>
            <a:endParaRPr lang="en-US" sz="1467" dirty="0"/>
          </a:p>
          <a:p>
            <a:r>
              <a:rPr lang="en-US" sz="1467" dirty="0">
                <a:solidFill>
                  <a:srgbClr val="1A1A2E"/>
                </a:solidFill>
              </a:rPr>
              <a:t>lignes H/V, damier, diagonales, cercles, motifs radiaux</a:t>
            </a:r>
            <a:endParaRPr lang="en-US" sz="1467" dirty="0"/>
          </a:p>
          <a:p>
            <a:r>
              <a:rPr lang="en-US" sz="1467" dirty="0">
                <a:solidFill>
                  <a:srgbClr val="1A1A2E"/>
                </a:solidFill>
              </a:rPr>
              <a:t> </a:t>
            </a:r>
            <a:endParaRPr lang="en-US" sz="1467" dirty="0"/>
          </a:p>
          <a:p>
            <a:r>
              <a:rPr lang="en-US" sz="1467" dirty="0">
                <a:solidFill>
                  <a:srgbClr val="1A1A2E"/>
                </a:solidFill>
              </a:rPr>
              <a:t>Images 32×32 RGB avec colorisation aléatoire</a:t>
            </a:r>
            <a:endParaRPr lang="en-US" sz="1467" dirty="0"/>
          </a:p>
          <a:p>
            <a:r>
              <a:rPr lang="en-US" sz="1467" dirty="0">
                <a:solidFill>
                  <a:srgbClr val="1A1A2E"/>
                </a:solidFill>
              </a:rPr>
              <a:t> </a:t>
            </a:r>
            <a:endParaRPr lang="en-US" sz="1467" dirty="0"/>
          </a:p>
          <a:p>
            <a:r>
              <a:rPr lang="en-US" sz="1467" b="1" dirty="0">
                <a:solidFill>
                  <a:srgbClr val="1A1A2E"/>
                </a:solidFill>
              </a:rPr>
              <a:t>Résultats :</a:t>
            </a:r>
            <a:endParaRPr lang="en-US" sz="1467" dirty="0"/>
          </a:p>
          <a:p>
            <a:r>
              <a:rPr lang="en-US" sz="1467" dirty="0">
                <a:solidFill>
                  <a:srgbClr val="1A1A2E"/>
                </a:solidFill>
              </a:rPr>
              <a:t>Les deux modèles atteignent ~100% en train et en test</a:t>
            </a:r>
            <a:endParaRPr lang="en-US" sz="1467" dirty="0"/>
          </a:p>
          <a:p>
            <a:r>
              <a:rPr lang="en-US" sz="1467" dirty="0">
                <a:solidFill>
                  <a:srgbClr val="1A1A2E"/>
                </a:solidFill>
              </a:rPr>
              <a:t>Différence de dynamique : CNN converge à l'epoch 1,</a:t>
            </a:r>
            <a:endParaRPr lang="en-US" sz="1467" dirty="0"/>
          </a:p>
          <a:p>
            <a:r>
              <a:rPr lang="en-US" sz="1467" dirty="0">
                <a:solidFill>
                  <a:srgbClr val="1A1A2E"/>
                </a:solidFill>
              </a:rPr>
              <a:t>ViT à l'epoch 2</a:t>
            </a:r>
            <a:endParaRPr lang="en-US" sz="1467" dirty="0"/>
          </a:p>
          <a:p>
            <a:r>
              <a:rPr lang="en-US" sz="1467" dirty="0">
                <a:solidFill>
                  <a:srgbClr val="1A1A2E"/>
                </a:solidFill>
              </a:rPr>
              <a:t> </a:t>
            </a:r>
            <a:endParaRPr lang="en-US" sz="1467" dirty="0"/>
          </a:p>
          <a:p>
            <a:r>
              <a:rPr lang="en-US" sz="1467" b="1" dirty="0">
                <a:solidFill>
                  <a:srgbClr val="1A1A2E"/>
                </a:solidFill>
              </a:rPr>
              <a:t>Temps d'entraînement :</a:t>
            </a:r>
            <a:endParaRPr lang="en-US" sz="1467" dirty="0"/>
          </a:p>
          <a:p>
            <a:r>
              <a:rPr lang="en-US" sz="1467" dirty="0">
                <a:solidFill>
                  <a:srgbClr val="1A1A2E"/>
                </a:solidFill>
              </a:rPr>
              <a:t>ViT : 30 min  |  CNN : 7,7 min</a:t>
            </a:r>
            <a:endParaRPr lang="en-US" sz="1467" dirty="0"/>
          </a:p>
        </p:txBody>
      </p:sp>
      <p:sp>
        <p:nvSpPr>
          <p:cNvPr id="7" name="Shape 5"/>
          <p:cNvSpPr/>
          <p:nvPr/>
        </p:nvSpPr>
        <p:spPr>
          <a:xfrm>
            <a:off x="6096000" y="1219200"/>
            <a:ext cx="5730240" cy="2560320"/>
          </a:xfrm>
          <a:prstGeom prst="rect">
            <a:avLst/>
          </a:prstGeom>
          <a:solidFill>
            <a:srgbClr val="FFFFFF"/>
          </a:solidFill>
          <a:ln w="12700">
            <a:solidFill>
              <a:srgbClr val="C5D0EC"/>
            </a:solidFill>
            <a:prstDash val="solid"/>
          </a:ln>
          <a:effectLst>
            <a:outerShdw blurRad="63500" dist="25400" dir="8100000" algn="bl" rotWithShape="0">
              <a:srgbClr val="000000">
                <a:alpha val="8000"/>
              </a:srgbClr>
            </a:outerShdw>
          </a:effectLst>
        </p:spPr>
        <p:txBody>
          <a:bodyPr/>
          <a:lstStyle/>
          <a:p>
            <a:endParaRPr lang="fr-FR" sz="2400"/>
          </a:p>
        </p:txBody>
      </p:sp>
      <p:sp>
        <p:nvSpPr>
          <p:cNvPr id="8" name="Shape 6"/>
          <p:cNvSpPr/>
          <p:nvPr/>
        </p:nvSpPr>
        <p:spPr>
          <a:xfrm>
            <a:off x="6096000" y="1219200"/>
            <a:ext cx="5730240" cy="463296"/>
          </a:xfrm>
          <a:prstGeom prst="rect">
            <a:avLst/>
          </a:prstGeom>
          <a:solidFill>
            <a:srgbClr val="6B5EA8"/>
          </a:solidFill>
          <a:ln w="12700">
            <a:solidFill>
              <a:srgbClr val="6B5EA8"/>
            </a:solidFill>
            <a:prstDash val="solid"/>
          </a:ln>
        </p:spPr>
        <p:txBody>
          <a:bodyPr/>
          <a:lstStyle/>
          <a:p>
            <a:endParaRPr lang="fr-FR" sz="2400"/>
          </a:p>
        </p:txBody>
      </p:sp>
      <p:sp>
        <p:nvSpPr>
          <p:cNvPr id="9" name="Text 7"/>
          <p:cNvSpPr/>
          <p:nvPr/>
        </p:nvSpPr>
        <p:spPr>
          <a:xfrm>
            <a:off x="6096000" y="1219200"/>
            <a:ext cx="5730240" cy="463296"/>
          </a:xfrm>
          <a:prstGeom prst="rect">
            <a:avLst/>
          </a:prstGeom>
          <a:noFill/>
          <a:ln/>
        </p:spPr>
        <p:txBody>
          <a:bodyPr wrap="square" lIns="0" tIns="0" rIns="0" bIns="0" rtlCol="0" anchor="ctr"/>
          <a:lstStyle/>
          <a:p>
            <a:pPr algn="ctr"/>
            <a:r>
              <a:rPr lang="en-US" sz="1467" b="1" dirty="0">
                <a:solidFill>
                  <a:srgbClr val="FFFFFF"/>
                </a:solidFill>
              </a:rPr>
              <a:t>Accuracy sur le jeu de test</a:t>
            </a:r>
            <a:endParaRPr lang="en-US" sz="1467" dirty="0"/>
          </a:p>
        </p:txBody>
      </p:sp>
      <p:sp>
        <p:nvSpPr>
          <p:cNvPr id="10" name="Text 8"/>
          <p:cNvSpPr/>
          <p:nvPr/>
        </p:nvSpPr>
        <p:spPr>
          <a:xfrm>
            <a:off x="6339840" y="1828800"/>
            <a:ext cx="1828800" cy="487680"/>
          </a:xfrm>
          <a:prstGeom prst="rect">
            <a:avLst/>
          </a:prstGeom>
          <a:noFill/>
          <a:ln/>
        </p:spPr>
        <p:txBody>
          <a:bodyPr wrap="square" rtlCol="0" anchor="ctr"/>
          <a:lstStyle/>
          <a:p>
            <a:r>
              <a:rPr lang="en-US" sz="1867" b="1" dirty="0">
                <a:solidFill>
                  <a:srgbClr val="4DB6AC"/>
                </a:solidFill>
              </a:rPr>
              <a:t>CNN</a:t>
            </a:r>
            <a:endParaRPr lang="en-US" sz="1867" dirty="0"/>
          </a:p>
        </p:txBody>
      </p:sp>
      <p:sp>
        <p:nvSpPr>
          <p:cNvPr id="11" name="Text 9"/>
          <p:cNvSpPr/>
          <p:nvPr/>
        </p:nvSpPr>
        <p:spPr>
          <a:xfrm>
            <a:off x="8290560" y="1828800"/>
            <a:ext cx="3169920" cy="487680"/>
          </a:xfrm>
          <a:prstGeom prst="rect">
            <a:avLst/>
          </a:prstGeom>
          <a:noFill/>
          <a:ln/>
        </p:spPr>
        <p:txBody>
          <a:bodyPr wrap="square" rtlCol="0" anchor="ctr"/>
          <a:lstStyle/>
          <a:p>
            <a:r>
              <a:rPr lang="en-US" sz="1867" b="1" dirty="0">
                <a:solidFill>
                  <a:srgbClr val="1A1A2E"/>
                </a:solidFill>
              </a:rPr>
              <a:t>~100 %</a:t>
            </a:r>
            <a:endParaRPr lang="en-US" sz="1867" dirty="0"/>
          </a:p>
        </p:txBody>
      </p:sp>
      <p:sp>
        <p:nvSpPr>
          <p:cNvPr id="12" name="Text 10"/>
          <p:cNvSpPr/>
          <p:nvPr/>
        </p:nvSpPr>
        <p:spPr>
          <a:xfrm>
            <a:off x="6339840" y="2438400"/>
            <a:ext cx="1828800" cy="487680"/>
          </a:xfrm>
          <a:prstGeom prst="rect">
            <a:avLst/>
          </a:prstGeom>
          <a:noFill/>
          <a:ln/>
        </p:spPr>
        <p:txBody>
          <a:bodyPr wrap="square" rtlCol="0" anchor="ctr"/>
          <a:lstStyle/>
          <a:p>
            <a:r>
              <a:rPr lang="en-US" sz="1867" b="1" dirty="0">
                <a:solidFill>
                  <a:srgbClr val="2E3F7F"/>
                </a:solidFill>
              </a:rPr>
              <a:t>ViT</a:t>
            </a:r>
            <a:endParaRPr lang="en-US" sz="1867" dirty="0"/>
          </a:p>
        </p:txBody>
      </p:sp>
      <p:sp>
        <p:nvSpPr>
          <p:cNvPr id="13" name="Text 11"/>
          <p:cNvSpPr/>
          <p:nvPr/>
        </p:nvSpPr>
        <p:spPr>
          <a:xfrm>
            <a:off x="8290560" y="2438400"/>
            <a:ext cx="3169920" cy="487680"/>
          </a:xfrm>
          <a:prstGeom prst="rect">
            <a:avLst/>
          </a:prstGeom>
          <a:noFill/>
          <a:ln/>
        </p:spPr>
        <p:txBody>
          <a:bodyPr wrap="square" rtlCol="0" anchor="ctr"/>
          <a:lstStyle/>
          <a:p>
            <a:r>
              <a:rPr lang="en-US" sz="1867" b="1" dirty="0">
                <a:solidFill>
                  <a:srgbClr val="1A1A2E"/>
                </a:solidFill>
              </a:rPr>
              <a:t>~100 %</a:t>
            </a:r>
            <a:endParaRPr lang="en-US" sz="1867" dirty="0"/>
          </a:p>
        </p:txBody>
      </p:sp>
      <p:sp>
        <p:nvSpPr>
          <p:cNvPr id="14" name="Shape 12"/>
          <p:cNvSpPr/>
          <p:nvPr/>
        </p:nvSpPr>
        <p:spPr>
          <a:xfrm>
            <a:off x="6096000" y="3962400"/>
            <a:ext cx="5730240" cy="1828800"/>
          </a:xfrm>
          <a:prstGeom prst="rect">
            <a:avLst/>
          </a:prstGeom>
          <a:solidFill>
            <a:srgbClr val="A89FD6">
              <a:alpha val="45000"/>
            </a:srgbClr>
          </a:solidFill>
          <a:ln w="10160">
            <a:solidFill>
              <a:srgbClr val="6B5EA8"/>
            </a:solidFill>
            <a:prstDash val="solid"/>
          </a:ln>
        </p:spPr>
        <p:txBody>
          <a:bodyPr/>
          <a:lstStyle/>
          <a:p>
            <a:endParaRPr lang="fr-FR" sz="2400"/>
          </a:p>
        </p:txBody>
      </p:sp>
      <p:sp>
        <p:nvSpPr>
          <p:cNvPr id="15" name="Text 13"/>
          <p:cNvSpPr/>
          <p:nvPr/>
        </p:nvSpPr>
        <p:spPr>
          <a:xfrm>
            <a:off x="6217920" y="4047744"/>
            <a:ext cx="5486400" cy="1645920"/>
          </a:xfrm>
          <a:prstGeom prst="rect">
            <a:avLst/>
          </a:prstGeom>
          <a:noFill/>
          <a:ln/>
        </p:spPr>
        <p:txBody>
          <a:bodyPr wrap="square" rtlCol="0" anchor="ctr"/>
          <a:lstStyle/>
          <a:p>
            <a:r>
              <a:rPr lang="en-US" sz="1467" i="1" dirty="0">
                <a:solidFill>
                  <a:srgbClr val="1C2B5E"/>
                </a:solidFill>
              </a:rPr>
              <a:t>Les filtres convolutifs du CNN captent immédiatement les motifs répétitifs. Le ViT doit d'abord apprendre ces structures via l'attention → légèrement plus lent.</a:t>
            </a:r>
            <a:endParaRPr lang="en-US" sz="1467" dirty="0"/>
          </a:p>
        </p:txBody>
      </p:sp>
      <p:sp>
        <p:nvSpPr>
          <p:cNvPr id="16" name="Shape 14"/>
          <p:cNvSpPr/>
          <p:nvPr/>
        </p:nvSpPr>
        <p:spPr>
          <a:xfrm>
            <a:off x="5120640" y="6486144"/>
            <a:ext cx="1950720" cy="0"/>
          </a:xfrm>
          <a:prstGeom prst="line">
            <a:avLst/>
          </a:prstGeom>
          <a:noFill/>
          <a:ln w="25400">
            <a:solidFill>
              <a:srgbClr val="2E3F7F"/>
            </a:solidFill>
            <a:prstDash val="solid"/>
          </a:ln>
        </p:spPr>
        <p:txBody>
          <a:bodyPr/>
          <a:lstStyle/>
          <a:p>
            <a:endParaRPr lang="fr-FR" sz="2400"/>
          </a:p>
        </p:txBody>
      </p:sp>
      <p:sp>
        <p:nvSpPr>
          <p:cNvPr id="17" name="Text 15"/>
          <p:cNvSpPr/>
          <p:nvPr/>
        </p:nvSpPr>
        <p:spPr>
          <a:xfrm>
            <a:off x="6949440" y="6364224"/>
            <a:ext cx="304800" cy="243840"/>
          </a:xfrm>
          <a:prstGeom prst="rect">
            <a:avLst/>
          </a:prstGeom>
          <a:noFill/>
          <a:ln/>
        </p:spPr>
        <p:txBody>
          <a:bodyPr wrap="square" rtlCol="0" anchor="ctr"/>
          <a:lstStyle/>
          <a:p>
            <a:r>
              <a:rPr lang="en-US" sz="1067" dirty="0">
                <a:solidFill>
                  <a:srgbClr val="2E3F7F"/>
                </a:solidFill>
              </a:rPr>
              <a:t>▶</a:t>
            </a:r>
            <a:endParaRPr lang="en-US" sz="1067" dirty="0"/>
          </a:p>
        </p:txBody>
      </p:sp>
      <p:sp>
        <p:nvSpPr>
          <p:cNvPr id="18" name="Text 16"/>
          <p:cNvSpPr/>
          <p:nvPr/>
        </p:nvSpPr>
        <p:spPr>
          <a:xfrm>
            <a:off x="10728960" y="6400800"/>
            <a:ext cx="1219200" cy="365760"/>
          </a:xfrm>
          <a:prstGeom prst="rect">
            <a:avLst/>
          </a:prstGeom>
          <a:noFill/>
          <a:ln/>
        </p:spPr>
        <p:txBody>
          <a:bodyPr wrap="square" rtlCol="0" anchor="ctr"/>
          <a:lstStyle/>
          <a:p>
            <a:pPr algn="r"/>
            <a:r>
              <a:rPr lang="en-US" sz="1333" dirty="0">
                <a:solidFill>
                  <a:srgbClr val="4A5480"/>
                </a:solidFill>
              </a:rPr>
              <a:t>7/13</a:t>
            </a:r>
            <a:endParaRPr lang="en-US" sz="1333"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C2B5E"/>
          </a:solidFill>
          <a:ln w="12700">
            <a:solidFill>
              <a:srgbClr val="1C2B5E"/>
            </a:solidFill>
            <a:prstDash val="solid"/>
          </a:ln>
        </p:spPr>
        <p:txBody>
          <a:bodyPr/>
          <a:lstStyle/>
          <a:p>
            <a:endParaRPr lang="fr-FR" sz="2400"/>
          </a:p>
        </p:txBody>
      </p:sp>
      <p:sp>
        <p:nvSpPr>
          <p:cNvPr id="3" name="Text 1"/>
          <p:cNvSpPr/>
          <p:nvPr/>
        </p:nvSpPr>
        <p:spPr>
          <a:xfrm>
            <a:off x="548640" y="0"/>
            <a:ext cx="10972800" cy="1036320"/>
          </a:xfrm>
          <a:prstGeom prst="rect">
            <a:avLst/>
          </a:prstGeom>
          <a:noFill/>
          <a:ln/>
        </p:spPr>
        <p:txBody>
          <a:bodyPr wrap="square" lIns="0" tIns="0" rIns="0" bIns="0" rtlCol="0" anchor="ctr"/>
          <a:lstStyle/>
          <a:p>
            <a:r>
              <a:rPr lang="en-US" sz="2933" b="1" dirty="0">
                <a:solidFill>
                  <a:srgbClr val="FFFFFF"/>
                </a:solidFill>
              </a:rPr>
              <a:t>DATASET ③ — RELATIONS SPATIALES 2D</a:t>
            </a:r>
            <a:endParaRPr lang="en-US" sz="2933" dirty="0"/>
          </a:p>
        </p:txBody>
      </p:sp>
      <p:sp>
        <p:nvSpPr>
          <p:cNvPr id="4" name="Shape 2"/>
          <p:cNvSpPr/>
          <p:nvPr/>
        </p:nvSpPr>
        <p:spPr>
          <a:xfrm>
            <a:off x="365760" y="1219200"/>
            <a:ext cx="4389120" cy="463296"/>
          </a:xfrm>
          <a:prstGeom prst="rect">
            <a:avLst/>
          </a:prstGeom>
          <a:solidFill>
            <a:srgbClr val="5B73B8"/>
          </a:solidFill>
          <a:ln w="12700">
            <a:solidFill>
              <a:srgbClr val="5B73B8"/>
            </a:solidFill>
            <a:prstDash val="solid"/>
          </a:ln>
        </p:spPr>
        <p:txBody>
          <a:bodyPr/>
          <a:lstStyle/>
          <a:p>
            <a:endParaRPr lang="fr-FR" sz="2400"/>
          </a:p>
        </p:txBody>
      </p:sp>
      <p:sp>
        <p:nvSpPr>
          <p:cNvPr id="5" name="Text 3"/>
          <p:cNvSpPr/>
          <p:nvPr/>
        </p:nvSpPr>
        <p:spPr>
          <a:xfrm>
            <a:off x="365760" y="1219200"/>
            <a:ext cx="4389120" cy="463296"/>
          </a:xfrm>
          <a:prstGeom prst="rect">
            <a:avLst/>
          </a:prstGeom>
          <a:noFill/>
          <a:ln/>
        </p:spPr>
        <p:txBody>
          <a:bodyPr wrap="square" lIns="0" tIns="0" rIns="0" bIns="0" rtlCol="0" anchor="ctr"/>
          <a:lstStyle/>
          <a:p>
            <a:pPr algn="ctr"/>
            <a:r>
              <a:rPr lang="en-US" sz="1333" b="1" dirty="0">
                <a:solidFill>
                  <a:srgbClr val="FFFFFF"/>
                </a:solidFill>
              </a:rPr>
              <a:t>Hypothèse : CNN &gt; ViT (biais inductif 2D)</a:t>
            </a:r>
            <a:endParaRPr lang="en-US" sz="1333" dirty="0"/>
          </a:p>
        </p:txBody>
      </p:sp>
      <p:sp>
        <p:nvSpPr>
          <p:cNvPr id="6" name="Text 4"/>
          <p:cNvSpPr/>
          <p:nvPr/>
        </p:nvSpPr>
        <p:spPr>
          <a:xfrm>
            <a:off x="365760" y="1804416"/>
            <a:ext cx="5364480" cy="3901440"/>
          </a:xfrm>
          <a:prstGeom prst="rect">
            <a:avLst/>
          </a:prstGeom>
          <a:noFill/>
          <a:ln/>
        </p:spPr>
        <p:txBody>
          <a:bodyPr wrap="square" rtlCol="0" anchor="t"/>
          <a:lstStyle/>
          <a:p>
            <a:r>
              <a:rPr lang="en-US" sz="1467" b="1" dirty="0">
                <a:solidFill>
                  <a:srgbClr val="1A1A2E"/>
                </a:solidFill>
              </a:rPr>
              <a:t>Tâche :</a:t>
            </a:r>
            <a:endParaRPr lang="en-US" sz="1467" dirty="0"/>
          </a:p>
          <a:p>
            <a:r>
              <a:rPr lang="en-US" sz="1467" dirty="0">
                <a:solidFill>
                  <a:srgbClr val="1A1A2E"/>
                </a:solidFill>
              </a:rPr>
              <a:t>Prédire la relation spatiale d'un cercle par rapport à une figure rouge (gauche, droite, haut, bas)</a:t>
            </a:r>
            <a:endParaRPr lang="en-US" sz="1467" dirty="0"/>
          </a:p>
          <a:p>
            <a:r>
              <a:rPr lang="en-US" sz="1467" dirty="0">
                <a:solidFill>
                  <a:srgbClr val="1A1A2E"/>
                </a:solidFill>
              </a:rPr>
              <a:t> </a:t>
            </a:r>
            <a:endParaRPr lang="en-US" sz="1467" dirty="0"/>
          </a:p>
          <a:p>
            <a:r>
              <a:rPr lang="en-US" sz="1467" b="1" dirty="0">
                <a:solidFill>
                  <a:srgbClr val="1A1A2E"/>
                </a:solidFill>
              </a:rPr>
              <a:t>Dataset :</a:t>
            </a:r>
            <a:endParaRPr lang="en-US" sz="1467" dirty="0"/>
          </a:p>
          <a:p>
            <a:r>
              <a:rPr lang="en-US" sz="1467" dirty="0">
                <a:solidFill>
                  <a:srgbClr val="1A1A2E"/>
                </a:solidFill>
              </a:rPr>
              <a:t>10 000 images train / 2 000 test, objets géométriques aléatoires + bruit</a:t>
            </a:r>
            <a:endParaRPr lang="en-US" sz="1467" dirty="0"/>
          </a:p>
          <a:p>
            <a:r>
              <a:rPr lang="en-US" sz="1467" dirty="0">
                <a:solidFill>
                  <a:srgbClr val="1A1A2E"/>
                </a:solidFill>
              </a:rPr>
              <a:t> </a:t>
            </a:r>
            <a:endParaRPr lang="en-US" sz="1467" dirty="0"/>
          </a:p>
          <a:p>
            <a:r>
              <a:rPr lang="en-US" sz="1467" b="1" dirty="0">
                <a:solidFill>
                  <a:srgbClr val="1A1A2E"/>
                </a:solidFill>
              </a:rPr>
              <a:t>Architectures pré-entraînées :</a:t>
            </a:r>
            <a:endParaRPr lang="en-US" sz="1467" dirty="0"/>
          </a:p>
          <a:p>
            <a:r>
              <a:rPr lang="en-US" sz="1467" dirty="0">
                <a:solidFill>
                  <a:srgbClr val="1A1A2E"/>
                </a:solidFill>
              </a:rPr>
              <a:t>MobileNetV3-Small (CNN) vs Tiny ViT-16 (timm)</a:t>
            </a:r>
            <a:endParaRPr lang="en-US" sz="1467" dirty="0"/>
          </a:p>
        </p:txBody>
      </p:sp>
      <p:graphicFrame>
        <p:nvGraphicFramePr>
          <p:cNvPr id="7" name="Chart 0"/>
          <p:cNvGraphicFramePr/>
          <p:nvPr/>
        </p:nvGraphicFramePr>
        <p:xfrm>
          <a:off x="6096000" y="1219200"/>
          <a:ext cx="5730240" cy="390144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365760" y="5303520"/>
            <a:ext cx="11460480" cy="1097280"/>
          </a:xfrm>
          <a:prstGeom prst="rect">
            <a:avLst/>
          </a:prstGeom>
          <a:solidFill>
            <a:srgbClr val="C5D0EC">
              <a:alpha val="55000"/>
            </a:srgbClr>
          </a:solidFill>
          <a:ln w="10160">
            <a:solidFill>
              <a:srgbClr val="5B73B8"/>
            </a:solidFill>
            <a:prstDash val="solid"/>
          </a:ln>
        </p:spPr>
        <p:txBody>
          <a:bodyPr/>
          <a:lstStyle/>
          <a:p>
            <a:endParaRPr lang="fr-FR" sz="2400"/>
          </a:p>
        </p:txBody>
      </p:sp>
      <p:sp>
        <p:nvSpPr>
          <p:cNvPr id="9" name="Text 6"/>
          <p:cNvSpPr/>
          <p:nvPr/>
        </p:nvSpPr>
        <p:spPr>
          <a:xfrm>
            <a:off x="548640" y="5340096"/>
            <a:ext cx="11094720" cy="1024128"/>
          </a:xfrm>
          <a:prstGeom prst="rect">
            <a:avLst/>
          </a:prstGeom>
          <a:noFill/>
          <a:ln/>
        </p:spPr>
        <p:txBody>
          <a:bodyPr wrap="square" rtlCol="0" anchor="ctr"/>
          <a:lstStyle/>
          <a:p>
            <a:r>
              <a:rPr lang="en-US" sz="1467" i="1" dirty="0">
                <a:solidFill>
                  <a:srgbClr val="1C2B5E"/>
                </a:solidFill>
              </a:rPr>
              <a:t>Le ViT obtient 36,7 % (&lt; hasard à 50 %) : il ne parvient pas à capturer la structure 2D. Le CNN (MobileNet) atteint 85,2 % dès 8 epochs, confirmant que les biais inductifs locaux sont déterminants pour ce type de tâche.</a:t>
            </a:r>
            <a:endParaRPr lang="en-US" sz="1467" dirty="0"/>
          </a:p>
        </p:txBody>
      </p:sp>
      <p:sp>
        <p:nvSpPr>
          <p:cNvPr id="10" name="Shape 7"/>
          <p:cNvSpPr/>
          <p:nvPr/>
        </p:nvSpPr>
        <p:spPr>
          <a:xfrm>
            <a:off x="5120640" y="6486144"/>
            <a:ext cx="1950720" cy="0"/>
          </a:xfrm>
          <a:prstGeom prst="line">
            <a:avLst/>
          </a:prstGeom>
          <a:noFill/>
          <a:ln w="25400">
            <a:solidFill>
              <a:srgbClr val="2E3F7F"/>
            </a:solidFill>
            <a:prstDash val="solid"/>
          </a:ln>
        </p:spPr>
        <p:txBody>
          <a:bodyPr/>
          <a:lstStyle/>
          <a:p>
            <a:endParaRPr lang="fr-FR" sz="2400"/>
          </a:p>
        </p:txBody>
      </p:sp>
      <p:sp>
        <p:nvSpPr>
          <p:cNvPr id="11" name="Text 8"/>
          <p:cNvSpPr/>
          <p:nvPr/>
        </p:nvSpPr>
        <p:spPr>
          <a:xfrm>
            <a:off x="6949440" y="6364224"/>
            <a:ext cx="304800" cy="243840"/>
          </a:xfrm>
          <a:prstGeom prst="rect">
            <a:avLst/>
          </a:prstGeom>
          <a:noFill/>
          <a:ln/>
        </p:spPr>
        <p:txBody>
          <a:bodyPr wrap="square" rtlCol="0" anchor="ctr"/>
          <a:lstStyle/>
          <a:p>
            <a:r>
              <a:rPr lang="en-US" sz="1067" dirty="0">
                <a:solidFill>
                  <a:srgbClr val="2E3F7F"/>
                </a:solidFill>
              </a:rPr>
              <a:t>▶</a:t>
            </a:r>
            <a:endParaRPr lang="en-US" sz="1067" dirty="0"/>
          </a:p>
        </p:txBody>
      </p:sp>
      <p:sp>
        <p:nvSpPr>
          <p:cNvPr id="12" name="Text 9"/>
          <p:cNvSpPr/>
          <p:nvPr/>
        </p:nvSpPr>
        <p:spPr>
          <a:xfrm>
            <a:off x="10728960" y="6400800"/>
            <a:ext cx="1219200" cy="365760"/>
          </a:xfrm>
          <a:prstGeom prst="rect">
            <a:avLst/>
          </a:prstGeom>
          <a:noFill/>
          <a:ln/>
        </p:spPr>
        <p:txBody>
          <a:bodyPr wrap="square" rtlCol="0" anchor="ctr"/>
          <a:lstStyle/>
          <a:p>
            <a:pPr algn="r"/>
            <a:r>
              <a:rPr lang="en-US" sz="1333" dirty="0">
                <a:solidFill>
                  <a:srgbClr val="4A5480"/>
                </a:solidFill>
              </a:rPr>
              <a:t>8/13</a:t>
            </a:r>
            <a:endParaRPr lang="en-US" sz="1333"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C2B5E"/>
          </a:solidFill>
          <a:ln w="12700">
            <a:solidFill>
              <a:srgbClr val="1C2B5E"/>
            </a:solidFill>
            <a:prstDash val="solid"/>
          </a:ln>
        </p:spPr>
        <p:txBody>
          <a:bodyPr/>
          <a:lstStyle/>
          <a:p>
            <a:endParaRPr lang="fr-FR" sz="2400"/>
          </a:p>
        </p:txBody>
      </p:sp>
      <p:sp>
        <p:nvSpPr>
          <p:cNvPr id="3" name="Text 1"/>
          <p:cNvSpPr/>
          <p:nvPr/>
        </p:nvSpPr>
        <p:spPr>
          <a:xfrm>
            <a:off x="548640" y="0"/>
            <a:ext cx="10972800" cy="1036320"/>
          </a:xfrm>
          <a:prstGeom prst="rect">
            <a:avLst/>
          </a:prstGeom>
          <a:noFill/>
          <a:ln/>
        </p:spPr>
        <p:txBody>
          <a:bodyPr wrap="square" lIns="0" tIns="0" rIns="0" bIns="0" rtlCol="0" anchor="ctr"/>
          <a:lstStyle/>
          <a:p>
            <a:r>
              <a:rPr lang="en-US" sz="2933" b="1" dirty="0">
                <a:solidFill>
                  <a:srgbClr val="FFFFFF"/>
                </a:solidFill>
              </a:rPr>
              <a:t>DATASET ④ — INTERACTIONS GLOBALES (COMPTAGE)</a:t>
            </a:r>
            <a:endParaRPr lang="en-US" sz="2933" dirty="0"/>
          </a:p>
        </p:txBody>
      </p:sp>
      <p:sp>
        <p:nvSpPr>
          <p:cNvPr id="4" name="Shape 2"/>
          <p:cNvSpPr/>
          <p:nvPr/>
        </p:nvSpPr>
        <p:spPr>
          <a:xfrm>
            <a:off x="365760" y="1219200"/>
            <a:ext cx="4632960" cy="463296"/>
          </a:xfrm>
          <a:prstGeom prst="rect">
            <a:avLst/>
          </a:prstGeom>
          <a:solidFill>
            <a:srgbClr val="4DB6AC"/>
          </a:solidFill>
          <a:ln w="12700">
            <a:solidFill>
              <a:srgbClr val="4DB6AC"/>
            </a:solidFill>
            <a:prstDash val="solid"/>
          </a:ln>
        </p:spPr>
        <p:txBody>
          <a:bodyPr/>
          <a:lstStyle/>
          <a:p>
            <a:endParaRPr lang="fr-FR" sz="2400"/>
          </a:p>
        </p:txBody>
      </p:sp>
      <p:sp>
        <p:nvSpPr>
          <p:cNvPr id="5" name="Text 3"/>
          <p:cNvSpPr/>
          <p:nvPr/>
        </p:nvSpPr>
        <p:spPr>
          <a:xfrm>
            <a:off x="365760" y="1219200"/>
            <a:ext cx="4632960" cy="463296"/>
          </a:xfrm>
          <a:prstGeom prst="rect">
            <a:avLst/>
          </a:prstGeom>
          <a:noFill/>
          <a:ln/>
        </p:spPr>
        <p:txBody>
          <a:bodyPr wrap="square" lIns="0" tIns="0" rIns="0" bIns="0" rtlCol="0" anchor="ctr"/>
          <a:lstStyle/>
          <a:p>
            <a:pPr algn="ctr"/>
            <a:r>
              <a:rPr lang="en-US" sz="1333" b="1" dirty="0">
                <a:solidFill>
                  <a:srgbClr val="FFFFFF"/>
                </a:solidFill>
              </a:rPr>
              <a:t>Hypothèse : ViT &gt; CNN grâce à l'attention globale</a:t>
            </a:r>
            <a:endParaRPr lang="en-US" sz="1333" dirty="0"/>
          </a:p>
        </p:txBody>
      </p:sp>
      <p:sp>
        <p:nvSpPr>
          <p:cNvPr id="6" name="Text 4"/>
          <p:cNvSpPr/>
          <p:nvPr/>
        </p:nvSpPr>
        <p:spPr>
          <a:xfrm>
            <a:off x="365760" y="1804416"/>
            <a:ext cx="5364480" cy="4876800"/>
          </a:xfrm>
          <a:prstGeom prst="rect">
            <a:avLst/>
          </a:prstGeom>
          <a:noFill/>
          <a:ln/>
        </p:spPr>
        <p:txBody>
          <a:bodyPr wrap="square" rtlCol="0" anchor="t"/>
          <a:lstStyle/>
          <a:p>
            <a:r>
              <a:rPr lang="en-US" sz="1467" b="1" dirty="0">
                <a:solidFill>
                  <a:srgbClr val="1A1A2E"/>
                </a:solidFill>
              </a:rPr>
              <a:t>Tâche :</a:t>
            </a:r>
            <a:endParaRPr lang="en-US" sz="1467" dirty="0"/>
          </a:p>
          <a:p>
            <a:r>
              <a:rPr lang="en-US" sz="1467" dirty="0">
                <a:solidFill>
                  <a:srgbClr val="1A1A2E"/>
                </a:solidFill>
              </a:rPr>
              <a:t>Déterminer si le nombre de cercles dans une image est pair ou impair (classification binaire)</a:t>
            </a:r>
            <a:endParaRPr lang="en-US" sz="1467" dirty="0"/>
          </a:p>
          <a:p>
            <a:r>
              <a:rPr lang="en-US" sz="1467" dirty="0">
                <a:solidFill>
                  <a:srgbClr val="1A1A2E"/>
                </a:solidFill>
              </a:rPr>
              <a:t> </a:t>
            </a:r>
            <a:endParaRPr lang="en-US" sz="1467" dirty="0"/>
          </a:p>
          <a:p>
            <a:r>
              <a:rPr lang="en-US" sz="1467" dirty="0">
                <a:solidFill>
                  <a:srgbClr val="1A1A2E"/>
                </a:solidFill>
              </a:rPr>
              <a:t>Formes supplémentaires ajoutées pour bruiter la tâche</a:t>
            </a:r>
            <a:endParaRPr lang="en-US" sz="1467" dirty="0"/>
          </a:p>
          <a:p>
            <a:r>
              <a:rPr lang="en-US" sz="1467" dirty="0">
                <a:solidFill>
                  <a:srgbClr val="1A1A2E"/>
                </a:solidFill>
              </a:rPr>
              <a:t> </a:t>
            </a:r>
            <a:endParaRPr lang="en-US" sz="1467" dirty="0"/>
          </a:p>
          <a:p>
            <a:r>
              <a:rPr lang="en-US" sz="1467" b="1" dirty="0">
                <a:solidFill>
                  <a:srgbClr val="1A1A2E"/>
                </a:solidFill>
              </a:rPr>
              <a:t>Résultats contre-intuitifs :</a:t>
            </a:r>
            <a:endParaRPr lang="en-US" sz="1467" dirty="0"/>
          </a:p>
          <a:p>
            <a:r>
              <a:rPr lang="en-US" sz="1467" dirty="0">
                <a:solidFill>
                  <a:srgbClr val="1A1A2E"/>
                </a:solidFill>
              </a:rPr>
              <a:t>ViT pré-entraîné : train ~66%, validation ~50% (hasard)</a:t>
            </a:r>
            <a:endParaRPr lang="en-US" sz="1467" dirty="0"/>
          </a:p>
          <a:p>
            <a:r>
              <a:rPr lang="en-US" sz="1467" dirty="0">
                <a:solidFill>
                  <a:srgbClr val="1A1A2E"/>
                </a:solidFill>
              </a:rPr>
              <a:t>CNN pré-entraîné : train ~100%, test ~52% (sur-apprentissage)</a:t>
            </a:r>
            <a:endParaRPr lang="en-US" sz="1467" dirty="0"/>
          </a:p>
          <a:p>
            <a:r>
              <a:rPr lang="en-US" sz="1467" dirty="0">
                <a:solidFill>
                  <a:srgbClr val="1A1A2E"/>
                </a:solidFill>
              </a:rPr>
              <a:t> </a:t>
            </a:r>
            <a:endParaRPr lang="en-US" sz="1467" dirty="0"/>
          </a:p>
          <a:p>
            <a:r>
              <a:rPr lang="en-US" sz="1467" b="1" dirty="0">
                <a:solidFill>
                  <a:srgbClr val="1A1A2E"/>
                </a:solidFill>
              </a:rPr>
              <a:t>Explication :</a:t>
            </a:r>
            <a:endParaRPr lang="en-US" sz="1467" dirty="0"/>
          </a:p>
          <a:p>
            <a:r>
              <a:rPr lang="en-US" sz="1467" dirty="0">
                <a:solidFill>
                  <a:srgbClr val="1A1A2E"/>
                </a:solidFill>
              </a:rPr>
              <a:t>Décalage pré-entraînement (ImageNet) vs tâche cible (formes géométriques) → transfer learning inefficace</a:t>
            </a:r>
            <a:endParaRPr lang="en-US" sz="1467" dirty="0"/>
          </a:p>
        </p:txBody>
      </p:sp>
      <p:graphicFrame>
        <p:nvGraphicFramePr>
          <p:cNvPr id="7" name="Chart 0"/>
          <p:cNvGraphicFramePr/>
          <p:nvPr/>
        </p:nvGraphicFramePr>
        <p:xfrm>
          <a:off x="6096000" y="1219200"/>
          <a:ext cx="5730240" cy="438912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6096000" y="5791200"/>
            <a:ext cx="5730240" cy="792480"/>
          </a:xfrm>
          <a:prstGeom prst="rect">
            <a:avLst/>
          </a:prstGeom>
          <a:solidFill>
            <a:srgbClr val="A89FD6">
              <a:alpha val="45000"/>
            </a:srgbClr>
          </a:solidFill>
          <a:ln w="10160">
            <a:solidFill>
              <a:srgbClr val="6B5EA8"/>
            </a:solidFill>
            <a:prstDash val="solid"/>
          </a:ln>
        </p:spPr>
        <p:txBody>
          <a:bodyPr/>
          <a:lstStyle/>
          <a:p>
            <a:endParaRPr lang="fr-FR" sz="2400"/>
          </a:p>
        </p:txBody>
      </p:sp>
      <p:sp>
        <p:nvSpPr>
          <p:cNvPr id="9" name="Text 6"/>
          <p:cNvSpPr/>
          <p:nvPr/>
        </p:nvSpPr>
        <p:spPr>
          <a:xfrm>
            <a:off x="6217920" y="5827776"/>
            <a:ext cx="5486400" cy="731520"/>
          </a:xfrm>
          <a:prstGeom prst="rect">
            <a:avLst/>
          </a:prstGeom>
          <a:noFill/>
          <a:ln/>
        </p:spPr>
        <p:txBody>
          <a:bodyPr wrap="square" rtlCol="0" anchor="ctr"/>
          <a:lstStyle/>
          <a:p>
            <a:r>
              <a:rPr lang="en-US" sz="1333" i="1" dirty="0">
                <a:solidFill>
                  <a:srgbClr val="1C2B5E"/>
                </a:solidFill>
              </a:rPr>
              <a:t>Le transfer learning n'est efficace que si les représentations sont alignées avec la tâche cible.</a:t>
            </a:r>
            <a:endParaRPr lang="en-US" sz="1333" dirty="0"/>
          </a:p>
        </p:txBody>
      </p:sp>
      <p:sp>
        <p:nvSpPr>
          <p:cNvPr id="10" name="Shape 7"/>
          <p:cNvSpPr/>
          <p:nvPr/>
        </p:nvSpPr>
        <p:spPr>
          <a:xfrm>
            <a:off x="5120640" y="6486144"/>
            <a:ext cx="1950720" cy="0"/>
          </a:xfrm>
          <a:prstGeom prst="line">
            <a:avLst/>
          </a:prstGeom>
          <a:noFill/>
          <a:ln w="25400">
            <a:solidFill>
              <a:srgbClr val="2E3F7F"/>
            </a:solidFill>
            <a:prstDash val="solid"/>
          </a:ln>
        </p:spPr>
        <p:txBody>
          <a:bodyPr/>
          <a:lstStyle/>
          <a:p>
            <a:endParaRPr lang="fr-FR" sz="2400"/>
          </a:p>
        </p:txBody>
      </p:sp>
      <p:sp>
        <p:nvSpPr>
          <p:cNvPr id="11" name="Text 8"/>
          <p:cNvSpPr/>
          <p:nvPr/>
        </p:nvSpPr>
        <p:spPr>
          <a:xfrm>
            <a:off x="6949440" y="6364224"/>
            <a:ext cx="304800" cy="243840"/>
          </a:xfrm>
          <a:prstGeom prst="rect">
            <a:avLst/>
          </a:prstGeom>
          <a:noFill/>
          <a:ln/>
        </p:spPr>
        <p:txBody>
          <a:bodyPr wrap="square" rtlCol="0" anchor="ctr"/>
          <a:lstStyle/>
          <a:p>
            <a:r>
              <a:rPr lang="en-US" sz="1067" dirty="0">
                <a:solidFill>
                  <a:srgbClr val="2E3F7F"/>
                </a:solidFill>
              </a:rPr>
              <a:t>▶</a:t>
            </a:r>
            <a:endParaRPr lang="en-US" sz="1067" dirty="0"/>
          </a:p>
        </p:txBody>
      </p:sp>
      <p:sp>
        <p:nvSpPr>
          <p:cNvPr id="12" name="Text 9"/>
          <p:cNvSpPr/>
          <p:nvPr/>
        </p:nvSpPr>
        <p:spPr>
          <a:xfrm>
            <a:off x="10728960" y="6400800"/>
            <a:ext cx="1219200" cy="365760"/>
          </a:xfrm>
          <a:prstGeom prst="rect">
            <a:avLst/>
          </a:prstGeom>
          <a:noFill/>
          <a:ln/>
        </p:spPr>
        <p:txBody>
          <a:bodyPr wrap="square" rtlCol="0" anchor="ctr"/>
          <a:lstStyle/>
          <a:p>
            <a:pPr algn="r"/>
            <a:r>
              <a:rPr lang="en-US" sz="1333" dirty="0">
                <a:solidFill>
                  <a:srgbClr val="4A5480"/>
                </a:solidFill>
              </a:rPr>
              <a:t>9/13</a:t>
            </a:r>
            <a:endParaRPr lang="en-US" sz="1333"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C2B5E"/>
          </a:solidFill>
          <a:ln w="12700">
            <a:solidFill>
              <a:srgbClr val="1C2B5E"/>
            </a:solidFill>
            <a:prstDash val="solid"/>
          </a:ln>
        </p:spPr>
        <p:txBody>
          <a:bodyPr/>
          <a:lstStyle/>
          <a:p>
            <a:endParaRPr lang="fr-FR" sz="2400"/>
          </a:p>
        </p:txBody>
      </p:sp>
      <p:sp>
        <p:nvSpPr>
          <p:cNvPr id="3" name="Text 1"/>
          <p:cNvSpPr/>
          <p:nvPr/>
        </p:nvSpPr>
        <p:spPr>
          <a:xfrm>
            <a:off x="548640" y="0"/>
            <a:ext cx="10972800" cy="1036320"/>
          </a:xfrm>
          <a:prstGeom prst="rect">
            <a:avLst/>
          </a:prstGeom>
          <a:noFill/>
          <a:ln/>
        </p:spPr>
        <p:txBody>
          <a:bodyPr wrap="square" lIns="0" tIns="0" rIns="0" bIns="0" rtlCol="0" anchor="ctr"/>
          <a:lstStyle/>
          <a:p>
            <a:r>
              <a:rPr lang="en-US" sz="2933" b="1" dirty="0">
                <a:solidFill>
                  <a:srgbClr val="FFFFFF"/>
                </a:solidFill>
              </a:rPr>
              <a:t>RÉSULTATS GLOBAUX</a:t>
            </a:r>
            <a:endParaRPr lang="en-US" sz="2933" dirty="0"/>
          </a:p>
        </p:txBody>
      </p:sp>
      <p:graphicFrame>
        <p:nvGraphicFramePr>
          <p:cNvPr id="11" name="Table 0"/>
          <p:cNvGraphicFramePr>
            <a:graphicFrameLocks noGrp="1"/>
          </p:cNvGraphicFramePr>
          <p:nvPr/>
        </p:nvGraphicFramePr>
        <p:xfrm>
          <a:off x="365760" y="1280160"/>
          <a:ext cx="10972800" cy="2926080"/>
        </p:xfrm>
        <a:graphic>
          <a:graphicData uri="http://schemas.openxmlformats.org/drawingml/2006/table">
            <a:tbl>
              <a:tblPr/>
              <a:tblGrid>
                <a:gridCol w="3169920">
                  <a:extLst>
                    <a:ext uri="{9D8B030D-6E8A-4147-A177-3AD203B41FA5}">
                      <a16:colId xmlns:a16="http://schemas.microsoft.com/office/drawing/2014/main" val="20000"/>
                    </a:ext>
                  </a:extLst>
                </a:gridCol>
                <a:gridCol w="2682240">
                  <a:extLst>
                    <a:ext uri="{9D8B030D-6E8A-4147-A177-3AD203B41FA5}">
                      <a16:colId xmlns:a16="http://schemas.microsoft.com/office/drawing/2014/main" val="20001"/>
                    </a:ext>
                  </a:extLst>
                </a:gridCol>
                <a:gridCol w="1706880">
                  <a:extLst>
                    <a:ext uri="{9D8B030D-6E8A-4147-A177-3AD203B41FA5}">
                      <a16:colId xmlns:a16="http://schemas.microsoft.com/office/drawing/2014/main" val="20002"/>
                    </a:ext>
                  </a:extLst>
                </a:gridCol>
                <a:gridCol w="1706880">
                  <a:extLst>
                    <a:ext uri="{9D8B030D-6E8A-4147-A177-3AD203B41FA5}">
                      <a16:colId xmlns:a16="http://schemas.microsoft.com/office/drawing/2014/main" val="20003"/>
                    </a:ext>
                  </a:extLst>
                </a:gridCol>
                <a:gridCol w="1706880">
                  <a:extLst>
                    <a:ext uri="{9D8B030D-6E8A-4147-A177-3AD203B41FA5}">
                      <a16:colId xmlns:a16="http://schemas.microsoft.com/office/drawing/2014/main" val="20004"/>
                    </a:ext>
                  </a:extLst>
                </a:gridCol>
              </a:tblGrid>
              <a:tr h="585216">
                <a:tc>
                  <a:txBody>
                    <a:bodyPr/>
                    <a:lstStyle/>
                    <a:p>
                      <a:pPr marL="0" indent="0" algn="l">
                        <a:buNone/>
                      </a:pPr>
                      <a:r>
                        <a:rPr lang="en-US" sz="1500" b="1" dirty="0">
                          <a:solidFill>
                            <a:srgbClr val="FFFFFF"/>
                          </a:solidFill>
                        </a:rPr>
                        <a:t>Dataset</a:t>
                      </a:r>
                      <a:endParaRPr lang="en-US" sz="1500" dirty="0"/>
                    </a:p>
                  </a:txBody>
                  <a:tcPr marL="121920" marR="121920" marT="60960" marB="60960">
                    <a:lnL w="6350" cap="flat" cmpd="sng" algn="ctr">
                      <a:solidFill>
                        <a:srgbClr val="C5D0EC"/>
                      </a:solidFill>
                      <a:prstDash val="solid"/>
                      <a:round/>
                      <a:headEnd type="none" w="med" len="med"/>
                      <a:tailEnd type="none" w="med" len="med"/>
                    </a:lnL>
                    <a:lnR w="6350" cap="flat" cmpd="sng" algn="ctr">
                      <a:solidFill>
                        <a:srgbClr val="C5D0EC"/>
                      </a:solidFill>
                      <a:prstDash val="solid"/>
                      <a:round/>
                      <a:headEnd type="none" w="med" len="med"/>
                      <a:tailEnd type="none" w="med" len="med"/>
                    </a:lnR>
                    <a:lnT w="6350" cap="flat" cmpd="sng" algn="ctr">
                      <a:solidFill>
                        <a:srgbClr val="C5D0EC"/>
                      </a:solidFill>
                      <a:prstDash val="solid"/>
                      <a:round/>
                      <a:headEnd type="none" w="med" len="med"/>
                      <a:tailEnd type="none" w="med" len="med"/>
                    </a:lnT>
                    <a:lnB w="6350" cap="flat" cmpd="sng" algn="ctr">
                      <a:solidFill>
                        <a:srgbClr val="C5D0EC"/>
                      </a:solidFill>
                      <a:prstDash val="solid"/>
                      <a:round/>
                      <a:headEnd type="none" w="med" len="med"/>
                      <a:tailEnd type="none" w="med" len="med"/>
                    </a:lnB>
                    <a:solidFill>
                      <a:srgbClr val="1C2B5E"/>
                    </a:solidFill>
                  </a:tcPr>
                </a:tc>
                <a:tc>
                  <a:txBody>
                    <a:bodyPr/>
                    <a:lstStyle/>
                    <a:p>
                      <a:pPr marL="0" indent="0" algn="ctr">
                        <a:buNone/>
                      </a:pPr>
                      <a:r>
                        <a:rPr lang="en-US" sz="1500" b="1" dirty="0">
                          <a:solidFill>
                            <a:srgbClr val="FFFFFF"/>
                          </a:solidFill>
                        </a:rPr>
                        <a:t>Hypothèse</a:t>
                      </a:r>
                      <a:endParaRPr lang="en-US" sz="1500" dirty="0"/>
                    </a:p>
                  </a:txBody>
                  <a:tcPr marL="121920" marR="121920" marT="60960" marB="60960">
                    <a:lnL w="6350" cap="flat" cmpd="sng" algn="ctr">
                      <a:solidFill>
                        <a:srgbClr val="C5D0EC"/>
                      </a:solidFill>
                      <a:prstDash val="solid"/>
                      <a:round/>
                      <a:headEnd type="none" w="med" len="med"/>
                      <a:tailEnd type="none" w="med" len="med"/>
                    </a:lnL>
                    <a:lnR w="6350" cap="flat" cmpd="sng" algn="ctr">
                      <a:solidFill>
                        <a:srgbClr val="C5D0EC"/>
                      </a:solidFill>
                      <a:prstDash val="solid"/>
                      <a:round/>
                      <a:headEnd type="none" w="med" len="med"/>
                      <a:tailEnd type="none" w="med" len="med"/>
                    </a:lnR>
                    <a:lnT w="6350" cap="flat" cmpd="sng" algn="ctr">
                      <a:solidFill>
                        <a:srgbClr val="C5D0EC"/>
                      </a:solidFill>
                      <a:prstDash val="solid"/>
                      <a:round/>
                      <a:headEnd type="none" w="med" len="med"/>
                      <a:tailEnd type="none" w="med" len="med"/>
                    </a:lnT>
                    <a:lnB w="6350" cap="flat" cmpd="sng" algn="ctr">
                      <a:solidFill>
                        <a:srgbClr val="C5D0EC"/>
                      </a:solidFill>
                      <a:prstDash val="solid"/>
                      <a:round/>
                      <a:headEnd type="none" w="med" len="med"/>
                      <a:tailEnd type="none" w="med" len="med"/>
                    </a:lnB>
                    <a:solidFill>
                      <a:srgbClr val="1C2B5E"/>
                    </a:solidFill>
                  </a:tcPr>
                </a:tc>
                <a:tc>
                  <a:txBody>
                    <a:bodyPr/>
                    <a:lstStyle/>
                    <a:p>
                      <a:pPr marL="0" indent="0" algn="ctr">
                        <a:buNone/>
                      </a:pPr>
                      <a:r>
                        <a:rPr lang="en-US" sz="1500" b="1" dirty="0">
                          <a:solidFill>
                            <a:srgbClr val="FFFFFF"/>
                          </a:solidFill>
                        </a:rPr>
                        <a:t>CNN (test)</a:t>
                      </a:r>
                      <a:endParaRPr lang="en-US" sz="1500" dirty="0"/>
                    </a:p>
                  </a:txBody>
                  <a:tcPr marL="121920" marR="121920" marT="60960" marB="60960">
                    <a:lnL w="6350" cap="flat" cmpd="sng" algn="ctr">
                      <a:solidFill>
                        <a:srgbClr val="C5D0EC"/>
                      </a:solidFill>
                      <a:prstDash val="solid"/>
                      <a:round/>
                      <a:headEnd type="none" w="med" len="med"/>
                      <a:tailEnd type="none" w="med" len="med"/>
                    </a:lnL>
                    <a:lnR w="6350" cap="flat" cmpd="sng" algn="ctr">
                      <a:solidFill>
                        <a:srgbClr val="C5D0EC"/>
                      </a:solidFill>
                      <a:prstDash val="solid"/>
                      <a:round/>
                      <a:headEnd type="none" w="med" len="med"/>
                      <a:tailEnd type="none" w="med" len="med"/>
                    </a:lnR>
                    <a:lnT w="6350" cap="flat" cmpd="sng" algn="ctr">
                      <a:solidFill>
                        <a:srgbClr val="C5D0EC"/>
                      </a:solidFill>
                      <a:prstDash val="solid"/>
                      <a:round/>
                      <a:headEnd type="none" w="med" len="med"/>
                      <a:tailEnd type="none" w="med" len="med"/>
                    </a:lnT>
                    <a:lnB w="6350" cap="flat" cmpd="sng" algn="ctr">
                      <a:solidFill>
                        <a:srgbClr val="C5D0EC"/>
                      </a:solidFill>
                      <a:prstDash val="solid"/>
                      <a:round/>
                      <a:headEnd type="none" w="med" len="med"/>
                      <a:tailEnd type="none" w="med" len="med"/>
                    </a:lnB>
                    <a:solidFill>
                      <a:srgbClr val="1C2B5E"/>
                    </a:solidFill>
                  </a:tcPr>
                </a:tc>
                <a:tc>
                  <a:txBody>
                    <a:bodyPr/>
                    <a:lstStyle/>
                    <a:p>
                      <a:pPr marL="0" indent="0" algn="ctr">
                        <a:buNone/>
                      </a:pPr>
                      <a:r>
                        <a:rPr lang="en-US" sz="1500" b="1" dirty="0">
                          <a:solidFill>
                            <a:srgbClr val="FFFFFF"/>
                          </a:solidFill>
                        </a:rPr>
                        <a:t>ViT (test)</a:t>
                      </a:r>
                      <a:endParaRPr lang="en-US" sz="1500" dirty="0"/>
                    </a:p>
                  </a:txBody>
                  <a:tcPr marL="121920" marR="121920" marT="60960" marB="60960">
                    <a:lnL w="6350" cap="flat" cmpd="sng" algn="ctr">
                      <a:solidFill>
                        <a:srgbClr val="C5D0EC"/>
                      </a:solidFill>
                      <a:prstDash val="solid"/>
                      <a:round/>
                      <a:headEnd type="none" w="med" len="med"/>
                      <a:tailEnd type="none" w="med" len="med"/>
                    </a:lnL>
                    <a:lnR w="6350" cap="flat" cmpd="sng" algn="ctr">
                      <a:solidFill>
                        <a:srgbClr val="C5D0EC"/>
                      </a:solidFill>
                      <a:prstDash val="solid"/>
                      <a:round/>
                      <a:headEnd type="none" w="med" len="med"/>
                      <a:tailEnd type="none" w="med" len="med"/>
                    </a:lnR>
                    <a:lnT w="6350" cap="flat" cmpd="sng" algn="ctr">
                      <a:solidFill>
                        <a:srgbClr val="C5D0EC"/>
                      </a:solidFill>
                      <a:prstDash val="solid"/>
                      <a:round/>
                      <a:headEnd type="none" w="med" len="med"/>
                      <a:tailEnd type="none" w="med" len="med"/>
                    </a:lnT>
                    <a:lnB w="6350" cap="flat" cmpd="sng" algn="ctr">
                      <a:solidFill>
                        <a:srgbClr val="C5D0EC"/>
                      </a:solidFill>
                      <a:prstDash val="solid"/>
                      <a:round/>
                      <a:headEnd type="none" w="med" len="med"/>
                      <a:tailEnd type="none" w="med" len="med"/>
                    </a:lnB>
                    <a:solidFill>
                      <a:srgbClr val="1C2B5E"/>
                    </a:solidFill>
                  </a:tcPr>
                </a:tc>
                <a:tc>
                  <a:txBody>
                    <a:bodyPr/>
                    <a:lstStyle/>
                    <a:p>
                      <a:pPr marL="0" indent="0" algn="ctr">
                        <a:buNone/>
                      </a:pPr>
                      <a:r>
                        <a:rPr lang="en-US" sz="1500" b="1" dirty="0">
                          <a:solidFill>
                            <a:srgbClr val="FFFFFF"/>
                          </a:solidFill>
                        </a:rPr>
                        <a:t>Gagnant</a:t>
                      </a:r>
                      <a:endParaRPr lang="en-US" sz="1500" dirty="0"/>
                    </a:p>
                  </a:txBody>
                  <a:tcPr marL="121920" marR="121920" marT="60960" marB="60960">
                    <a:lnL w="6350" cap="flat" cmpd="sng" algn="ctr">
                      <a:solidFill>
                        <a:srgbClr val="C5D0EC"/>
                      </a:solidFill>
                      <a:prstDash val="solid"/>
                      <a:round/>
                      <a:headEnd type="none" w="med" len="med"/>
                      <a:tailEnd type="none" w="med" len="med"/>
                    </a:lnL>
                    <a:lnR w="6350" cap="flat" cmpd="sng" algn="ctr">
                      <a:solidFill>
                        <a:srgbClr val="C5D0EC"/>
                      </a:solidFill>
                      <a:prstDash val="solid"/>
                      <a:round/>
                      <a:headEnd type="none" w="med" len="med"/>
                      <a:tailEnd type="none" w="med" len="med"/>
                    </a:lnR>
                    <a:lnT w="6350" cap="flat" cmpd="sng" algn="ctr">
                      <a:solidFill>
                        <a:srgbClr val="C5D0EC"/>
                      </a:solidFill>
                      <a:prstDash val="solid"/>
                      <a:round/>
                      <a:headEnd type="none" w="med" len="med"/>
                      <a:tailEnd type="none" w="med" len="med"/>
                    </a:lnT>
                    <a:lnB w="6350" cap="flat" cmpd="sng" algn="ctr">
                      <a:solidFill>
                        <a:srgbClr val="C5D0EC"/>
                      </a:solidFill>
                      <a:prstDash val="solid"/>
                      <a:round/>
                      <a:headEnd type="none" w="med" len="med"/>
                      <a:tailEnd type="none" w="med" len="med"/>
                    </a:lnB>
                    <a:solidFill>
                      <a:srgbClr val="1C2B5E"/>
                    </a:solidFill>
                  </a:tcPr>
                </a:tc>
                <a:extLst>
                  <a:ext uri="{0D108BD9-81ED-4DB2-BD59-A6C34878D82A}">
                    <a16:rowId xmlns:a16="http://schemas.microsoft.com/office/drawing/2014/main" val="10000"/>
                  </a:ext>
                </a:extLst>
              </a:tr>
              <a:tr h="585216">
                <a:tc>
                  <a:txBody>
                    <a:bodyPr/>
                    <a:lstStyle/>
                    <a:p>
                      <a:pPr marL="0" indent="0" algn="l">
                        <a:buNone/>
                      </a:pPr>
                      <a:r>
                        <a:rPr lang="en-US" sz="1500" dirty="0">
                          <a:solidFill>
                            <a:srgbClr val="1A1A2E"/>
                          </a:solidFill>
                        </a:rPr>
                        <a:t>① CIFAR-10 (50k)</a:t>
                      </a:r>
                      <a:endParaRPr lang="en-US" sz="1500" dirty="0"/>
                    </a:p>
                  </a:txBody>
                  <a:tcPr marL="121920" marR="121920" marT="60960" marB="60960">
                    <a:lnL w="6350" cap="flat" cmpd="sng" algn="ctr">
                      <a:solidFill>
                        <a:srgbClr val="C5D0EC"/>
                      </a:solidFill>
                      <a:prstDash val="solid"/>
                      <a:round/>
                      <a:headEnd type="none" w="med" len="med"/>
                      <a:tailEnd type="none" w="med" len="med"/>
                    </a:lnL>
                    <a:lnR w="6350" cap="flat" cmpd="sng" algn="ctr">
                      <a:solidFill>
                        <a:srgbClr val="C5D0EC"/>
                      </a:solidFill>
                      <a:prstDash val="solid"/>
                      <a:round/>
                      <a:headEnd type="none" w="med" len="med"/>
                      <a:tailEnd type="none" w="med" len="med"/>
                    </a:lnR>
                    <a:lnT w="6350" cap="flat" cmpd="sng" algn="ctr">
                      <a:solidFill>
                        <a:srgbClr val="C5D0EC"/>
                      </a:solidFill>
                      <a:prstDash val="solid"/>
                      <a:round/>
                      <a:headEnd type="none" w="med" len="med"/>
                      <a:tailEnd type="none" w="med" len="med"/>
                    </a:lnT>
                    <a:lnB w="6350" cap="flat" cmpd="sng" algn="ctr">
                      <a:solidFill>
                        <a:srgbClr val="C5D0EC"/>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A1A2E"/>
                          </a:solidFill>
                        </a:rPr>
                        <a:t>CNN &gt; ViT</a:t>
                      </a:r>
                      <a:endParaRPr lang="en-US" sz="1500" dirty="0"/>
                    </a:p>
                  </a:txBody>
                  <a:tcPr marL="121920" marR="121920" marT="60960" marB="60960">
                    <a:lnL w="6350" cap="flat" cmpd="sng" algn="ctr">
                      <a:solidFill>
                        <a:srgbClr val="C5D0EC"/>
                      </a:solidFill>
                      <a:prstDash val="solid"/>
                      <a:round/>
                      <a:headEnd type="none" w="med" len="med"/>
                      <a:tailEnd type="none" w="med" len="med"/>
                    </a:lnL>
                    <a:lnR w="6350" cap="flat" cmpd="sng" algn="ctr">
                      <a:solidFill>
                        <a:srgbClr val="C5D0EC"/>
                      </a:solidFill>
                      <a:prstDash val="solid"/>
                      <a:round/>
                      <a:headEnd type="none" w="med" len="med"/>
                      <a:tailEnd type="none" w="med" len="med"/>
                    </a:lnR>
                    <a:lnT w="6350" cap="flat" cmpd="sng" algn="ctr">
                      <a:solidFill>
                        <a:srgbClr val="C5D0EC"/>
                      </a:solidFill>
                      <a:prstDash val="solid"/>
                      <a:round/>
                      <a:headEnd type="none" w="med" len="med"/>
                      <a:tailEnd type="none" w="med" len="med"/>
                    </a:lnT>
                    <a:lnB w="6350" cap="flat" cmpd="sng" algn="ctr">
                      <a:solidFill>
                        <a:srgbClr val="C5D0EC"/>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A1A2E"/>
                          </a:solidFill>
                        </a:rPr>
                        <a:t>83,2 %</a:t>
                      </a:r>
                      <a:endParaRPr lang="en-US" sz="1500" dirty="0"/>
                    </a:p>
                  </a:txBody>
                  <a:tcPr marL="121920" marR="121920" marT="60960" marB="60960">
                    <a:lnL w="6350" cap="flat" cmpd="sng" algn="ctr">
                      <a:solidFill>
                        <a:srgbClr val="C5D0EC"/>
                      </a:solidFill>
                      <a:prstDash val="solid"/>
                      <a:round/>
                      <a:headEnd type="none" w="med" len="med"/>
                      <a:tailEnd type="none" w="med" len="med"/>
                    </a:lnL>
                    <a:lnR w="6350" cap="flat" cmpd="sng" algn="ctr">
                      <a:solidFill>
                        <a:srgbClr val="C5D0EC"/>
                      </a:solidFill>
                      <a:prstDash val="solid"/>
                      <a:round/>
                      <a:headEnd type="none" w="med" len="med"/>
                      <a:tailEnd type="none" w="med" len="med"/>
                    </a:lnR>
                    <a:lnT w="6350" cap="flat" cmpd="sng" algn="ctr">
                      <a:solidFill>
                        <a:srgbClr val="C5D0EC"/>
                      </a:solidFill>
                      <a:prstDash val="solid"/>
                      <a:round/>
                      <a:headEnd type="none" w="med" len="med"/>
                      <a:tailEnd type="none" w="med" len="med"/>
                    </a:lnT>
                    <a:lnB w="6350" cap="flat" cmpd="sng" algn="ctr">
                      <a:solidFill>
                        <a:srgbClr val="C5D0EC"/>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A1A2E"/>
                          </a:solidFill>
                        </a:rPr>
                        <a:t>63,1 %</a:t>
                      </a:r>
                      <a:endParaRPr lang="en-US" sz="1500" dirty="0"/>
                    </a:p>
                  </a:txBody>
                  <a:tcPr marL="121920" marR="121920" marT="60960" marB="60960">
                    <a:lnL w="6350" cap="flat" cmpd="sng" algn="ctr">
                      <a:solidFill>
                        <a:srgbClr val="C5D0EC"/>
                      </a:solidFill>
                      <a:prstDash val="solid"/>
                      <a:round/>
                      <a:headEnd type="none" w="med" len="med"/>
                      <a:tailEnd type="none" w="med" len="med"/>
                    </a:lnL>
                    <a:lnR w="6350" cap="flat" cmpd="sng" algn="ctr">
                      <a:solidFill>
                        <a:srgbClr val="C5D0EC"/>
                      </a:solidFill>
                      <a:prstDash val="solid"/>
                      <a:round/>
                      <a:headEnd type="none" w="med" len="med"/>
                      <a:tailEnd type="none" w="med" len="med"/>
                    </a:lnR>
                    <a:lnT w="6350" cap="flat" cmpd="sng" algn="ctr">
                      <a:solidFill>
                        <a:srgbClr val="C5D0EC"/>
                      </a:solidFill>
                      <a:prstDash val="solid"/>
                      <a:round/>
                      <a:headEnd type="none" w="med" len="med"/>
                      <a:tailEnd type="none" w="med" len="med"/>
                    </a:lnT>
                    <a:lnB w="6350" cap="flat" cmpd="sng" algn="ctr">
                      <a:solidFill>
                        <a:srgbClr val="C5D0EC"/>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4DB6AC"/>
                          </a:solidFill>
                        </a:rPr>
                        <a:t>CNN</a:t>
                      </a:r>
                      <a:endParaRPr lang="en-US" sz="1500" dirty="0"/>
                    </a:p>
                  </a:txBody>
                  <a:tcPr marL="121920" marR="121920" marT="60960" marB="60960">
                    <a:lnL w="6350" cap="flat" cmpd="sng" algn="ctr">
                      <a:solidFill>
                        <a:srgbClr val="C5D0EC"/>
                      </a:solidFill>
                      <a:prstDash val="solid"/>
                      <a:round/>
                      <a:headEnd type="none" w="med" len="med"/>
                      <a:tailEnd type="none" w="med" len="med"/>
                    </a:lnL>
                    <a:lnR w="6350" cap="flat" cmpd="sng" algn="ctr">
                      <a:solidFill>
                        <a:srgbClr val="C5D0EC"/>
                      </a:solidFill>
                      <a:prstDash val="solid"/>
                      <a:round/>
                      <a:headEnd type="none" w="med" len="med"/>
                      <a:tailEnd type="none" w="med" len="med"/>
                    </a:lnR>
                    <a:lnT w="6350" cap="flat" cmpd="sng" algn="ctr">
                      <a:solidFill>
                        <a:srgbClr val="C5D0EC"/>
                      </a:solidFill>
                      <a:prstDash val="solid"/>
                      <a:round/>
                      <a:headEnd type="none" w="med" len="med"/>
                      <a:tailEnd type="none" w="med" len="med"/>
                    </a:lnT>
                    <a:lnB w="6350" cap="flat" cmpd="sng" algn="ctr">
                      <a:solidFill>
                        <a:srgbClr val="C5D0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85216">
                <a:tc>
                  <a:txBody>
                    <a:bodyPr/>
                    <a:lstStyle/>
                    <a:p>
                      <a:pPr marL="0" indent="0" algn="l">
                        <a:buNone/>
                      </a:pPr>
                      <a:r>
                        <a:rPr lang="en-US" sz="1500" dirty="0">
                          <a:solidFill>
                            <a:srgbClr val="1A1A2E"/>
                          </a:solidFill>
                        </a:rPr>
                        <a:t>② Textures</a:t>
                      </a:r>
                      <a:endParaRPr lang="en-US" sz="1500" dirty="0"/>
                    </a:p>
                  </a:txBody>
                  <a:tcPr marL="121920" marR="121920" marT="60960" marB="60960">
                    <a:lnL w="6350" cap="flat" cmpd="sng" algn="ctr">
                      <a:solidFill>
                        <a:srgbClr val="C5D0EC"/>
                      </a:solidFill>
                      <a:prstDash val="solid"/>
                      <a:round/>
                      <a:headEnd type="none" w="med" len="med"/>
                      <a:tailEnd type="none" w="med" len="med"/>
                    </a:lnL>
                    <a:lnR w="6350" cap="flat" cmpd="sng" algn="ctr">
                      <a:solidFill>
                        <a:srgbClr val="C5D0EC"/>
                      </a:solidFill>
                      <a:prstDash val="solid"/>
                      <a:round/>
                      <a:headEnd type="none" w="med" len="med"/>
                      <a:tailEnd type="none" w="med" len="med"/>
                    </a:lnR>
                    <a:lnT w="6350" cap="flat" cmpd="sng" algn="ctr">
                      <a:solidFill>
                        <a:srgbClr val="C5D0EC"/>
                      </a:solidFill>
                      <a:prstDash val="solid"/>
                      <a:round/>
                      <a:headEnd type="none" w="med" len="med"/>
                      <a:tailEnd type="none" w="med" len="med"/>
                    </a:lnT>
                    <a:lnB w="6350" cap="flat" cmpd="sng" algn="ctr">
                      <a:solidFill>
                        <a:srgbClr val="C5D0EC"/>
                      </a:solidFill>
                      <a:prstDash val="solid"/>
                      <a:round/>
                      <a:headEnd type="none" w="med" len="med"/>
                      <a:tailEnd type="none" w="med" len="med"/>
                    </a:lnB>
                    <a:solidFill>
                      <a:srgbClr val="EFF3FC"/>
                    </a:solidFill>
                  </a:tcPr>
                </a:tc>
                <a:tc>
                  <a:txBody>
                    <a:bodyPr/>
                    <a:lstStyle/>
                    <a:p>
                      <a:pPr marL="0" indent="0" algn="ctr">
                        <a:buNone/>
                      </a:pPr>
                      <a:r>
                        <a:rPr lang="en-US" sz="1500" dirty="0">
                          <a:solidFill>
                            <a:srgbClr val="1A1A2E"/>
                          </a:solidFill>
                        </a:rPr>
                        <a:t>CNN &gt; ViT</a:t>
                      </a:r>
                      <a:endParaRPr lang="en-US" sz="1500" dirty="0"/>
                    </a:p>
                  </a:txBody>
                  <a:tcPr marL="121920" marR="121920" marT="60960" marB="60960">
                    <a:lnL w="6350" cap="flat" cmpd="sng" algn="ctr">
                      <a:solidFill>
                        <a:srgbClr val="C5D0EC"/>
                      </a:solidFill>
                      <a:prstDash val="solid"/>
                      <a:round/>
                      <a:headEnd type="none" w="med" len="med"/>
                      <a:tailEnd type="none" w="med" len="med"/>
                    </a:lnL>
                    <a:lnR w="6350" cap="flat" cmpd="sng" algn="ctr">
                      <a:solidFill>
                        <a:srgbClr val="C5D0EC"/>
                      </a:solidFill>
                      <a:prstDash val="solid"/>
                      <a:round/>
                      <a:headEnd type="none" w="med" len="med"/>
                      <a:tailEnd type="none" w="med" len="med"/>
                    </a:lnR>
                    <a:lnT w="6350" cap="flat" cmpd="sng" algn="ctr">
                      <a:solidFill>
                        <a:srgbClr val="C5D0EC"/>
                      </a:solidFill>
                      <a:prstDash val="solid"/>
                      <a:round/>
                      <a:headEnd type="none" w="med" len="med"/>
                      <a:tailEnd type="none" w="med" len="med"/>
                    </a:lnT>
                    <a:lnB w="6350" cap="flat" cmpd="sng" algn="ctr">
                      <a:solidFill>
                        <a:srgbClr val="C5D0EC"/>
                      </a:solidFill>
                      <a:prstDash val="solid"/>
                      <a:round/>
                      <a:headEnd type="none" w="med" len="med"/>
                      <a:tailEnd type="none" w="med" len="med"/>
                    </a:lnB>
                    <a:solidFill>
                      <a:srgbClr val="EFF3FC"/>
                    </a:solidFill>
                  </a:tcPr>
                </a:tc>
                <a:tc>
                  <a:txBody>
                    <a:bodyPr/>
                    <a:lstStyle/>
                    <a:p>
                      <a:pPr marL="0" indent="0" algn="ctr">
                        <a:buNone/>
                      </a:pPr>
                      <a:r>
                        <a:rPr lang="en-US" sz="1500" dirty="0">
                          <a:solidFill>
                            <a:srgbClr val="1A1A2E"/>
                          </a:solidFill>
                        </a:rPr>
                        <a:t>~100 %</a:t>
                      </a:r>
                      <a:endParaRPr lang="en-US" sz="1500" dirty="0"/>
                    </a:p>
                  </a:txBody>
                  <a:tcPr marL="121920" marR="121920" marT="60960" marB="60960">
                    <a:lnL w="6350" cap="flat" cmpd="sng" algn="ctr">
                      <a:solidFill>
                        <a:srgbClr val="C5D0EC"/>
                      </a:solidFill>
                      <a:prstDash val="solid"/>
                      <a:round/>
                      <a:headEnd type="none" w="med" len="med"/>
                      <a:tailEnd type="none" w="med" len="med"/>
                    </a:lnL>
                    <a:lnR w="6350" cap="flat" cmpd="sng" algn="ctr">
                      <a:solidFill>
                        <a:srgbClr val="C5D0EC"/>
                      </a:solidFill>
                      <a:prstDash val="solid"/>
                      <a:round/>
                      <a:headEnd type="none" w="med" len="med"/>
                      <a:tailEnd type="none" w="med" len="med"/>
                    </a:lnR>
                    <a:lnT w="6350" cap="flat" cmpd="sng" algn="ctr">
                      <a:solidFill>
                        <a:srgbClr val="C5D0EC"/>
                      </a:solidFill>
                      <a:prstDash val="solid"/>
                      <a:round/>
                      <a:headEnd type="none" w="med" len="med"/>
                      <a:tailEnd type="none" w="med" len="med"/>
                    </a:lnT>
                    <a:lnB w="6350" cap="flat" cmpd="sng" algn="ctr">
                      <a:solidFill>
                        <a:srgbClr val="C5D0EC"/>
                      </a:solidFill>
                      <a:prstDash val="solid"/>
                      <a:round/>
                      <a:headEnd type="none" w="med" len="med"/>
                      <a:tailEnd type="none" w="med" len="med"/>
                    </a:lnB>
                    <a:solidFill>
                      <a:srgbClr val="EFF3FC"/>
                    </a:solidFill>
                  </a:tcPr>
                </a:tc>
                <a:tc>
                  <a:txBody>
                    <a:bodyPr/>
                    <a:lstStyle/>
                    <a:p>
                      <a:pPr marL="0" indent="0" algn="ctr">
                        <a:buNone/>
                      </a:pPr>
                      <a:r>
                        <a:rPr lang="en-US" sz="1500" dirty="0">
                          <a:solidFill>
                            <a:srgbClr val="1A1A2E"/>
                          </a:solidFill>
                        </a:rPr>
                        <a:t>~100 %</a:t>
                      </a:r>
                      <a:endParaRPr lang="en-US" sz="1500" dirty="0"/>
                    </a:p>
                  </a:txBody>
                  <a:tcPr marL="121920" marR="121920" marT="60960" marB="60960">
                    <a:lnL w="6350" cap="flat" cmpd="sng" algn="ctr">
                      <a:solidFill>
                        <a:srgbClr val="C5D0EC"/>
                      </a:solidFill>
                      <a:prstDash val="solid"/>
                      <a:round/>
                      <a:headEnd type="none" w="med" len="med"/>
                      <a:tailEnd type="none" w="med" len="med"/>
                    </a:lnL>
                    <a:lnR w="6350" cap="flat" cmpd="sng" algn="ctr">
                      <a:solidFill>
                        <a:srgbClr val="C5D0EC"/>
                      </a:solidFill>
                      <a:prstDash val="solid"/>
                      <a:round/>
                      <a:headEnd type="none" w="med" len="med"/>
                      <a:tailEnd type="none" w="med" len="med"/>
                    </a:lnR>
                    <a:lnT w="6350" cap="flat" cmpd="sng" algn="ctr">
                      <a:solidFill>
                        <a:srgbClr val="C5D0EC"/>
                      </a:solidFill>
                      <a:prstDash val="solid"/>
                      <a:round/>
                      <a:headEnd type="none" w="med" len="med"/>
                      <a:tailEnd type="none" w="med" len="med"/>
                    </a:lnT>
                    <a:lnB w="6350" cap="flat" cmpd="sng" algn="ctr">
                      <a:solidFill>
                        <a:srgbClr val="C5D0EC"/>
                      </a:solidFill>
                      <a:prstDash val="solid"/>
                      <a:round/>
                      <a:headEnd type="none" w="med" len="med"/>
                      <a:tailEnd type="none" w="med" len="med"/>
                    </a:lnB>
                    <a:solidFill>
                      <a:srgbClr val="EFF3FC"/>
                    </a:solidFill>
                  </a:tcPr>
                </a:tc>
                <a:tc>
                  <a:txBody>
                    <a:bodyPr/>
                    <a:lstStyle/>
                    <a:p>
                      <a:pPr marL="0" indent="0" algn="ctr">
                        <a:buNone/>
                      </a:pPr>
                      <a:r>
                        <a:rPr lang="en-US" sz="1500" b="1" dirty="0">
                          <a:solidFill>
                            <a:srgbClr val="4A5480"/>
                          </a:solidFill>
                        </a:rPr>
                        <a:t>Égalité</a:t>
                      </a:r>
                      <a:endParaRPr lang="en-US" sz="1500" dirty="0"/>
                    </a:p>
                  </a:txBody>
                  <a:tcPr marL="121920" marR="121920" marT="60960" marB="60960">
                    <a:lnL w="6350" cap="flat" cmpd="sng" algn="ctr">
                      <a:solidFill>
                        <a:srgbClr val="C5D0EC"/>
                      </a:solidFill>
                      <a:prstDash val="solid"/>
                      <a:round/>
                      <a:headEnd type="none" w="med" len="med"/>
                      <a:tailEnd type="none" w="med" len="med"/>
                    </a:lnL>
                    <a:lnR w="6350" cap="flat" cmpd="sng" algn="ctr">
                      <a:solidFill>
                        <a:srgbClr val="C5D0EC"/>
                      </a:solidFill>
                      <a:prstDash val="solid"/>
                      <a:round/>
                      <a:headEnd type="none" w="med" len="med"/>
                      <a:tailEnd type="none" w="med" len="med"/>
                    </a:lnR>
                    <a:lnT w="6350" cap="flat" cmpd="sng" algn="ctr">
                      <a:solidFill>
                        <a:srgbClr val="C5D0EC"/>
                      </a:solidFill>
                      <a:prstDash val="solid"/>
                      <a:round/>
                      <a:headEnd type="none" w="med" len="med"/>
                      <a:tailEnd type="none" w="med" len="med"/>
                    </a:lnT>
                    <a:lnB w="6350" cap="flat" cmpd="sng" algn="ctr">
                      <a:solidFill>
                        <a:srgbClr val="C5D0EC"/>
                      </a:solidFill>
                      <a:prstDash val="solid"/>
                      <a:round/>
                      <a:headEnd type="none" w="med" len="med"/>
                      <a:tailEnd type="none" w="med" len="med"/>
                    </a:lnB>
                    <a:solidFill>
                      <a:srgbClr val="EFF3FC"/>
                    </a:solidFill>
                  </a:tcPr>
                </a:tc>
                <a:extLst>
                  <a:ext uri="{0D108BD9-81ED-4DB2-BD59-A6C34878D82A}">
                    <a16:rowId xmlns:a16="http://schemas.microsoft.com/office/drawing/2014/main" val="10002"/>
                  </a:ext>
                </a:extLst>
              </a:tr>
              <a:tr h="585216">
                <a:tc>
                  <a:txBody>
                    <a:bodyPr/>
                    <a:lstStyle/>
                    <a:p>
                      <a:pPr marL="0" indent="0" algn="l">
                        <a:buNone/>
                      </a:pPr>
                      <a:r>
                        <a:rPr lang="en-US" sz="1500" dirty="0">
                          <a:solidFill>
                            <a:srgbClr val="1A1A2E"/>
                          </a:solidFill>
                        </a:rPr>
                        <a:t>③ Relations spatiales</a:t>
                      </a:r>
                      <a:endParaRPr lang="en-US" sz="1500" dirty="0"/>
                    </a:p>
                  </a:txBody>
                  <a:tcPr marL="121920" marR="121920" marT="60960" marB="60960">
                    <a:lnL w="6350" cap="flat" cmpd="sng" algn="ctr">
                      <a:solidFill>
                        <a:srgbClr val="C5D0EC"/>
                      </a:solidFill>
                      <a:prstDash val="solid"/>
                      <a:round/>
                      <a:headEnd type="none" w="med" len="med"/>
                      <a:tailEnd type="none" w="med" len="med"/>
                    </a:lnL>
                    <a:lnR w="6350" cap="flat" cmpd="sng" algn="ctr">
                      <a:solidFill>
                        <a:srgbClr val="C5D0EC"/>
                      </a:solidFill>
                      <a:prstDash val="solid"/>
                      <a:round/>
                      <a:headEnd type="none" w="med" len="med"/>
                      <a:tailEnd type="none" w="med" len="med"/>
                    </a:lnR>
                    <a:lnT w="6350" cap="flat" cmpd="sng" algn="ctr">
                      <a:solidFill>
                        <a:srgbClr val="C5D0EC"/>
                      </a:solidFill>
                      <a:prstDash val="solid"/>
                      <a:round/>
                      <a:headEnd type="none" w="med" len="med"/>
                      <a:tailEnd type="none" w="med" len="med"/>
                    </a:lnT>
                    <a:lnB w="6350" cap="flat" cmpd="sng" algn="ctr">
                      <a:solidFill>
                        <a:srgbClr val="C5D0EC"/>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A1A2E"/>
                          </a:solidFill>
                        </a:rPr>
                        <a:t>CNN &gt; ViT</a:t>
                      </a:r>
                      <a:endParaRPr lang="en-US" sz="1500" dirty="0"/>
                    </a:p>
                  </a:txBody>
                  <a:tcPr marL="121920" marR="121920" marT="60960" marB="60960">
                    <a:lnL w="6350" cap="flat" cmpd="sng" algn="ctr">
                      <a:solidFill>
                        <a:srgbClr val="C5D0EC"/>
                      </a:solidFill>
                      <a:prstDash val="solid"/>
                      <a:round/>
                      <a:headEnd type="none" w="med" len="med"/>
                      <a:tailEnd type="none" w="med" len="med"/>
                    </a:lnL>
                    <a:lnR w="6350" cap="flat" cmpd="sng" algn="ctr">
                      <a:solidFill>
                        <a:srgbClr val="C5D0EC"/>
                      </a:solidFill>
                      <a:prstDash val="solid"/>
                      <a:round/>
                      <a:headEnd type="none" w="med" len="med"/>
                      <a:tailEnd type="none" w="med" len="med"/>
                    </a:lnR>
                    <a:lnT w="6350" cap="flat" cmpd="sng" algn="ctr">
                      <a:solidFill>
                        <a:srgbClr val="C5D0EC"/>
                      </a:solidFill>
                      <a:prstDash val="solid"/>
                      <a:round/>
                      <a:headEnd type="none" w="med" len="med"/>
                      <a:tailEnd type="none" w="med" len="med"/>
                    </a:lnT>
                    <a:lnB w="6350" cap="flat" cmpd="sng" algn="ctr">
                      <a:solidFill>
                        <a:srgbClr val="C5D0EC"/>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A1A2E"/>
                          </a:solidFill>
                        </a:rPr>
                        <a:t>85,2 %</a:t>
                      </a:r>
                      <a:endParaRPr lang="en-US" sz="1500" dirty="0"/>
                    </a:p>
                  </a:txBody>
                  <a:tcPr marL="121920" marR="121920" marT="60960" marB="60960">
                    <a:lnL w="6350" cap="flat" cmpd="sng" algn="ctr">
                      <a:solidFill>
                        <a:srgbClr val="C5D0EC"/>
                      </a:solidFill>
                      <a:prstDash val="solid"/>
                      <a:round/>
                      <a:headEnd type="none" w="med" len="med"/>
                      <a:tailEnd type="none" w="med" len="med"/>
                    </a:lnL>
                    <a:lnR w="6350" cap="flat" cmpd="sng" algn="ctr">
                      <a:solidFill>
                        <a:srgbClr val="C5D0EC"/>
                      </a:solidFill>
                      <a:prstDash val="solid"/>
                      <a:round/>
                      <a:headEnd type="none" w="med" len="med"/>
                      <a:tailEnd type="none" w="med" len="med"/>
                    </a:lnR>
                    <a:lnT w="6350" cap="flat" cmpd="sng" algn="ctr">
                      <a:solidFill>
                        <a:srgbClr val="C5D0EC"/>
                      </a:solidFill>
                      <a:prstDash val="solid"/>
                      <a:round/>
                      <a:headEnd type="none" w="med" len="med"/>
                      <a:tailEnd type="none" w="med" len="med"/>
                    </a:lnT>
                    <a:lnB w="6350" cap="flat" cmpd="sng" algn="ctr">
                      <a:solidFill>
                        <a:srgbClr val="C5D0EC"/>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A1A2E"/>
                          </a:solidFill>
                        </a:rPr>
                        <a:t>36,7 %</a:t>
                      </a:r>
                      <a:endParaRPr lang="en-US" sz="1500" dirty="0"/>
                    </a:p>
                  </a:txBody>
                  <a:tcPr marL="121920" marR="121920" marT="60960" marB="60960">
                    <a:lnL w="6350" cap="flat" cmpd="sng" algn="ctr">
                      <a:solidFill>
                        <a:srgbClr val="C5D0EC"/>
                      </a:solidFill>
                      <a:prstDash val="solid"/>
                      <a:round/>
                      <a:headEnd type="none" w="med" len="med"/>
                      <a:tailEnd type="none" w="med" len="med"/>
                    </a:lnL>
                    <a:lnR w="6350" cap="flat" cmpd="sng" algn="ctr">
                      <a:solidFill>
                        <a:srgbClr val="C5D0EC"/>
                      </a:solidFill>
                      <a:prstDash val="solid"/>
                      <a:round/>
                      <a:headEnd type="none" w="med" len="med"/>
                      <a:tailEnd type="none" w="med" len="med"/>
                    </a:lnR>
                    <a:lnT w="6350" cap="flat" cmpd="sng" algn="ctr">
                      <a:solidFill>
                        <a:srgbClr val="C5D0EC"/>
                      </a:solidFill>
                      <a:prstDash val="solid"/>
                      <a:round/>
                      <a:headEnd type="none" w="med" len="med"/>
                      <a:tailEnd type="none" w="med" len="med"/>
                    </a:lnT>
                    <a:lnB w="6350" cap="flat" cmpd="sng" algn="ctr">
                      <a:solidFill>
                        <a:srgbClr val="C5D0EC"/>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4DB6AC"/>
                          </a:solidFill>
                        </a:rPr>
                        <a:t>CNN</a:t>
                      </a:r>
                      <a:endParaRPr lang="en-US" sz="1500" dirty="0"/>
                    </a:p>
                  </a:txBody>
                  <a:tcPr marL="121920" marR="121920" marT="60960" marB="60960">
                    <a:lnL w="6350" cap="flat" cmpd="sng" algn="ctr">
                      <a:solidFill>
                        <a:srgbClr val="C5D0EC"/>
                      </a:solidFill>
                      <a:prstDash val="solid"/>
                      <a:round/>
                      <a:headEnd type="none" w="med" len="med"/>
                      <a:tailEnd type="none" w="med" len="med"/>
                    </a:lnL>
                    <a:lnR w="6350" cap="flat" cmpd="sng" algn="ctr">
                      <a:solidFill>
                        <a:srgbClr val="C5D0EC"/>
                      </a:solidFill>
                      <a:prstDash val="solid"/>
                      <a:round/>
                      <a:headEnd type="none" w="med" len="med"/>
                      <a:tailEnd type="none" w="med" len="med"/>
                    </a:lnR>
                    <a:lnT w="6350" cap="flat" cmpd="sng" algn="ctr">
                      <a:solidFill>
                        <a:srgbClr val="C5D0EC"/>
                      </a:solidFill>
                      <a:prstDash val="solid"/>
                      <a:round/>
                      <a:headEnd type="none" w="med" len="med"/>
                      <a:tailEnd type="none" w="med" len="med"/>
                    </a:lnT>
                    <a:lnB w="6350" cap="flat" cmpd="sng" algn="ctr">
                      <a:solidFill>
                        <a:srgbClr val="C5D0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85216">
                <a:tc>
                  <a:txBody>
                    <a:bodyPr/>
                    <a:lstStyle/>
                    <a:p>
                      <a:pPr marL="0" indent="0" algn="l">
                        <a:buNone/>
                      </a:pPr>
                      <a:r>
                        <a:rPr lang="en-US" sz="1500" dirty="0">
                          <a:solidFill>
                            <a:srgbClr val="1A1A2E"/>
                          </a:solidFill>
                        </a:rPr>
                        <a:t>④ Interactions globales</a:t>
                      </a:r>
                      <a:endParaRPr lang="en-US" sz="1500" dirty="0"/>
                    </a:p>
                  </a:txBody>
                  <a:tcPr marL="121920" marR="121920" marT="60960" marB="60960">
                    <a:lnL w="6350" cap="flat" cmpd="sng" algn="ctr">
                      <a:solidFill>
                        <a:srgbClr val="C5D0EC"/>
                      </a:solidFill>
                      <a:prstDash val="solid"/>
                      <a:round/>
                      <a:headEnd type="none" w="med" len="med"/>
                      <a:tailEnd type="none" w="med" len="med"/>
                    </a:lnL>
                    <a:lnR w="6350" cap="flat" cmpd="sng" algn="ctr">
                      <a:solidFill>
                        <a:srgbClr val="C5D0EC"/>
                      </a:solidFill>
                      <a:prstDash val="solid"/>
                      <a:round/>
                      <a:headEnd type="none" w="med" len="med"/>
                      <a:tailEnd type="none" w="med" len="med"/>
                    </a:lnR>
                    <a:lnT w="6350" cap="flat" cmpd="sng" algn="ctr">
                      <a:solidFill>
                        <a:srgbClr val="C5D0EC"/>
                      </a:solidFill>
                      <a:prstDash val="solid"/>
                      <a:round/>
                      <a:headEnd type="none" w="med" len="med"/>
                      <a:tailEnd type="none" w="med" len="med"/>
                    </a:lnT>
                    <a:lnB w="6350" cap="flat" cmpd="sng" algn="ctr">
                      <a:solidFill>
                        <a:srgbClr val="C5D0EC"/>
                      </a:solidFill>
                      <a:prstDash val="solid"/>
                      <a:round/>
                      <a:headEnd type="none" w="med" len="med"/>
                      <a:tailEnd type="none" w="med" len="med"/>
                    </a:lnB>
                    <a:solidFill>
                      <a:srgbClr val="EFF3FC"/>
                    </a:solidFill>
                  </a:tcPr>
                </a:tc>
                <a:tc>
                  <a:txBody>
                    <a:bodyPr/>
                    <a:lstStyle/>
                    <a:p>
                      <a:pPr marL="0" indent="0" algn="ctr">
                        <a:buNone/>
                      </a:pPr>
                      <a:r>
                        <a:rPr lang="en-US" sz="1500" dirty="0">
                          <a:solidFill>
                            <a:srgbClr val="1A1A2E"/>
                          </a:solidFill>
                        </a:rPr>
                        <a:t>ViT &gt; CNN</a:t>
                      </a:r>
                      <a:endParaRPr lang="en-US" sz="1500" dirty="0"/>
                    </a:p>
                  </a:txBody>
                  <a:tcPr marL="121920" marR="121920" marT="60960" marB="60960">
                    <a:lnL w="6350" cap="flat" cmpd="sng" algn="ctr">
                      <a:solidFill>
                        <a:srgbClr val="C5D0EC"/>
                      </a:solidFill>
                      <a:prstDash val="solid"/>
                      <a:round/>
                      <a:headEnd type="none" w="med" len="med"/>
                      <a:tailEnd type="none" w="med" len="med"/>
                    </a:lnL>
                    <a:lnR w="6350" cap="flat" cmpd="sng" algn="ctr">
                      <a:solidFill>
                        <a:srgbClr val="C5D0EC"/>
                      </a:solidFill>
                      <a:prstDash val="solid"/>
                      <a:round/>
                      <a:headEnd type="none" w="med" len="med"/>
                      <a:tailEnd type="none" w="med" len="med"/>
                    </a:lnR>
                    <a:lnT w="6350" cap="flat" cmpd="sng" algn="ctr">
                      <a:solidFill>
                        <a:srgbClr val="C5D0EC"/>
                      </a:solidFill>
                      <a:prstDash val="solid"/>
                      <a:round/>
                      <a:headEnd type="none" w="med" len="med"/>
                      <a:tailEnd type="none" w="med" len="med"/>
                    </a:lnT>
                    <a:lnB w="6350" cap="flat" cmpd="sng" algn="ctr">
                      <a:solidFill>
                        <a:srgbClr val="C5D0EC"/>
                      </a:solidFill>
                      <a:prstDash val="solid"/>
                      <a:round/>
                      <a:headEnd type="none" w="med" len="med"/>
                      <a:tailEnd type="none" w="med" len="med"/>
                    </a:lnB>
                    <a:solidFill>
                      <a:srgbClr val="EFF3FC"/>
                    </a:solidFill>
                  </a:tcPr>
                </a:tc>
                <a:tc>
                  <a:txBody>
                    <a:bodyPr/>
                    <a:lstStyle/>
                    <a:p>
                      <a:pPr marL="0" indent="0" algn="ctr">
                        <a:buNone/>
                      </a:pPr>
                      <a:r>
                        <a:rPr lang="en-US" sz="1500" dirty="0">
                          <a:solidFill>
                            <a:srgbClr val="1A1A2E"/>
                          </a:solidFill>
                        </a:rPr>
                        <a:t>~52 %</a:t>
                      </a:r>
                      <a:endParaRPr lang="en-US" sz="1500" dirty="0"/>
                    </a:p>
                  </a:txBody>
                  <a:tcPr marL="121920" marR="121920" marT="60960" marB="60960">
                    <a:lnL w="6350" cap="flat" cmpd="sng" algn="ctr">
                      <a:solidFill>
                        <a:srgbClr val="C5D0EC"/>
                      </a:solidFill>
                      <a:prstDash val="solid"/>
                      <a:round/>
                      <a:headEnd type="none" w="med" len="med"/>
                      <a:tailEnd type="none" w="med" len="med"/>
                    </a:lnL>
                    <a:lnR w="6350" cap="flat" cmpd="sng" algn="ctr">
                      <a:solidFill>
                        <a:srgbClr val="C5D0EC"/>
                      </a:solidFill>
                      <a:prstDash val="solid"/>
                      <a:round/>
                      <a:headEnd type="none" w="med" len="med"/>
                      <a:tailEnd type="none" w="med" len="med"/>
                    </a:lnR>
                    <a:lnT w="6350" cap="flat" cmpd="sng" algn="ctr">
                      <a:solidFill>
                        <a:srgbClr val="C5D0EC"/>
                      </a:solidFill>
                      <a:prstDash val="solid"/>
                      <a:round/>
                      <a:headEnd type="none" w="med" len="med"/>
                      <a:tailEnd type="none" w="med" len="med"/>
                    </a:lnT>
                    <a:lnB w="6350" cap="flat" cmpd="sng" algn="ctr">
                      <a:solidFill>
                        <a:srgbClr val="C5D0EC"/>
                      </a:solidFill>
                      <a:prstDash val="solid"/>
                      <a:round/>
                      <a:headEnd type="none" w="med" len="med"/>
                      <a:tailEnd type="none" w="med" len="med"/>
                    </a:lnB>
                    <a:solidFill>
                      <a:srgbClr val="EFF3FC"/>
                    </a:solidFill>
                  </a:tcPr>
                </a:tc>
                <a:tc>
                  <a:txBody>
                    <a:bodyPr/>
                    <a:lstStyle/>
                    <a:p>
                      <a:pPr marL="0" indent="0" algn="ctr">
                        <a:buNone/>
                      </a:pPr>
                      <a:r>
                        <a:rPr lang="en-US" sz="1500" dirty="0">
                          <a:solidFill>
                            <a:srgbClr val="1A1A2E"/>
                          </a:solidFill>
                        </a:rPr>
                        <a:t>~50 %</a:t>
                      </a:r>
                      <a:endParaRPr lang="en-US" sz="1500" dirty="0"/>
                    </a:p>
                  </a:txBody>
                  <a:tcPr marL="121920" marR="121920" marT="60960" marB="60960">
                    <a:lnL w="6350" cap="flat" cmpd="sng" algn="ctr">
                      <a:solidFill>
                        <a:srgbClr val="C5D0EC"/>
                      </a:solidFill>
                      <a:prstDash val="solid"/>
                      <a:round/>
                      <a:headEnd type="none" w="med" len="med"/>
                      <a:tailEnd type="none" w="med" len="med"/>
                    </a:lnL>
                    <a:lnR w="6350" cap="flat" cmpd="sng" algn="ctr">
                      <a:solidFill>
                        <a:srgbClr val="C5D0EC"/>
                      </a:solidFill>
                      <a:prstDash val="solid"/>
                      <a:round/>
                      <a:headEnd type="none" w="med" len="med"/>
                      <a:tailEnd type="none" w="med" len="med"/>
                    </a:lnR>
                    <a:lnT w="6350" cap="flat" cmpd="sng" algn="ctr">
                      <a:solidFill>
                        <a:srgbClr val="C5D0EC"/>
                      </a:solidFill>
                      <a:prstDash val="solid"/>
                      <a:round/>
                      <a:headEnd type="none" w="med" len="med"/>
                      <a:tailEnd type="none" w="med" len="med"/>
                    </a:lnT>
                    <a:lnB w="6350" cap="flat" cmpd="sng" algn="ctr">
                      <a:solidFill>
                        <a:srgbClr val="C5D0EC"/>
                      </a:solidFill>
                      <a:prstDash val="solid"/>
                      <a:round/>
                      <a:headEnd type="none" w="med" len="med"/>
                      <a:tailEnd type="none" w="med" len="med"/>
                    </a:lnB>
                    <a:solidFill>
                      <a:srgbClr val="EFF3FC"/>
                    </a:solidFill>
                  </a:tcPr>
                </a:tc>
                <a:tc>
                  <a:txBody>
                    <a:bodyPr/>
                    <a:lstStyle/>
                    <a:p>
                      <a:pPr marL="0" indent="0" algn="ctr">
                        <a:buNone/>
                      </a:pPr>
                      <a:r>
                        <a:rPr lang="en-US" sz="1500" b="1" dirty="0">
                          <a:solidFill>
                            <a:srgbClr val="4A5480"/>
                          </a:solidFill>
                        </a:rPr>
                        <a:t>Aucun</a:t>
                      </a:r>
                      <a:endParaRPr lang="en-US" sz="1500" dirty="0"/>
                    </a:p>
                  </a:txBody>
                  <a:tcPr marL="121920" marR="121920" marT="60960" marB="60960">
                    <a:lnL w="6350" cap="flat" cmpd="sng" algn="ctr">
                      <a:solidFill>
                        <a:srgbClr val="C5D0EC"/>
                      </a:solidFill>
                      <a:prstDash val="solid"/>
                      <a:round/>
                      <a:headEnd type="none" w="med" len="med"/>
                      <a:tailEnd type="none" w="med" len="med"/>
                    </a:lnL>
                    <a:lnR w="6350" cap="flat" cmpd="sng" algn="ctr">
                      <a:solidFill>
                        <a:srgbClr val="C5D0EC"/>
                      </a:solidFill>
                      <a:prstDash val="solid"/>
                      <a:round/>
                      <a:headEnd type="none" w="med" len="med"/>
                      <a:tailEnd type="none" w="med" len="med"/>
                    </a:lnR>
                    <a:lnT w="6350" cap="flat" cmpd="sng" algn="ctr">
                      <a:solidFill>
                        <a:srgbClr val="C5D0EC"/>
                      </a:solidFill>
                      <a:prstDash val="solid"/>
                      <a:round/>
                      <a:headEnd type="none" w="med" len="med"/>
                      <a:tailEnd type="none" w="med" len="med"/>
                    </a:lnT>
                    <a:lnB w="6350" cap="flat" cmpd="sng" algn="ctr">
                      <a:solidFill>
                        <a:srgbClr val="C5D0EC"/>
                      </a:solidFill>
                      <a:prstDash val="solid"/>
                      <a:round/>
                      <a:headEnd type="none" w="med" len="med"/>
                      <a:tailEnd type="none" w="med" len="med"/>
                    </a:lnB>
                    <a:solidFill>
                      <a:srgbClr val="EFF3FC"/>
                    </a:solidFill>
                  </a:tcPr>
                </a:tc>
                <a:extLst>
                  <a:ext uri="{0D108BD9-81ED-4DB2-BD59-A6C34878D82A}">
                    <a16:rowId xmlns:a16="http://schemas.microsoft.com/office/drawing/2014/main" val="10004"/>
                  </a:ext>
                </a:extLst>
              </a:tr>
            </a:tbl>
          </a:graphicData>
        </a:graphic>
      </p:graphicFrame>
      <p:sp>
        <p:nvSpPr>
          <p:cNvPr id="5" name="Shape 2"/>
          <p:cNvSpPr/>
          <p:nvPr/>
        </p:nvSpPr>
        <p:spPr>
          <a:xfrm>
            <a:off x="365760" y="4511040"/>
            <a:ext cx="11460480" cy="1889760"/>
          </a:xfrm>
          <a:prstGeom prst="rect">
            <a:avLst/>
          </a:prstGeom>
          <a:solidFill>
            <a:srgbClr val="1C2B5E"/>
          </a:solidFill>
          <a:ln w="12700">
            <a:solidFill>
              <a:srgbClr val="1C2B5E"/>
            </a:solidFill>
            <a:prstDash val="solid"/>
          </a:ln>
        </p:spPr>
        <p:txBody>
          <a:bodyPr/>
          <a:lstStyle/>
          <a:p>
            <a:endParaRPr lang="fr-FR" sz="2400"/>
          </a:p>
        </p:txBody>
      </p:sp>
      <p:sp>
        <p:nvSpPr>
          <p:cNvPr id="6" name="Text 3"/>
          <p:cNvSpPr/>
          <p:nvPr/>
        </p:nvSpPr>
        <p:spPr>
          <a:xfrm>
            <a:off x="670560" y="4572000"/>
            <a:ext cx="10850880" cy="1706880"/>
          </a:xfrm>
          <a:prstGeom prst="rect">
            <a:avLst/>
          </a:prstGeom>
          <a:noFill/>
          <a:ln/>
        </p:spPr>
        <p:txBody>
          <a:bodyPr wrap="square" rtlCol="0" anchor="ctr"/>
          <a:lstStyle/>
          <a:p>
            <a:r>
              <a:rPr lang="en-US" sz="1733" b="1" dirty="0">
                <a:solidFill>
                  <a:srgbClr val="FFFFFF"/>
                </a:solidFill>
              </a:rPr>
              <a:t>Conclusion générale
</a:t>
            </a:r>
            <a:endParaRPr lang="en-US" sz="1733" dirty="0"/>
          </a:p>
          <a:p>
            <a:r>
              <a:rPr lang="en-US" sz="1467" dirty="0">
                <a:solidFill>
                  <a:srgbClr val="C5D0EC"/>
                </a:solidFill>
              </a:rPr>
              <a:t>Les CNN se révèlent plus efficaces dans les régimes de faibles données et sur les tâches structurées localement. Les ViT dépendent fortement du pré-entraînement et de son alignement avec la tâche cible.</a:t>
            </a:r>
            <a:endParaRPr lang="en-US" sz="1733" dirty="0"/>
          </a:p>
        </p:txBody>
      </p:sp>
      <p:sp>
        <p:nvSpPr>
          <p:cNvPr id="7" name="Shape 4"/>
          <p:cNvSpPr/>
          <p:nvPr/>
        </p:nvSpPr>
        <p:spPr>
          <a:xfrm>
            <a:off x="5120640" y="6486144"/>
            <a:ext cx="1950720" cy="0"/>
          </a:xfrm>
          <a:prstGeom prst="line">
            <a:avLst/>
          </a:prstGeom>
          <a:noFill/>
          <a:ln w="25400">
            <a:solidFill>
              <a:srgbClr val="2E3F7F"/>
            </a:solidFill>
            <a:prstDash val="solid"/>
          </a:ln>
        </p:spPr>
        <p:txBody>
          <a:bodyPr/>
          <a:lstStyle/>
          <a:p>
            <a:endParaRPr lang="fr-FR" sz="2400"/>
          </a:p>
        </p:txBody>
      </p:sp>
      <p:sp>
        <p:nvSpPr>
          <p:cNvPr id="8" name="Text 5"/>
          <p:cNvSpPr/>
          <p:nvPr/>
        </p:nvSpPr>
        <p:spPr>
          <a:xfrm>
            <a:off x="6949440" y="6364224"/>
            <a:ext cx="304800" cy="243840"/>
          </a:xfrm>
          <a:prstGeom prst="rect">
            <a:avLst/>
          </a:prstGeom>
          <a:noFill/>
          <a:ln/>
        </p:spPr>
        <p:txBody>
          <a:bodyPr wrap="square" rtlCol="0" anchor="ctr"/>
          <a:lstStyle/>
          <a:p>
            <a:r>
              <a:rPr lang="en-US" sz="1067" dirty="0">
                <a:solidFill>
                  <a:srgbClr val="2E3F7F"/>
                </a:solidFill>
              </a:rPr>
              <a:t>▶</a:t>
            </a:r>
            <a:endParaRPr lang="en-US" sz="1067" dirty="0"/>
          </a:p>
        </p:txBody>
      </p:sp>
      <p:sp>
        <p:nvSpPr>
          <p:cNvPr id="9" name="Text 6"/>
          <p:cNvSpPr/>
          <p:nvPr/>
        </p:nvSpPr>
        <p:spPr>
          <a:xfrm>
            <a:off x="10728960" y="6400800"/>
            <a:ext cx="1219200" cy="365760"/>
          </a:xfrm>
          <a:prstGeom prst="rect">
            <a:avLst/>
          </a:prstGeom>
          <a:noFill/>
          <a:ln/>
        </p:spPr>
        <p:txBody>
          <a:bodyPr wrap="square" rtlCol="0" anchor="ctr"/>
          <a:lstStyle/>
          <a:p>
            <a:pPr algn="r"/>
            <a:r>
              <a:rPr lang="en-US" sz="1333" dirty="0">
                <a:solidFill>
                  <a:srgbClr val="4A5480"/>
                </a:solidFill>
              </a:rPr>
              <a:t>10/13</a:t>
            </a:r>
            <a:endParaRPr lang="en-US" sz="1333"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C2B5E"/>
          </a:solidFill>
          <a:ln w="12700">
            <a:solidFill>
              <a:srgbClr val="1C2B5E"/>
            </a:solidFill>
            <a:prstDash val="solid"/>
          </a:ln>
        </p:spPr>
        <p:txBody>
          <a:bodyPr/>
          <a:lstStyle/>
          <a:p>
            <a:endParaRPr lang="fr-FR" sz="2400"/>
          </a:p>
        </p:txBody>
      </p:sp>
      <p:sp>
        <p:nvSpPr>
          <p:cNvPr id="3" name="Text 1"/>
          <p:cNvSpPr/>
          <p:nvPr/>
        </p:nvSpPr>
        <p:spPr>
          <a:xfrm>
            <a:off x="548640" y="0"/>
            <a:ext cx="10972800" cy="1036320"/>
          </a:xfrm>
          <a:prstGeom prst="rect">
            <a:avLst/>
          </a:prstGeom>
          <a:noFill/>
          <a:ln/>
        </p:spPr>
        <p:txBody>
          <a:bodyPr wrap="square" lIns="0" tIns="0" rIns="0" bIns="0" rtlCol="0" anchor="ctr"/>
          <a:lstStyle/>
          <a:p>
            <a:r>
              <a:rPr lang="en-US" sz="2933" b="1" dirty="0">
                <a:solidFill>
                  <a:srgbClr val="FFFFFF"/>
                </a:solidFill>
              </a:rPr>
              <a:t>DISCUSSION DES RÉSULTATS</a:t>
            </a:r>
            <a:endParaRPr lang="en-US" sz="2933" dirty="0"/>
          </a:p>
        </p:txBody>
      </p:sp>
      <p:sp>
        <p:nvSpPr>
          <p:cNvPr id="4" name="Shape 2"/>
          <p:cNvSpPr/>
          <p:nvPr/>
        </p:nvSpPr>
        <p:spPr>
          <a:xfrm>
            <a:off x="365760" y="1280160"/>
            <a:ext cx="3596640" cy="4511040"/>
          </a:xfrm>
          <a:prstGeom prst="rect">
            <a:avLst/>
          </a:prstGeom>
          <a:solidFill>
            <a:srgbClr val="FFFFFF"/>
          </a:solidFill>
          <a:ln w="12700">
            <a:solidFill>
              <a:srgbClr val="C5D0EC"/>
            </a:solidFill>
            <a:prstDash val="solid"/>
          </a:ln>
          <a:effectLst>
            <a:outerShdw blurRad="63500" dist="25400" dir="8100000" algn="bl" rotWithShape="0">
              <a:srgbClr val="000000">
                <a:alpha val="9000"/>
              </a:srgbClr>
            </a:outerShdw>
          </a:effectLst>
        </p:spPr>
        <p:txBody>
          <a:bodyPr/>
          <a:lstStyle/>
          <a:p>
            <a:endParaRPr lang="fr-FR" sz="2400"/>
          </a:p>
        </p:txBody>
      </p:sp>
      <p:sp>
        <p:nvSpPr>
          <p:cNvPr id="5" name="Shape 3"/>
          <p:cNvSpPr/>
          <p:nvPr/>
        </p:nvSpPr>
        <p:spPr>
          <a:xfrm>
            <a:off x="365760" y="1280160"/>
            <a:ext cx="3596640" cy="548640"/>
          </a:xfrm>
          <a:prstGeom prst="rect">
            <a:avLst/>
          </a:prstGeom>
          <a:solidFill>
            <a:srgbClr val="5B73B8"/>
          </a:solidFill>
          <a:ln w="12700">
            <a:solidFill>
              <a:srgbClr val="5B73B8"/>
            </a:solidFill>
            <a:prstDash val="solid"/>
          </a:ln>
        </p:spPr>
        <p:txBody>
          <a:bodyPr/>
          <a:lstStyle/>
          <a:p>
            <a:endParaRPr lang="fr-FR" sz="2400"/>
          </a:p>
        </p:txBody>
      </p:sp>
      <p:sp>
        <p:nvSpPr>
          <p:cNvPr id="6" name="Text 4"/>
          <p:cNvSpPr/>
          <p:nvPr/>
        </p:nvSpPr>
        <p:spPr>
          <a:xfrm>
            <a:off x="365760" y="1280160"/>
            <a:ext cx="3596640" cy="548640"/>
          </a:xfrm>
          <a:prstGeom prst="rect">
            <a:avLst/>
          </a:prstGeom>
          <a:noFill/>
          <a:ln/>
        </p:spPr>
        <p:txBody>
          <a:bodyPr wrap="square" lIns="0" tIns="0" rIns="0" bIns="0" rtlCol="0" anchor="ctr"/>
          <a:lstStyle/>
          <a:p>
            <a:pPr algn="ctr"/>
            <a:r>
              <a:rPr lang="en-US" sz="1600" b="1" dirty="0">
                <a:solidFill>
                  <a:srgbClr val="FFFFFF"/>
                </a:solidFill>
              </a:rPr>
              <a:t>Biais inductifs</a:t>
            </a:r>
            <a:endParaRPr lang="en-US" sz="1600" dirty="0"/>
          </a:p>
        </p:txBody>
      </p:sp>
      <p:sp>
        <p:nvSpPr>
          <p:cNvPr id="7" name="Text 5"/>
          <p:cNvSpPr/>
          <p:nvPr/>
        </p:nvSpPr>
        <p:spPr>
          <a:xfrm>
            <a:off x="487680" y="1950720"/>
            <a:ext cx="3352800" cy="3535680"/>
          </a:xfrm>
          <a:prstGeom prst="rect">
            <a:avLst/>
          </a:prstGeom>
          <a:noFill/>
          <a:ln/>
        </p:spPr>
        <p:txBody>
          <a:bodyPr wrap="square" rtlCol="0" anchor="t"/>
          <a:lstStyle/>
          <a:p>
            <a:r>
              <a:rPr lang="en-US" sz="1467" dirty="0">
                <a:solidFill>
                  <a:srgbClr val="1A1A2E"/>
                </a:solidFill>
              </a:rPr>
              <a:t>Les CNN bénéficient d'heuristiques de localité et d'invariance en translation intégrées dans l'architecture. Ce biais est un avantage sur données limitées, mais peut devenir une limite sur des tâches nécessitant un raisonnement global.</a:t>
            </a:r>
            <a:endParaRPr lang="en-US" sz="1467" dirty="0"/>
          </a:p>
        </p:txBody>
      </p:sp>
      <p:sp>
        <p:nvSpPr>
          <p:cNvPr id="8" name="Shape 6"/>
          <p:cNvSpPr/>
          <p:nvPr/>
        </p:nvSpPr>
        <p:spPr>
          <a:xfrm>
            <a:off x="4267200" y="1280160"/>
            <a:ext cx="3596640" cy="4511040"/>
          </a:xfrm>
          <a:prstGeom prst="rect">
            <a:avLst/>
          </a:prstGeom>
          <a:solidFill>
            <a:srgbClr val="FFFFFF"/>
          </a:solidFill>
          <a:ln w="12700">
            <a:solidFill>
              <a:srgbClr val="C5D0EC"/>
            </a:solidFill>
            <a:prstDash val="solid"/>
          </a:ln>
          <a:effectLst>
            <a:outerShdw blurRad="63500" dist="25400" dir="8100000" algn="bl" rotWithShape="0">
              <a:srgbClr val="000000">
                <a:alpha val="9000"/>
              </a:srgbClr>
            </a:outerShdw>
          </a:effectLst>
        </p:spPr>
        <p:txBody>
          <a:bodyPr/>
          <a:lstStyle/>
          <a:p>
            <a:endParaRPr lang="fr-FR" sz="2400"/>
          </a:p>
        </p:txBody>
      </p:sp>
      <p:sp>
        <p:nvSpPr>
          <p:cNvPr id="9" name="Shape 7"/>
          <p:cNvSpPr/>
          <p:nvPr/>
        </p:nvSpPr>
        <p:spPr>
          <a:xfrm>
            <a:off x="4267200" y="1280160"/>
            <a:ext cx="3596640" cy="548640"/>
          </a:xfrm>
          <a:prstGeom prst="rect">
            <a:avLst/>
          </a:prstGeom>
          <a:solidFill>
            <a:srgbClr val="6B5EA8"/>
          </a:solidFill>
          <a:ln w="12700">
            <a:solidFill>
              <a:srgbClr val="6B5EA8"/>
            </a:solidFill>
            <a:prstDash val="solid"/>
          </a:ln>
        </p:spPr>
        <p:txBody>
          <a:bodyPr/>
          <a:lstStyle/>
          <a:p>
            <a:endParaRPr lang="fr-FR" sz="2400"/>
          </a:p>
        </p:txBody>
      </p:sp>
      <p:sp>
        <p:nvSpPr>
          <p:cNvPr id="10" name="Text 8"/>
          <p:cNvSpPr/>
          <p:nvPr/>
        </p:nvSpPr>
        <p:spPr>
          <a:xfrm>
            <a:off x="4267200" y="1280160"/>
            <a:ext cx="3596640" cy="548640"/>
          </a:xfrm>
          <a:prstGeom prst="rect">
            <a:avLst/>
          </a:prstGeom>
          <a:noFill/>
          <a:ln/>
        </p:spPr>
        <p:txBody>
          <a:bodyPr wrap="square" lIns="0" tIns="0" rIns="0" bIns="0" rtlCol="0" anchor="ctr"/>
          <a:lstStyle/>
          <a:p>
            <a:pPr algn="ctr"/>
            <a:r>
              <a:rPr lang="en-US" sz="1600" b="1" dirty="0">
                <a:solidFill>
                  <a:srgbClr val="FFFFFF"/>
                </a:solidFill>
              </a:rPr>
              <a:t>Transfer learning</a:t>
            </a:r>
            <a:endParaRPr lang="en-US" sz="1600" dirty="0"/>
          </a:p>
        </p:txBody>
      </p:sp>
      <p:sp>
        <p:nvSpPr>
          <p:cNvPr id="11" name="Text 9"/>
          <p:cNvSpPr/>
          <p:nvPr/>
        </p:nvSpPr>
        <p:spPr>
          <a:xfrm>
            <a:off x="4389120" y="1950720"/>
            <a:ext cx="3352800" cy="3535680"/>
          </a:xfrm>
          <a:prstGeom prst="rect">
            <a:avLst/>
          </a:prstGeom>
          <a:noFill/>
          <a:ln/>
        </p:spPr>
        <p:txBody>
          <a:bodyPr wrap="square" rtlCol="0" anchor="t"/>
          <a:lstStyle/>
          <a:p>
            <a:r>
              <a:rPr lang="en-US" sz="1467" dirty="0">
                <a:solidFill>
                  <a:srgbClr val="1A1A2E"/>
                </a:solidFill>
              </a:rPr>
              <a:t>Le transfer learning est conditionné à l'alignement entre les représentations pré-apprises et la tâche cible. Un écart important (ImageNet → formes géométriques) dégrade les performances même pour les architectures flexibles comme le ViT.</a:t>
            </a:r>
            <a:endParaRPr lang="en-US" sz="1467" dirty="0"/>
          </a:p>
        </p:txBody>
      </p:sp>
      <p:sp>
        <p:nvSpPr>
          <p:cNvPr id="12" name="Shape 10"/>
          <p:cNvSpPr/>
          <p:nvPr/>
        </p:nvSpPr>
        <p:spPr>
          <a:xfrm>
            <a:off x="8168640" y="1280160"/>
            <a:ext cx="3596640" cy="4511040"/>
          </a:xfrm>
          <a:prstGeom prst="rect">
            <a:avLst/>
          </a:prstGeom>
          <a:solidFill>
            <a:srgbClr val="FFFFFF"/>
          </a:solidFill>
          <a:ln w="12700">
            <a:solidFill>
              <a:srgbClr val="C5D0EC"/>
            </a:solidFill>
            <a:prstDash val="solid"/>
          </a:ln>
          <a:effectLst>
            <a:outerShdw blurRad="63500" dist="25400" dir="8100000" algn="bl" rotWithShape="0">
              <a:srgbClr val="000000">
                <a:alpha val="9000"/>
              </a:srgbClr>
            </a:outerShdw>
          </a:effectLst>
        </p:spPr>
        <p:txBody>
          <a:bodyPr/>
          <a:lstStyle/>
          <a:p>
            <a:endParaRPr lang="fr-FR" sz="2400"/>
          </a:p>
        </p:txBody>
      </p:sp>
      <p:sp>
        <p:nvSpPr>
          <p:cNvPr id="13" name="Shape 11"/>
          <p:cNvSpPr/>
          <p:nvPr/>
        </p:nvSpPr>
        <p:spPr>
          <a:xfrm>
            <a:off x="8168640" y="1280160"/>
            <a:ext cx="3596640" cy="548640"/>
          </a:xfrm>
          <a:prstGeom prst="rect">
            <a:avLst/>
          </a:prstGeom>
          <a:solidFill>
            <a:srgbClr val="4DB6AC"/>
          </a:solidFill>
          <a:ln w="12700">
            <a:solidFill>
              <a:srgbClr val="4DB6AC"/>
            </a:solidFill>
            <a:prstDash val="solid"/>
          </a:ln>
        </p:spPr>
        <p:txBody>
          <a:bodyPr/>
          <a:lstStyle/>
          <a:p>
            <a:endParaRPr lang="fr-FR" sz="2400"/>
          </a:p>
        </p:txBody>
      </p:sp>
      <p:sp>
        <p:nvSpPr>
          <p:cNvPr id="14" name="Text 12"/>
          <p:cNvSpPr/>
          <p:nvPr/>
        </p:nvSpPr>
        <p:spPr>
          <a:xfrm>
            <a:off x="8168640" y="1280160"/>
            <a:ext cx="3596640" cy="548640"/>
          </a:xfrm>
          <a:prstGeom prst="rect">
            <a:avLst/>
          </a:prstGeom>
          <a:noFill/>
          <a:ln/>
        </p:spPr>
        <p:txBody>
          <a:bodyPr wrap="square" lIns="0" tIns="0" rIns="0" bIns="0" rtlCol="0" anchor="ctr"/>
          <a:lstStyle/>
          <a:p>
            <a:pPr algn="ctr"/>
            <a:r>
              <a:rPr lang="en-US" sz="1600" b="1" dirty="0">
                <a:solidFill>
                  <a:srgbClr val="FFFFFF"/>
                </a:solidFill>
              </a:rPr>
              <a:t>Limites de l'étude</a:t>
            </a:r>
            <a:endParaRPr lang="en-US" sz="1600" dirty="0"/>
          </a:p>
        </p:txBody>
      </p:sp>
      <p:sp>
        <p:nvSpPr>
          <p:cNvPr id="15" name="Text 13"/>
          <p:cNvSpPr/>
          <p:nvPr/>
        </p:nvSpPr>
        <p:spPr>
          <a:xfrm>
            <a:off x="8290560" y="1950720"/>
            <a:ext cx="3352800" cy="3535680"/>
          </a:xfrm>
          <a:prstGeom prst="rect">
            <a:avLst/>
          </a:prstGeom>
          <a:noFill/>
          <a:ln/>
        </p:spPr>
        <p:txBody>
          <a:bodyPr wrap="square" rtlCol="0" anchor="t"/>
          <a:lstStyle/>
          <a:p>
            <a:r>
              <a:rPr lang="en-US" sz="1467" dirty="0">
                <a:solidFill>
                  <a:srgbClr val="1A1A2E"/>
                </a:solidFill>
              </a:rPr>
              <a:t>Données synthétiques de petite taille · Absence de pré-entraînement sur données adaptées · Seul un sous-ensemble de paramètres ajusté pour le </a:t>
            </a:r>
            <a:r>
              <a:rPr lang="en-US" sz="1467" dirty="0" err="1">
                <a:solidFill>
                  <a:srgbClr val="1A1A2E"/>
                </a:solidFill>
              </a:rPr>
              <a:t>ViT</a:t>
            </a:r>
            <a:endParaRPr lang="en-US" sz="1467" dirty="0"/>
          </a:p>
        </p:txBody>
      </p:sp>
      <p:sp>
        <p:nvSpPr>
          <p:cNvPr id="16" name="Shape 14"/>
          <p:cNvSpPr/>
          <p:nvPr/>
        </p:nvSpPr>
        <p:spPr>
          <a:xfrm>
            <a:off x="5120640" y="6486144"/>
            <a:ext cx="1950720" cy="0"/>
          </a:xfrm>
          <a:prstGeom prst="line">
            <a:avLst/>
          </a:prstGeom>
          <a:noFill/>
          <a:ln w="25400">
            <a:solidFill>
              <a:srgbClr val="2E3F7F"/>
            </a:solidFill>
            <a:prstDash val="solid"/>
          </a:ln>
        </p:spPr>
        <p:txBody>
          <a:bodyPr/>
          <a:lstStyle/>
          <a:p>
            <a:endParaRPr lang="fr-FR" sz="2400"/>
          </a:p>
        </p:txBody>
      </p:sp>
      <p:sp>
        <p:nvSpPr>
          <p:cNvPr id="17" name="Text 15"/>
          <p:cNvSpPr/>
          <p:nvPr/>
        </p:nvSpPr>
        <p:spPr>
          <a:xfrm>
            <a:off x="6949440" y="6364224"/>
            <a:ext cx="304800" cy="243840"/>
          </a:xfrm>
          <a:prstGeom prst="rect">
            <a:avLst/>
          </a:prstGeom>
          <a:noFill/>
          <a:ln/>
        </p:spPr>
        <p:txBody>
          <a:bodyPr wrap="square" rtlCol="0" anchor="ctr"/>
          <a:lstStyle/>
          <a:p>
            <a:r>
              <a:rPr lang="en-US" sz="1067" dirty="0">
                <a:solidFill>
                  <a:srgbClr val="2E3F7F"/>
                </a:solidFill>
              </a:rPr>
              <a:t>▶</a:t>
            </a:r>
            <a:endParaRPr lang="en-US" sz="1067" dirty="0"/>
          </a:p>
        </p:txBody>
      </p:sp>
      <p:sp>
        <p:nvSpPr>
          <p:cNvPr id="18" name="Text 16"/>
          <p:cNvSpPr/>
          <p:nvPr/>
        </p:nvSpPr>
        <p:spPr>
          <a:xfrm>
            <a:off x="10728960" y="6400800"/>
            <a:ext cx="1219200" cy="365760"/>
          </a:xfrm>
          <a:prstGeom prst="rect">
            <a:avLst/>
          </a:prstGeom>
          <a:noFill/>
          <a:ln/>
        </p:spPr>
        <p:txBody>
          <a:bodyPr wrap="square" rtlCol="0" anchor="ctr"/>
          <a:lstStyle/>
          <a:p>
            <a:pPr algn="r"/>
            <a:r>
              <a:rPr lang="en-US" sz="1333" dirty="0">
                <a:solidFill>
                  <a:srgbClr val="4A5480"/>
                </a:solidFill>
              </a:rPr>
              <a:t>11/13</a:t>
            </a:r>
            <a:endParaRPr lang="en-US" sz="1333"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1C2B5E"/>
          </a:solidFill>
          <a:ln w="12700">
            <a:solidFill>
              <a:srgbClr val="1C2B5E"/>
            </a:solidFill>
            <a:prstDash val="solid"/>
          </a:ln>
        </p:spPr>
        <p:txBody>
          <a:bodyPr/>
          <a:lstStyle/>
          <a:p>
            <a:endParaRPr lang="fr-FR" sz="2400"/>
          </a:p>
        </p:txBody>
      </p:sp>
      <p:sp>
        <p:nvSpPr>
          <p:cNvPr id="3" name="Text 1"/>
          <p:cNvSpPr/>
          <p:nvPr/>
        </p:nvSpPr>
        <p:spPr>
          <a:xfrm>
            <a:off x="548640" y="0"/>
            <a:ext cx="10972800" cy="1036320"/>
          </a:xfrm>
          <a:prstGeom prst="rect">
            <a:avLst/>
          </a:prstGeom>
          <a:noFill/>
          <a:ln/>
        </p:spPr>
        <p:txBody>
          <a:bodyPr wrap="square" lIns="0" tIns="0" rIns="0" bIns="0" rtlCol="0" anchor="ctr"/>
          <a:lstStyle/>
          <a:p>
            <a:r>
              <a:rPr lang="en-US" sz="2933" b="1" dirty="0">
                <a:solidFill>
                  <a:srgbClr val="FFFFFF"/>
                </a:solidFill>
              </a:rPr>
              <a:t>PERSPECTIVES</a:t>
            </a:r>
            <a:endParaRPr lang="en-US" sz="2933" dirty="0"/>
          </a:p>
        </p:txBody>
      </p:sp>
      <p:sp>
        <p:nvSpPr>
          <p:cNvPr id="4" name="Shape 2"/>
          <p:cNvSpPr/>
          <p:nvPr/>
        </p:nvSpPr>
        <p:spPr>
          <a:xfrm>
            <a:off x="365760" y="1280160"/>
            <a:ext cx="5364480" cy="4511040"/>
          </a:xfrm>
          <a:prstGeom prst="rect">
            <a:avLst/>
          </a:prstGeom>
          <a:solidFill>
            <a:srgbClr val="FFFFFF"/>
          </a:solidFill>
          <a:ln w="12700">
            <a:solidFill>
              <a:srgbClr val="C5D0EC"/>
            </a:solidFill>
            <a:prstDash val="solid"/>
          </a:ln>
          <a:effectLst>
            <a:outerShdw blurRad="63500" dist="25400" dir="8100000" algn="bl" rotWithShape="0">
              <a:srgbClr val="000000">
                <a:alpha val="8000"/>
              </a:srgbClr>
            </a:outerShdw>
          </a:effectLst>
        </p:spPr>
        <p:txBody>
          <a:bodyPr/>
          <a:lstStyle/>
          <a:p>
            <a:endParaRPr lang="fr-FR" sz="2400"/>
          </a:p>
        </p:txBody>
      </p:sp>
      <p:sp>
        <p:nvSpPr>
          <p:cNvPr id="5" name="Shape 3"/>
          <p:cNvSpPr/>
          <p:nvPr/>
        </p:nvSpPr>
        <p:spPr>
          <a:xfrm>
            <a:off x="365760" y="1280160"/>
            <a:ext cx="5364480" cy="512064"/>
          </a:xfrm>
          <a:prstGeom prst="rect">
            <a:avLst/>
          </a:prstGeom>
          <a:solidFill>
            <a:srgbClr val="2E3F7F"/>
          </a:solidFill>
          <a:ln w="12700">
            <a:solidFill>
              <a:srgbClr val="2E3F7F"/>
            </a:solidFill>
            <a:prstDash val="solid"/>
          </a:ln>
        </p:spPr>
        <p:txBody>
          <a:bodyPr/>
          <a:lstStyle/>
          <a:p>
            <a:endParaRPr lang="fr-FR" sz="2400"/>
          </a:p>
        </p:txBody>
      </p:sp>
      <p:sp>
        <p:nvSpPr>
          <p:cNvPr id="6" name="Text 4"/>
          <p:cNvSpPr/>
          <p:nvPr/>
        </p:nvSpPr>
        <p:spPr>
          <a:xfrm>
            <a:off x="365760" y="1280160"/>
            <a:ext cx="5364480" cy="512064"/>
          </a:xfrm>
          <a:prstGeom prst="rect">
            <a:avLst/>
          </a:prstGeom>
          <a:noFill/>
          <a:ln/>
        </p:spPr>
        <p:txBody>
          <a:bodyPr wrap="square" lIns="0" tIns="0" rIns="0" bIns="0" rtlCol="0" anchor="ctr"/>
          <a:lstStyle/>
          <a:p>
            <a:pPr algn="ctr"/>
            <a:r>
              <a:rPr lang="en-US" sz="1600" b="1" dirty="0">
                <a:solidFill>
                  <a:srgbClr val="FFFFFF"/>
                </a:solidFill>
              </a:rPr>
              <a:t>Perspectives méthodologiques</a:t>
            </a:r>
            <a:endParaRPr lang="en-US" sz="1600" dirty="0"/>
          </a:p>
        </p:txBody>
      </p:sp>
      <p:sp>
        <p:nvSpPr>
          <p:cNvPr id="7" name="Text 5"/>
          <p:cNvSpPr/>
          <p:nvPr/>
        </p:nvSpPr>
        <p:spPr>
          <a:xfrm>
            <a:off x="609600" y="1889760"/>
            <a:ext cx="4876800" cy="3779520"/>
          </a:xfrm>
          <a:prstGeom prst="rect">
            <a:avLst/>
          </a:prstGeom>
          <a:noFill/>
          <a:ln/>
        </p:spPr>
        <p:txBody>
          <a:bodyPr wrap="square" rtlCol="0" anchor="t"/>
          <a:lstStyle/>
          <a:p>
            <a:pPr marL="457189" indent="-457189">
              <a:buSzPct val="100000"/>
              <a:buChar char="•"/>
            </a:pPr>
            <a:r>
              <a:rPr lang="en-US" sz="1467" dirty="0">
                <a:solidFill>
                  <a:srgbClr val="1A1A2E"/>
                </a:solidFill>
              </a:rPr>
              <a:t>Modèles hybrides CNN + Transformer (ex. CvT, CoAtNet)</a:t>
            </a:r>
            <a:endParaRPr lang="en-US" sz="1467" dirty="0"/>
          </a:p>
          <a:p>
            <a:pPr marL="457189" indent="-457189">
              <a:buSzPct val="100000"/>
              <a:buChar char="•"/>
            </a:pPr>
            <a:r>
              <a:rPr lang="en-US" sz="1467" dirty="0">
                <a:solidFill>
                  <a:srgbClr val="1A1A2E"/>
                </a:solidFill>
              </a:rPr>
              <a:t>Pré-entraînement adapté à la tâche (données similaires)</a:t>
            </a:r>
            <a:endParaRPr lang="en-US" sz="1467" dirty="0"/>
          </a:p>
          <a:p>
            <a:pPr marL="457189" indent="-457189">
              <a:buSzPct val="100000"/>
              <a:buChar char="•"/>
            </a:pPr>
            <a:r>
              <a:rPr lang="en-US" sz="1467" dirty="0">
                <a:solidFill>
                  <a:srgbClr val="1A1A2E"/>
                </a:solidFill>
              </a:rPr>
              <a:t>Data augmentation plus agressive pour le ViT</a:t>
            </a:r>
            <a:endParaRPr lang="en-US" sz="1467" dirty="0"/>
          </a:p>
          <a:p>
            <a:pPr marL="457189" indent="-457189">
              <a:buSzPct val="100000"/>
              <a:buChar char="•"/>
            </a:pPr>
            <a:r>
              <a:rPr lang="en-US" sz="1467" dirty="0">
                <a:solidFill>
                  <a:srgbClr val="1A1A2E"/>
                </a:solidFill>
              </a:rPr>
              <a:t>Exploration du fine-tuning complet du ViT</a:t>
            </a:r>
            <a:endParaRPr lang="en-US" sz="1467" dirty="0"/>
          </a:p>
          <a:p>
            <a:pPr marL="457189" indent="-457189">
              <a:buSzPct val="100000"/>
              <a:buChar char="•"/>
            </a:pPr>
            <a:r>
              <a:rPr lang="en-US" sz="1467" dirty="0">
                <a:solidFill>
                  <a:srgbClr val="1A1A2E"/>
                </a:solidFill>
              </a:rPr>
              <a:t>Extension à des données de taille plus importante</a:t>
            </a:r>
            <a:endParaRPr lang="en-US" sz="1467" dirty="0"/>
          </a:p>
        </p:txBody>
      </p:sp>
      <p:sp>
        <p:nvSpPr>
          <p:cNvPr id="8" name="Shape 6"/>
          <p:cNvSpPr/>
          <p:nvPr/>
        </p:nvSpPr>
        <p:spPr>
          <a:xfrm>
            <a:off x="6461760" y="1280160"/>
            <a:ext cx="5364480" cy="4511040"/>
          </a:xfrm>
          <a:prstGeom prst="rect">
            <a:avLst/>
          </a:prstGeom>
          <a:solidFill>
            <a:srgbClr val="FFFFFF"/>
          </a:solidFill>
          <a:ln w="12700">
            <a:solidFill>
              <a:srgbClr val="C5D0EC"/>
            </a:solidFill>
            <a:prstDash val="solid"/>
          </a:ln>
          <a:effectLst>
            <a:outerShdw blurRad="63500" dist="25400" dir="8100000" algn="bl" rotWithShape="0">
              <a:srgbClr val="000000">
                <a:alpha val="8000"/>
              </a:srgbClr>
            </a:outerShdw>
          </a:effectLst>
        </p:spPr>
        <p:txBody>
          <a:bodyPr/>
          <a:lstStyle/>
          <a:p>
            <a:endParaRPr lang="fr-FR" sz="2400"/>
          </a:p>
        </p:txBody>
      </p:sp>
      <p:sp>
        <p:nvSpPr>
          <p:cNvPr id="9" name="Shape 7"/>
          <p:cNvSpPr/>
          <p:nvPr/>
        </p:nvSpPr>
        <p:spPr>
          <a:xfrm>
            <a:off x="6461760" y="1280160"/>
            <a:ext cx="5364480" cy="512064"/>
          </a:xfrm>
          <a:prstGeom prst="rect">
            <a:avLst/>
          </a:prstGeom>
          <a:solidFill>
            <a:srgbClr val="6B5EA8"/>
          </a:solidFill>
          <a:ln w="12700">
            <a:solidFill>
              <a:srgbClr val="6B5EA8"/>
            </a:solidFill>
            <a:prstDash val="solid"/>
          </a:ln>
        </p:spPr>
        <p:txBody>
          <a:bodyPr/>
          <a:lstStyle/>
          <a:p>
            <a:endParaRPr lang="fr-FR" sz="2400"/>
          </a:p>
        </p:txBody>
      </p:sp>
      <p:sp>
        <p:nvSpPr>
          <p:cNvPr id="10" name="Text 8"/>
          <p:cNvSpPr/>
          <p:nvPr/>
        </p:nvSpPr>
        <p:spPr>
          <a:xfrm>
            <a:off x="6461760" y="1280160"/>
            <a:ext cx="5364480" cy="512064"/>
          </a:xfrm>
          <a:prstGeom prst="rect">
            <a:avLst/>
          </a:prstGeom>
          <a:noFill/>
          <a:ln/>
        </p:spPr>
        <p:txBody>
          <a:bodyPr wrap="square" lIns="0" tIns="0" rIns="0" bIns="0" rtlCol="0" anchor="ctr"/>
          <a:lstStyle/>
          <a:p>
            <a:pPr algn="ctr"/>
            <a:r>
              <a:rPr lang="en-US" sz="1600" b="1" dirty="0">
                <a:solidFill>
                  <a:srgbClr val="FFFFFF"/>
                </a:solidFill>
              </a:rPr>
              <a:t>Perspectives applicatives</a:t>
            </a:r>
            <a:endParaRPr lang="en-US" sz="1600" dirty="0"/>
          </a:p>
        </p:txBody>
      </p:sp>
      <p:sp>
        <p:nvSpPr>
          <p:cNvPr id="11" name="Text 9"/>
          <p:cNvSpPr/>
          <p:nvPr/>
        </p:nvSpPr>
        <p:spPr>
          <a:xfrm>
            <a:off x="6705600" y="1889760"/>
            <a:ext cx="4876800" cy="3779520"/>
          </a:xfrm>
          <a:prstGeom prst="rect">
            <a:avLst/>
          </a:prstGeom>
          <a:noFill/>
          <a:ln/>
        </p:spPr>
        <p:txBody>
          <a:bodyPr wrap="square" rtlCol="0" anchor="t"/>
          <a:lstStyle/>
          <a:p>
            <a:pPr marL="457189" indent="-457189">
              <a:buSzPct val="100000"/>
              <a:buChar char="•"/>
            </a:pPr>
            <a:r>
              <a:rPr lang="en-US" sz="1467" dirty="0">
                <a:solidFill>
                  <a:srgbClr val="1A1A2E"/>
                </a:solidFill>
              </a:rPr>
              <a:t>Application à l'imagerie médicale (données limitées → CNN privilégié)</a:t>
            </a:r>
            <a:endParaRPr lang="en-US" sz="1467" dirty="0"/>
          </a:p>
          <a:p>
            <a:pPr marL="457189" indent="-457189">
              <a:buSzPct val="100000"/>
              <a:buChar char="•"/>
            </a:pPr>
            <a:r>
              <a:rPr lang="en-US" sz="1467" dirty="0">
                <a:solidFill>
                  <a:srgbClr val="1A1A2E"/>
                </a:solidFill>
              </a:rPr>
              <a:t>Comparaison sur données réelles (histologie, radiologie)</a:t>
            </a:r>
            <a:endParaRPr lang="en-US" sz="1467" dirty="0"/>
          </a:p>
          <a:p>
            <a:pPr marL="457189" indent="-457189">
              <a:buSzPct val="100000"/>
              <a:buChar char="•"/>
            </a:pPr>
            <a:r>
              <a:rPr lang="en-US" sz="1467" dirty="0">
                <a:solidFill>
                  <a:srgbClr val="1A1A2E"/>
                </a:solidFill>
              </a:rPr>
              <a:t>Benchmarks avec ensembles de données naturels plus complexes</a:t>
            </a:r>
            <a:endParaRPr lang="en-US" sz="1467" dirty="0"/>
          </a:p>
          <a:p>
            <a:pPr marL="457189" indent="-457189">
              <a:buSzPct val="100000"/>
              <a:buChar char="•"/>
            </a:pPr>
            <a:r>
              <a:rPr lang="en-US" sz="1467" dirty="0">
                <a:solidFill>
                  <a:srgbClr val="1A1A2E"/>
                </a:solidFill>
              </a:rPr>
              <a:t>Évaluation d'architectures légères pour déploiement embarqué</a:t>
            </a:r>
            <a:endParaRPr lang="en-US" sz="1467" dirty="0"/>
          </a:p>
        </p:txBody>
      </p:sp>
      <p:sp>
        <p:nvSpPr>
          <p:cNvPr id="12" name="Shape 10"/>
          <p:cNvSpPr/>
          <p:nvPr/>
        </p:nvSpPr>
        <p:spPr>
          <a:xfrm>
            <a:off x="5120640" y="6486144"/>
            <a:ext cx="1950720" cy="0"/>
          </a:xfrm>
          <a:prstGeom prst="line">
            <a:avLst/>
          </a:prstGeom>
          <a:noFill/>
          <a:ln w="25400">
            <a:solidFill>
              <a:srgbClr val="2E3F7F"/>
            </a:solidFill>
            <a:prstDash val="solid"/>
          </a:ln>
        </p:spPr>
        <p:txBody>
          <a:bodyPr/>
          <a:lstStyle/>
          <a:p>
            <a:endParaRPr lang="fr-FR" sz="2400"/>
          </a:p>
        </p:txBody>
      </p:sp>
      <p:sp>
        <p:nvSpPr>
          <p:cNvPr id="13" name="Text 11"/>
          <p:cNvSpPr/>
          <p:nvPr/>
        </p:nvSpPr>
        <p:spPr>
          <a:xfrm>
            <a:off x="6949440" y="6364224"/>
            <a:ext cx="304800" cy="243840"/>
          </a:xfrm>
          <a:prstGeom prst="rect">
            <a:avLst/>
          </a:prstGeom>
          <a:noFill/>
          <a:ln/>
        </p:spPr>
        <p:txBody>
          <a:bodyPr wrap="square" rtlCol="0" anchor="ctr"/>
          <a:lstStyle/>
          <a:p>
            <a:r>
              <a:rPr lang="en-US" sz="1067" dirty="0">
                <a:solidFill>
                  <a:srgbClr val="2E3F7F"/>
                </a:solidFill>
              </a:rPr>
              <a:t>▶</a:t>
            </a:r>
            <a:endParaRPr lang="en-US" sz="1067" dirty="0"/>
          </a:p>
        </p:txBody>
      </p:sp>
      <p:sp>
        <p:nvSpPr>
          <p:cNvPr id="14" name="Text 12"/>
          <p:cNvSpPr/>
          <p:nvPr/>
        </p:nvSpPr>
        <p:spPr>
          <a:xfrm>
            <a:off x="10728960" y="6400800"/>
            <a:ext cx="1219200" cy="365760"/>
          </a:xfrm>
          <a:prstGeom prst="rect">
            <a:avLst/>
          </a:prstGeom>
          <a:noFill/>
          <a:ln/>
        </p:spPr>
        <p:txBody>
          <a:bodyPr wrap="square" rtlCol="0" anchor="ctr"/>
          <a:lstStyle/>
          <a:p>
            <a:pPr algn="r"/>
            <a:r>
              <a:rPr lang="en-US" sz="1333" dirty="0">
                <a:solidFill>
                  <a:srgbClr val="4A5480"/>
                </a:solidFill>
              </a:rPr>
              <a:t>12/13</a:t>
            </a:r>
            <a:endParaRPr lang="en-US" sz="1333"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219200" y="1950720"/>
            <a:ext cx="9753600" cy="1341120"/>
          </a:xfrm>
          <a:prstGeom prst="rect">
            <a:avLst/>
          </a:prstGeom>
          <a:noFill/>
          <a:ln/>
        </p:spPr>
        <p:txBody>
          <a:bodyPr wrap="square" rtlCol="0" anchor="ctr"/>
          <a:lstStyle/>
          <a:p>
            <a:r>
              <a:rPr lang="en-US" sz="4800" b="1" dirty="0"/>
              <a:t>Merci de votre écoute !</a:t>
            </a:r>
            <a:endParaRPr lang="en-US" sz="4800" dirty="0"/>
          </a:p>
        </p:txBody>
      </p:sp>
      <p:sp>
        <p:nvSpPr>
          <p:cNvPr id="5" name="Shape 3"/>
          <p:cNvSpPr/>
          <p:nvPr/>
        </p:nvSpPr>
        <p:spPr>
          <a:xfrm>
            <a:off x="1219200" y="3535680"/>
            <a:ext cx="4267200" cy="0"/>
          </a:xfrm>
          <a:prstGeom prst="line">
            <a:avLst/>
          </a:prstGeom>
          <a:noFill/>
          <a:ln w="25400">
            <a:solidFill>
              <a:srgbClr val="8FA3D4"/>
            </a:solidFill>
            <a:prstDash val="solid"/>
          </a:ln>
        </p:spPr>
        <p:txBody>
          <a:bodyPr/>
          <a:lstStyle/>
          <a:p>
            <a:endParaRPr lang="fr-FR" sz="2400"/>
          </a:p>
        </p:txBody>
      </p:sp>
      <p:sp>
        <p:nvSpPr>
          <p:cNvPr id="6" name="Text 4"/>
          <p:cNvSpPr/>
          <p:nvPr/>
        </p:nvSpPr>
        <p:spPr>
          <a:xfrm>
            <a:off x="1219200" y="3779520"/>
            <a:ext cx="8534400" cy="1828800"/>
          </a:xfrm>
          <a:prstGeom prst="rect">
            <a:avLst/>
          </a:prstGeom>
          <a:solidFill>
            <a:srgbClr val="0070C0"/>
          </a:solidFill>
          <a:ln/>
        </p:spPr>
        <p:txBody>
          <a:bodyPr wrap="square" rtlCol="0" anchor="t"/>
          <a:lstStyle/>
          <a:p>
            <a:r>
              <a:rPr lang="en-US" sz="1600" b="1" dirty="0"/>
              <a:t>Asma AL RIFAI  ·  Réhane ARICAT
</a:t>
            </a:r>
            <a:endParaRPr lang="en-US" sz="1600" dirty="0"/>
          </a:p>
          <a:p>
            <a:r>
              <a:rPr lang="en-US" sz="1600" dirty="0"/>
              <a:t>Deep Learning — UE MA7CY070  |  Université Paris Cité
</a:t>
            </a:r>
          </a:p>
          <a:p>
            <a:r>
              <a:rPr lang="en-US" sz="1600" dirty="0"/>
              <a:t>08 Avril 2026</a:t>
            </a:r>
          </a:p>
        </p:txBody>
      </p:sp>
      <p:sp>
        <p:nvSpPr>
          <p:cNvPr id="7" name="Text 5"/>
          <p:cNvSpPr/>
          <p:nvPr/>
        </p:nvSpPr>
        <p:spPr>
          <a:xfrm>
            <a:off x="10728960" y="6400800"/>
            <a:ext cx="1219200" cy="365760"/>
          </a:xfrm>
          <a:prstGeom prst="rect">
            <a:avLst/>
          </a:prstGeom>
          <a:noFill/>
          <a:ln/>
        </p:spPr>
        <p:txBody>
          <a:bodyPr wrap="square" rtlCol="0" anchor="ctr"/>
          <a:lstStyle/>
          <a:p>
            <a:pPr algn="r"/>
            <a:r>
              <a:rPr lang="en-US" sz="1333" dirty="0"/>
              <a:t>13/13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6639D-42F6-1362-39A7-100E66984E37}"/>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40BD754F-1420-DBE1-11AD-6F2804F6AE45}"/>
              </a:ext>
            </a:extLst>
          </p:cNvPr>
          <p:cNvSpPr/>
          <p:nvPr/>
        </p:nvSpPr>
        <p:spPr>
          <a:xfrm>
            <a:off x="1219200" y="1950720"/>
            <a:ext cx="9753600" cy="1341120"/>
          </a:xfrm>
          <a:prstGeom prst="rect">
            <a:avLst/>
          </a:prstGeom>
          <a:noFill/>
          <a:ln/>
        </p:spPr>
        <p:txBody>
          <a:bodyPr wrap="square" rtlCol="0" anchor="ctr"/>
          <a:lstStyle/>
          <a:p>
            <a:r>
              <a:rPr lang="fr-FR" sz="4800" b="1" noProof="0" dirty="0"/>
              <a:t>Annexe d’images</a:t>
            </a:r>
            <a:endParaRPr lang="fr-FR" sz="4800" noProof="0" dirty="0"/>
          </a:p>
        </p:txBody>
      </p:sp>
      <p:sp>
        <p:nvSpPr>
          <p:cNvPr id="5" name="Shape 3">
            <a:extLst>
              <a:ext uri="{FF2B5EF4-FFF2-40B4-BE49-F238E27FC236}">
                <a16:creationId xmlns:a16="http://schemas.microsoft.com/office/drawing/2014/main" id="{8BD8A5CA-5E5E-817F-7DCE-7CE9724AE66A}"/>
              </a:ext>
            </a:extLst>
          </p:cNvPr>
          <p:cNvSpPr/>
          <p:nvPr/>
        </p:nvSpPr>
        <p:spPr>
          <a:xfrm>
            <a:off x="1219200" y="3535680"/>
            <a:ext cx="4267200" cy="0"/>
          </a:xfrm>
          <a:prstGeom prst="line">
            <a:avLst/>
          </a:prstGeom>
          <a:noFill/>
          <a:ln w="25400">
            <a:solidFill>
              <a:srgbClr val="8FA3D4"/>
            </a:solidFill>
            <a:prstDash val="solid"/>
          </a:ln>
        </p:spPr>
        <p:txBody>
          <a:bodyPr/>
          <a:lstStyle/>
          <a:p>
            <a:endParaRPr lang="fr-FR" sz="2400"/>
          </a:p>
        </p:txBody>
      </p:sp>
      <p:sp>
        <p:nvSpPr>
          <p:cNvPr id="7" name="Text 5">
            <a:extLst>
              <a:ext uri="{FF2B5EF4-FFF2-40B4-BE49-F238E27FC236}">
                <a16:creationId xmlns:a16="http://schemas.microsoft.com/office/drawing/2014/main" id="{2F6B1FA2-F7AB-7749-AB45-CDC057F5C858}"/>
              </a:ext>
            </a:extLst>
          </p:cNvPr>
          <p:cNvSpPr/>
          <p:nvPr/>
        </p:nvSpPr>
        <p:spPr>
          <a:xfrm>
            <a:off x="10728960" y="6400800"/>
            <a:ext cx="1219200" cy="365760"/>
          </a:xfrm>
          <a:prstGeom prst="rect">
            <a:avLst/>
          </a:prstGeom>
          <a:noFill/>
          <a:ln/>
        </p:spPr>
        <p:txBody>
          <a:bodyPr wrap="square" rtlCol="0" anchor="ctr"/>
          <a:lstStyle/>
          <a:p>
            <a:pPr algn="r"/>
            <a:r>
              <a:rPr lang="en-US" sz="1333" dirty="0"/>
              <a:t>13/13</a:t>
            </a:r>
          </a:p>
        </p:txBody>
      </p:sp>
    </p:spTree>
    <p:extLst>
      <p:ext uri="{BB962C8B-B14F-4D97-AF65-F5344CB8AC3E}">
        <p14:creationId xmlns:p14="http://schemas.microsoft.com/office/powerpoint/2010/main" val="3906119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4F843-ECD8-336E-95A2-F8416306338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41E5E4C-A84C-0A55-5A0D-698F0B5E32AB}"/>
              </a:ext>
            </a:extLst>
          </p:cNvPr>
          <p:cNvSpPr/>
          <p:nvPr/>
        </p:nvSpPr>
        <p:spPr>
          <a:xfrm>
            <a:off x="0" y="0"/>
            <a:ext cx="12192000" cy="1036320"/>
          </a:xfrm>
          <a:prstGeom prst="rect">
            <a:avLst/>
          </a:prstGeom>
          <a:solidFill>
            <a:srgbClr val="1C2B5E"/>
          </a:solidFill>
          <a:ln w="12700">
            <a:solidFill>
              <a:srgbClr val="1C2B5E"/>
            </a:solidFill>
            <a:prstDash val="solid"/>
          </a:ln>
        </p:spPr>
        <p:txBody>
          <a:bodyPr/>
          <a:lstStyle/>
          <a:p>
            <a:endParaRPr lang="fr-FR" sz="2400"/>
          </a:p>
        </p:txBody>
      </p:sp>
      <p:sp>
        <p:nvSpPr>
          <p:cNvPr id="3" name="Text 1">
            <a:extLst>
              <a:ext uri="{FF2B5EF4-FFF2-40B4-BE49-F238E27FC236}">
                <a16:creationId xmlns:a16="http://schemas.microsoft.com/office/drawing/2014/main" id="{1CB4607F-F1F6-869C-5B97-6B5C07C00E45}"/>
              </a:ext>
            </a:extLst>
          </p:cNvPr>
          <p:cNvSpPr/>
          <p:nvPr/>
        </p:nvSpPr>
        <p:spPr>
          <a:xfrm>
            <a:off x="548640" y="0"/>
            <a:ext cx="10972800" cy="1036320"/>
          </a:xfrm>
          <a:prstGeom prst="rect">
            <a:avLst/>
          </a:prstGeom>
          <a:noFill/>
          <a:ln/>
        </p:spPr>
        <p:txBody>
          <a:bodyPr wrap="square" lIns="0" tIns="0" rIns="0" bIns="0" rtlCol="0" anchor="ctr"/>
          <a:lstStyle/>
          <a:p>
            <a:r>
              <a:rPr lang="en-US" sz="2933" b="1" dirty="0">
                <a:solidFill>
                  <a:srgbClr val="FFFFFF"/>
                </a:solidFill>
              </a:rPr>
              <a:t>Dataset 1</a:t>
            </a:r>
            <a:endParaRPr lang="en-US" sz="2933" dirty="0"/>
          </a:p>
        </p:txBody>
      </p:sp>
      <p:sp>
        <p:nvSpPr>
          <p:cNvPr id="7" name="Shape 4">
            <a:extLst>
              <a:ext uri="{FF2B5EF4-FFF2-40B4-BE49-F238E27FC236}">
                <a16:creationId xmlns:a16="http://schemas.microsoft.com/office/drawing/2014/main" id="{7B043C63-C105-75DF-30B6-DF643373FE5A}"/>
              </a:ext>
            </a:extLst>
          </p:cNvPr>
          <p:cNvSpPr/>
          <p:nvPr/>
        </p:nvSpPr>
        <p:spPr>
          <a:xfrm>
            <a:off x="5120640" y="6486144"/>
            <a:ext cx="1950720" cy="0"/>
          </a:xfrm>
          <a:prstGeom prst="line">
            <a:avLst/>
          </a:prstGeom>
          <a:noFill/>
          <a:ln w="25400">
            <a:solidFill>
              <a:srgbClr val="2E3F7F"/>
            </a:solidFill>
            <a:prstDash val="solid"/>
          </a:ln>
        </p:spPr>
        <p:txBody>
          <a:bodyPr/>
          <a:lstStyle/>
          <a:p>
            <a:endParaRPr lang="fr-FR" sz="2400"/>
          </a:p>
        </p:txBody>
      </p:sp>
      <p:sp>
        <p:nvSpPr>
          <p:cNvPr id="8" name="Text 5">
            <a:extLst>
              <a:ext uri="{FF2B5EF4-FFF2-40B4-BE49-F238E27FC236}">
                <a16:creationId xmlns:a16="http://schemas.microsoft.com/office/drawing/2014/main" id="{DF96BCEB-93C7-AF37-6B55-6214A3E870F0}"/>
              </a:ext>
            </a:extLst>
          </p:cNvPr>
          <p:cNvSpPr/>
          <p:nvPr/>
        </p:nvSpPr>
        <p:spPr>
          <a:xfrm>
            <a:off x="6949440" y="6364224"/>
            <a:ext cx="304800" cy="243840"/>
          </a:xfrm>
          <a:prstGeom prst="rect">
            <a:avLst/>
          </a:prstGeom>
          <a:noFill/>
          <a:ln/>
        </p:spPr>
        <p:txBody>
          <a:bodyPr wrap="square" rtlCol="0" anchor="ctr"/>
          <a:lstStyle/>
          <a:p>
            <a:r>
              <a:rPr lang="en-US" sz="1067" dirty="0">
                <a:solidFill>
                  <a:srgbClr val="2E3F7F"/>
                </a:solidFill>
              </a:rPr>
              <a:t>▶</a:t>
            </a:r>
            <a:endParaRPr lang="en-US" sz="1067" dirty="0"/>
          </a:p>
        </p:txBody>
      </p:sp>
      <p:sp>
        <p:nvSpPr>
          <p:cNvPr id="9" name="Text 6">
            <a:extLst>
              <a:ext uri="{FF2B5EF4-FFF2-40B4-BE49-F238E27FC236}">
                <a16:creationId xmlns:a16="http://schemas.microsoft.com/office/drawing/2014/main" id="{0E46D584-3C64-7835-5C47-49F607D741BE}"/>
              </a:ext>
            </a:extLst>
          </p:cNvPr>
          <p:cNvSpPr/>
          <p:nvPr/>
        </p:nvSpPr>
        <p:spPr>
          <a:xfrm>
            <a:off x="10728960" y="6400800"/>
            <a:ext cx="1219200" cy="365760"/>
          </a:xfrm>
          <a:prstGeom prst="rect">
            <a:avLst/>
          </a:prstGeom>
          <a:noFill/>
          <a:ln/>
        </p:spPr>
        <p:txBody>
          <a:bodyPr wrap="square" rtlCol="0" anchor="ctr"/>
          <a:lstStyle/>
          <a:p>
            <a:pPr algn="r"/>
            <a:endParaRPr lang="en-US" sz="1333" dirty="0"/>
          </a:p>
        </p:txBody>
      </p:sp>
      <p:pic>
        <p:nvPicPr>
          <p:cNvPr id="10" name="Image 9">
            <a:extLst>
              <a:ext uri="{FF2B5EF4-FFF2-40B4-BE49-F238E27FC236}">
                <a16:creationId xmlns:a16="http://schemas.microsoft.com/office/drawing/2014/main" id="{9C6829E5-6736-ACDB-A0D2-EA506861ABE8}"/>
              </a:ext>
            </a:extLst>
          </p:cNvPr>
          <p:cNvPicPr>
            <a:picLocks noChangeAspect="1"/>
          </p:cNvPicPr>
          <p:nvPr/>
        </p:nvPicPr>
        <p:blipFill>
          <a:blip r:embed="rId3">
            <a:extLst>
              <a:ext uri="{28A0092B-C50C-407E-A947-70E740481C1C}">
                <a14:useLocalDpi xmlns:a14="http://schemas.microsoft.com/office/drawing/2010/main" val="0"/>
              </a:ext>
            </a:extLst>
          </a:blip>
          <a:srcRect r="-892" b="33787"/>
          <a:stretch>
            <a:fillRect/>
          </a:stretch>
        </p:blipFill>
        <p:spPr>
          <a:xfrm>
            <a:off x="7523504" y="3785444"/>
            <a:ext cx="3320534" cy="2247476"/>
          </a:xfrm>
          <a:prstGeom prst="rect">
            <a:avLst/>
          </a:prstGeom>
        </p:spPr>
      </p:pic>
      <p:pic>
        <p:nvPicPr>
          <p:cNvPr id="13" name="Image 12">
            <a:extLst>
              <a:ext uri="{FF2B5EF4-FFF2-40B4-BE49-F238E27FC236}">
                <a16:creationId xmlns:a16="http://schemas.microsoft.com/office/drawing/2014/main" id="{C3678D60-4503-EB4E-2E81-3D07E6CC7B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3840" y="3840480"/>
            <a:ext cx="5300546" cy="2628900"/>
          </a:xfrm>
          <a:prstGeom prst="rect">
            <a:avLst/>
          </a:prstGeom>
        </p:spPr>
      </p:pic>
      <p:pic>
        <p:nvPicPr>
          <p:cNvPr id="15" name="Image 14">
            <a:extLst>
              <a:ext uri="{FF2B5EF4-FFF2-40B4-BE49-F238E27FC236}">
                <a16:creationId xmlns:a16="http://schemas.microsoft.com/office/drawing/2014/main" id="{4AE9656C-3EAF-87DE-C18D-7070F873160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71360" y="1144261"/>
            <a:ext cx="4224823" cy="2507415"/>
          </a:xfrm>
          <a:prstGeom prst="rect">
            <a:avLst/>
          </a:prstGeom>
        </p:spPr>
      </p:pic>
      <p:pic>
        <p:nvPicPr>
          <p:cNvPr id="17" name="Image 16">
            <a:extLst>
              <a:ext uri="{FF2B5EF4-FFF2-40B4-BE49-F238E27FC236}">
                <a16:creationId xmlns:a16="http://schemas.microsoft.com/office/drawing/2014/main" id="{44CC1DAB-43B4-9E41-EF6C-8FEC199FD7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3840" y="1123950"/>
            <a:ext cx="5300546" cy="2628900"/>
          </a:xfrm>
          <a:prstGeom prst="rect">
            <a:avLst/>
          </a:prstGeom>
        </p:spPr>
      </p:pic>
    </p:spTree>
    <p:extLst>
      <p:ext uri="{BB962C8B-B14F-4D97-AF65-F5344CB8AC3E}">
        <p14:creationId xmlns:p14="http://schemas.microsoft.com/office/powerpoint/2010/main" val="18124329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586E3-53C4-9D56-93F2-ED069ED7058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8D00AF8-60D0-8885-9C76-8C67EC15717E}"/>
              </a:ext>
            </a:extLst>
          </p:cNvPr>
          <p:cNvSpPr/>
          <p:nvPr/>
        </p:nvSpPr>
        <p:spPr>
          <a:xfrm>
            <a:off x="0" y="0"/>
            <a:ext cx="12192000" cy="1036320"/>
          </a:xfrm>
          <a:prstGeom prst="rect">
            <a:avLst/>
          </a:prstGeom>
          <a:solidFill>
            <a:srgbClr val="1C2B5E"/>
          </a:solidFill>
          <a:ln w="12700">
            <a:solidFill>
              <a:srgbClr val="1C2B5E"/>
            </a:solidFill>
            <a:prstDash val="solid"/>
          </a:ln>
        </p:spPr>
        <p:txBody>
          <a:bodyPr/>
          <a:lstStyle/>
          <a:p>
            <a:endParaRPr lang="fr-FR" sz="2400"/>
          </a:p>
        </p:txBody>
      </p:sp>
      <p:sp>
        <p:nvSpPr>
          <p:cNvPr id="3" name="Text 1">
            <a:extLst>
              <a:ext uri="{FF2B5EF4-FFF2-40B4-BE49-F238E27FC236}">
                <a16:creationId xmlns:a16="http://schemas.microsoft.com/office/drawing/2014/main" id="{0D259454-6459-83F4-ACCF-1AE6728A3BA4}"/>
              </a:ext>
            </a:extLst>
          </p:cNvPr>
          <p:cNvSpPr/>
          <p:nvPr/>
        </p:nvSpPr>
        <p:spPr>
          <a:xfrm>
            <a:off x="548640" y="0"/>
            <a:ext cx="10972800" cy="1036320"/>
          </a:xfrm>
          <a:prstGeom prst="rect">
            <a:avLst/>
          </a:prstGeom>
          <a:noFill/>
          <a:ln/>
        </p:spPr>
        <p:txBody>
          <a:bodyPr wrap="square" lIns="0" tIns="0" rIns="0" bIns="0" rtlCol="0" anchor="ctr"/>
          <a:lstStyle/>
          <a:p>
            <a:r>
              <a:rPr lang="en-US" sz="2933" b="1" dirty="0">
                <a:solidFill>
                  <a:srgbClr val="FFFFFF"/>
                </a:solidFill>
              </a:rPr>
              <a:t>Dataset 2</a:t>
            </a:r>
            <a:endParaRPr lang="en-US" sz="2933" dirty="0"/>
          </a:p>
        </p:txBody>
      </p:sp>
      <p:sp>
        <p:nvSpPr>
          <p:cNvPr id="7" name="Shape 4">
            <a:extLst>
              <a:ext uri="{FF2B5EF4-FFF2-40B4-BE49-F238E27FC236}">
                <a16:creationId xmlns:a16="http://schemas.microsoft.com/office/drawing/2014/main" id="{E8B085E1-6EE0-C885-B829-148DDE4413D7}"/>
              </a:ext>
            </a:extLst>
          </p:cNvPr>
          <p:cNvSpPr/>
          <p:nvPr/>
        </p:nvSpPr>
        <p:spPr>
          <a:xfrm>
            <a:off x="5120640" y="6486144"/>
            <a:ext cx="1950720" cy="0"/>
          </a:xfrm>
          <a:prstGeom prst="line">
            <a:avLst/>
          </a:prstGeom>
          <a:noFill/>
          <a:ln w="25400">
            <a:solidFill>
              <a:srgbClr val="2E3F7F"/>
            </a:solidFill>
            <a:prstDash val="solid"/>
          </a:ln>
        </p:spPr>
        <p:txBody>
          <a:bodyPr/>
          <a:lstStyle/>
          <a:p>
            <a:endParaRPr lang="fr-FR" sz="2400"/>
          </a:p>
        </p:txBody>
      </p:sp>
      <p:sp>
        <p:nvSpPr>
          <p:cNvPr id="8" name="Text 5">
            <a:extLst>
              <a:ext uri="{FF2B5EF4-FFF2-40B4-BE49-F238E27FC236}">
                <a16:creationId xmlns:a16="http://schemas.microsoft.com/office/drawing/2014/main" id="{C23BDEC9-92D7-3E53-3516-B05EE169217D}"/>
              </a:ext>
            </a:extLst>
          </p:cNvPr>
          <p:cNvSpPr/>
          <p:nvPr/>
        </p:nvSpPr>
        <p:spPr>
          <a:xfrm>
            <a:off x="6949440" y="6364224"/>
            <a:ext cx="304800" cy="243840"/>
          </a:xfrm>
          <a:prstGeom prst="rect">
            <a:avLst/>
          </a:prstGeom>
          <a:noFill/>
          <a:ln/>
        </p:spPr>
        <p:txBody>
          <a:bodyPr wrap="square" rtlCol="0" anchor="ctr"/>
          <a:lstStyle/>
          <a:p>
            <a:r>
              <a:rPr lang="en-US" sz="1067" dirty="0">
                <a:solidFill>
                  <a:srgbClr val="2E3F7F"/>
                </a:solidFill>
              </a:rPr>
              <a:t>▶</a:t>
            </a:r>
            <a:endParaRPr lang="en-US" sz="1067" dirty="0"/>
          </a:p>
        </p:txBody>
      </p:sp>
      <p:sp>
        <p:nvSpPr>
          <p:cNvPr id="9" name="Text 6">
            <a:extLst>
              <a:ext uri="{FF2B5EF4-FFF2-40B4-BE49-F238E27FC236}">
                <a16:creationId xmlns:a16="http://schemas.microsoft.com/office/drawing/2014/main" id="{57FB144C-AC90-325F-FBAF-E25134D091A4}"/>
              </a:ext>
            </a:extLst>
          </p:cNvPr>
          <p:cNvSpPr/>
          <p:nvPr/>
        </p:nvSpPr>
        <p:spPr>
          <a:xfrm>
            <a:off x="10728960" y="6400800"/>
            <a:ext cx="1219200" cy="365760"/>
          </a:xfrm>
          <a:prstGeom prst="rect">
            <a:avLst/>
          </a:prstGeom>
          <a:noFill/>
          <a:ln/>
        </p:spPr>
        <p:txBody>
          <a:bodyPr wrap="square" rtlCol="0" anchor="ctr"/>
          <a:lstStyle/>
          <a:p>
            <a:pPr algn="r"/>
            <a:endParaRPr lang="en-US" sz="1333" dirty="0"/>
          </a:p>
        </p:txBody>
      </p:sp>
      <p:pic>
        <p:nvPicPr>
          <p:cNvPr id="5" name="Image 4">
            <a:extLst>
              <a:ext uri="{FF2B5EF4-FFF2-40B4-BE49-F238E27FC236}">
                <a16:creationId xmlns:a16="http://schemas.microsoft.com/office/drawing/2014/main" id="{2283CE25-2AF6-153D-49B6-75C7A4752C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232" y="1114221"/>
            <a:ext cx="4116454" cy="2541280"/>
          </a:xfrm>
          <a:prstGeom prst="rect">
            <a:avLst/>
          </a:prstGeom>
        </p:spPr>
      </p:pic>
      <p:pic>
        <p:nvPicPr>
          <p:cNvPr id="11" name="Image 10">
            <a:extLst>
              <a:ext uri="{FF2B5EF4-FFF2-40B4-BE49-F238E27FC236}">
                <a16:creationId xmlns:a16="http://schemas.microsoft.com/office/drawing/2014/main" id="{B9E2BB30-AF48-232E-9A8D-16A91AE295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33384" y="1226823"/>
            <a:ext cx="2896071" cy="4404354"/>
          </a:xfrm>
          <a:prstGeom prst="rect">
            <a:avLst/>
          </a:prstGeom>
        </p:spPr>
      </p:pic>
      <p:pic>
        <p:nvPicPr>
          <p:cNvPr id="14" name="Image 13">
            <a:extLst>
              <a:ext uri="{FF2B5EF4-FFF2-40B4-BE49-F238E27FC236}">
                <a16:creationId xmlns:a16="http://schemas.microsoft.com/office/drawing/2014/main" id="{D97CF7A9-91E0-40E5-4921-E14BCF2D968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2545" y="3733402"/>
            <a:ext cx="4116454" cy="2541280"/>
          </a:xfrm>
          <a:prstGeom prst="rect">
            <a:avLst/>
          </a:prstGeom>
        </p:spPr>
      </p:pic>
      <p:pic>
        <p:nvPicPr>
          <p:cNvPr id="18" name="Image 17">
            <a:extLst>
              <a:ext uri="{FF2B5EF4-FFF2-40B4-BE49-F238E27FC236}">
                <a16:creationId xmlns:a16="http://schemas.microsoft.com/office/drawing/2014/main" id="{6BB2DC22-F67E-7955-FA4A-099B7DF4C90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88642" y="2384861"/>
            <a:ext cx="4116452" cy="2541279"/>
          </a:xfrm>
          <a:prstGeom prst="rect">
            <a:avLst/>
          </a:prstGeom>
        </p:spPr>
      </p:pic>
    </p:spTree>
    <p:extLst>
      <p:ext uri="{BB962C8B-B14F-4D97-AF65-F5344CB8AC3E}">
        <p14:creationId xmlns:p14="http://schemas.microsoft.com/office/powerpoint/2010/main" val="36813871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CA543-CF7C-8F38-05D3-EEB45010989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BA32D1A-D8FC-66A0-BF17-FE566A421CC5}"/>
              </a:ext>
            </a:extLst>
          </p:cNvPr>
          <p:cNvSpPr/>
          <p:nvPr/>
        </p:nvSpPr>
        <p:spPr>
          <a:xfrm>
            <a:off x="0" y="0"/>
            <a:ext cx="12192000" cy="1036320"/>
          </a:xfrm>
          <a:prstGeom prst="rect">
            <a:avLst/>
          </a:prstGeom>
          <a:solidFill>
            <a:srgbClr val="1C2B5E"/>
          </a:solidFill>
          <a:ln w="12700">
            <a:solidFill>
              <a:srgbClr val="1C2B5E"/>
            </a:solidFill>
            <a:prstDash val="solid"/>
          </a:ln>
        </p:spPr>
        <p:txBody>
          <a:bodyPr/>
          <a:lstStyle/>
          <a:p>
            <a:endParaRPr lang="fr-FR" sz="2400"/>
          </a:p>
        </p:txBody>
      </p:sp>
      <p:sp>
        <p:nvSpPr>
          <p:cNvPr id="3" name="Text 1">
            <a:extLst>
              <a:ext uri="{FF2B5EF4-FFF2-40B4-BE49-F238E27FC236}">
                <a16:creationId xmlns:a16="http://schemas.microsoft.com/office/drawing/2014/main" id="{1C970E09-B61B-9CBF-DB38-9E45A8B1B52E}"/>
              </a:ext>
            </a:extLst>
          </p:cNvPr>
          <p:cNvSpPr/>
          <p:nvPr/>
        </p:nvSpPr>
        <p:spPr>
          <a:xfrm>
            <a:off x="548640" y="0"/>
            <a:ext cx="10972800" cy="1036320"/>
          </a:xfrm>
          <a:prstGeom prst="rect">
            <a:avLst/>
          </a:prstGeom>
          <a:noFill/>
          <a:ln/>
        </p:spPr>
        <p:txBody>
          <a:bodyPr wrap="square" lIns="0" tIns="0" rIns="0" bIns="0" rtlCol="0" anchor="ctr"/>
          <a:lstStyle/>
          <a:p>
            <a:r>
              <a:rPr lang="en-US" sz="2933" b="1" dirty="0">
                <a:solidFill>
                  <a:srgbClr val="FFFFFF"/>
                </a:solidFill>
              </a:rPr>
              <a:t>Dataset 3</a:t>
            </a:r>
            <a:endParaRPr lang="en-US" sz="2933" dirty="0"/>
          </a:p>
        </p:txBody>
      </p:sp>
      <p:sp>
        <p:nvSpPr>
          <p:cNvPr id="7" name="Shape 4">
            <a:extLst>
              <a:ext uri="{FF2B5EF4-FFF2-40B4-BE49-F238E27FC236}">
                <a16:creationId xmlns:a16="http://schemas.microsoft.com/office/drawing/2014/main" id="{954BEDA5-9E01-DA26-5D66-17DEDFDD9272}"/>
              </a:ext>
            </a:extLst>
          </p:cNvPr>
          <p:cNvSpPr/>
          <p:nvPr/>
        </p:nvSpPr>
        <p:spPr>
          <a:xfrm>
            <a:off x="5120640" y="6486144"/>
            <a:ext cx="1950720" cy="0"/>
          </a:xfrm>
          <a:prstGeom prst="line">
            <a:avLst/>
          </a:prstGeom>
          <a:noFill/>
          <a:ln w="25400">
            <a:solidFill>
              <a:srgbClr val="2E3F7F"/>
            </a:solidFill>
            <a:prstDash val="solid"/>
          </a:ln>
        </p:spPr>
        <p:txBody>
          <a:bodyPr/>
          <a:lstStyle/>
          <a:p>
            <a:endParaRPr lang="fr-FR" sz="2400"/>
          </a:p>
        </p:txBody>
      </p:sp>
      <p:sp>
        <p:nvSpPr>
          <p:cNvPr id="8" name="Text 5">
            <a:extLst>
              <a:ext uri="{FF2B5EF4-FFF2-40B4-BE49-F238E27FC236}">
                <a16:creationId xmlns:a16="http://schemas.microsoft.com/office/drawing/2014/main" id="{46C31AC7-7DEB-6D46-C40F-315EFD99B3AA}"/>
              </a:ext>
            </a:extLst>
          </p:cNvPr>
          <p:cNvSpPr/>
          <p:nvPr/>
        </p:nvSpPr>
        <p:spPr>
          <a:xfrm>
            <a:off x="6949440" y="6364224"/>
            <a:ext cx="304800" cy="243840"/>
          </a:xfrm>
          <a:prstGeom prst="rect">
            <a:avLst/>
          </a:prstGeom>
          <a:noFill/>
          <a:ln/>
        </p:spPr>
        <p:txBody>
          <a:bodyPr wrap="square" rtlCol="0" anchor="ctr"/>
          <a:lstStyle/>
          <a:p>
            <a:r>
              <a:rPr lang="en-US" sz="1067" dirty="0">
                <a:solidFill>
                  <a:srgbClr val="2E3F7F"/>
                </a:solidFill>
              </a:rPr>
              <a:t>▶</a:t>
            </a:r>
            <a:endParaRPr lang="en-US" sz="1067" dirty="0"/>
          </a:p>
        </p:txBody>
      </p:sp>
      <p:sp>
        <p:nvSpPr>
          <p:cNvPr id="9" name="Text 6">
            <a:extLst>
              <a:ext uri="{FF2B5EF4-FFF2-40B4-BE49-F238E27FC236}">
                <a16:creationId xmlns:a16="http://schemas.microsoft.com/office/drawing/2014/main" id="{A8EF06A6-E383-28B1-39AF-D49B8A858DEA}"/>
              </a:ext>
            </a:extLst>
          </p:cNvPr>
          <p:cNvSpPr/>
          <p:nvPr/>
        </p:nvSpPr>
        <p:spPr>
          <a:xfrm>
            <a:off x="10728960" y="6400800"/>
            <a:ext cx="1219200" cy="365760"/>
          </a:xfrm>
          <a:prstGeom prst="rect">
            <a:avLst/>
          </a:prstGeom>
          <a:noFill/>
          <a:ln/>
        </p:spPr>
        <p:txBody>
          <a:bodyPr wrap="square" rtlCol="0" anchor="ctr"/>
          <a:lstStyle/>
          <a:p>
            <a:pPr algn="r"/>
            <a:r>
              <a:rPr lang="en-US" sz="1333" dirty="0">
                <a:solidFill>
                  <a:srgbClr val="4A5480"/>
                </a:solidFill>
              </a:rPr>
              <a:t>10/13</a:t>
            </a:r>
            <a:endParaRPr lang="en-US" sz="1333" dirty="0"/>
          </a:p>
        </p:txBody>
      </p:sp>
      <p:pic>
        <p:nvPicPr>
          <p:cNvPr id="5" name="Image 4">
            <a:extLst>
              <a:ext uri="{FF2B5EF4-FFF2-40B4-BE49-F238E27FC236}">
                <a16:creationId xmlns:a16="http://schemas.microsoft.com/office/drawing/2014/main" id="{FAEB2709-4EC4-CD1D-7C7C-1096DCA950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840" y="1158240"/>
            <a:ext cx="4800600" cy="2380943"/>
          </a:xfrm>
          <a:prstGeom prst="rect">
            <a:avLst/>
          </a:prstGeom>
        </p:spPr>
      </p:pic>
      <p:pic>
        <p:nvPicPr>
          <p:cNvPr id="11" name="Image 10">
            <a:extLst>
              <a:ext uri="{FF2B5EF4-FFF2-40B4-BE49-F238E27FC236}">
                <a16:creationId xmlns:a16="http://schemas.microsoft.com/office/drawing/2014/main" id="{32BA9978-4440-C023-2AB1-7C6C40E624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8640" y="3919590"/>
            <a:ext cx="4876800" cy="2134971"/>
          </a:xfrm>
          <a:prstGeom prst="rect">
            <a:avLst/>
          </a:prstGeom>
        </p:spPr>
      </p:pic>
      <p:pic>
        <p:nvPicPr>
          <p:cNvPr id="14" name="Image 13">
            <a:extLst>
              <a:ext uri="{FF2B5EF4-FFF2-40B4-BE49-F238E27FC236}">
                <a16:creationId xmlns:a16="http://schemas.microsoft.com/office/drawing/2014/main" id="{008F4B7D-EF28-053B-D5F7-85F05A4D609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53187" y="3626812"/>
            <a:ext cx="4894973" cy="2427749"/>
          </a:xfrm>
          <a:prstGeom prst="rect">
            <a:avLst/>
          </a:prstGeom>
        </p:spPr>
      </p:pic>
      <p:pic>
        <p:nvPicPr>
          <p:cNvPr id="18" name="Image 17">
            <a:extLst>
              <a:ext uri="{FF2B5EF4-FFF2-40B4-BE49-F238E27FC236}">
                <a16:creationId xmlns:a16="http://schemas.microsoft.com/office/drawing/2014/main" id="{C6CEA9ED-4213-C2E8-E314-8BF21145E23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43642" y="1187840"/>
            <a:ext cx="3649368" cy="2165885"/>
          </a:xfrm>
          <a:prstGeom prst="rect">
            <a:avLst/>
          </a:prstGeom>
        </p:spPr>
      </p:pic>
    </p:spTree>
    <p:extLst>
      <p:ext uri="{BB962C8B-B14F-4D97-AF65-F5344CB8AC3E}">
        <p14:creationId xmlns:p14="http://schemas.microsoft.com/office/powerpoint/2010/main" val="38046513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FC5C2-191D-706F-5935-C5DAC84305B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136541D-0786-ECC5-F6F0-C05B9066E2D6}"/>
              </a:ext>
            </a:extLst>
          </p:cNvPr>
          <p:cNvSpPr/>
          <p:nvPr/>
        </p:nvSpPr>
        <p:spPr>
          <a:xfrm>
            <a:off x="0" y="0"/>
            <a:ext cx="12192000" cy="1036320"/>
          </a:xfrm>
          <a:prstGeom prst="rect">
            <a:avLst/>
          </a:prstGeom>
          <a:solidFill>
            <a:srgbClr val="1C2B5E"/>
          </a:solidFill>
          <a:ln w="12700">
            <a:solidFill>
              <a:srgbClr val="1C2B5E"/>
            </a:solidFill>
            <a:prstDash val="solid"/>
          </a:ln>
        </p:spPr>
        <p:txBody>
          <a:bodyPr/>
          <a:lstStyle/>
          <a:p>
            <a:endParaRPr lang="fr-FR" sz="2400"/>
          </a:p>
        </p:txBody>
      </p:sp>
      <p:sp>
        <p:nvSpPr>
          <p:cNvPr id="3" name="Text 1">
            <a:extLst>
              <a:ext uri="{FF2B5EF4-FFF2-40B4-BE49-F238E27FC236}">
                <a16:creationId xmlns:a16="http://schemas.microsoft.com/office/drawing/2014/main" id="{76049975-DBC2-BA1F-630C-A4414E529F21}"/>
              </a:ext>
            </a:extLst>
          </p:cNvPr>
          <p:cNvSpPr/>
          <p:nvPr/>
        </p:nvSpPr>
        <p:spPr>
          <a:xfrm>
            <a:off x="548640" y="0"/>
            <a:ext cx="10972800" cy="1036320"/>
          </a:xfrm>
          <a:prstGeom prst="rect">
            <a:avLst/>
          </a:prstGeom>
          <a:noFill/>
          <a:ln/>
        </p:spPr>
        <p:txBody>
          <a:bodyPr wrap="square" lIns="0" tIns="0" rIns="0" bIns="0" rtlCol="0" anchor="ctr"/>
          <a:lstStyle/>
          <a:p>
            <a:r>
              <a:rPr lang="en-US" sz="2933" b="1" dirty="0">
                <a:solidFill>
                  <a:srgbClr val="FFFFFF"/>
                </a:solidFill>
              </a:rPr>
              <a:t>Dataset 4</a:t>
            </a:r>
            <a:endParaRPr lang="en-US" sz="2933" dirty="0"/>
          </a:p>
        </p:txBody>
      </p:sp>
      <p:sp>
        <p:nvSpPr>
          <p:cNvPr id="7" name="Shape 4">
            <a:extLst>
              <a:ext uri="{FF2B5EF4-FFF2-40B4-BE49-F238E27FC236}">
                <a16:creationId xmlns:a16="http://schemas.microsoft.com/office/drawing/2014/main" id="{4F81B02C-0980-462D-936F-B50F067B1874}"/>
              </a:ext>
            </a:extLst>
          </p:cNvPr>
          <p:cNvSpPr/>
          <p:nvPr/>
        </p:nvSpPr>
        <p:spPr>
          <a:xfrm>
            <a:off x="5120640" y="6486144"/>
            <a:ext cx="1950720" cy="0"/>
          </a:xfrm>
          <a:prstGeom prst="line">
            <a:avLst/>
          </a:prstGeom>
          <a:noFill/>
          <a:ln w="25400">
            <a:solidFill>
              <a:srgbClr val="2E3F7F"/>
            </a:solidFill>
            <a:prstDash val="solid"/>
          </a:ln>
        </p:spPr>
        <p:txBody>
          <a:bodyPr/>
          <a:lstStyle/>
          <a:p>
            <a:endParaRPr lang="fr-FR" sz="2400"/>
          </a:p>
        </p:txBody>
      </p:sp>
      <p:sp>
        <p:nvSpPr>
          <p:cNvPr id="8" name="Text 5">
            <a:extLst>
              <a:ext uri="{FF2B5EF4-FFF2-40B4-BE49-F238E27FC236}">
                <a16:creationId xmlns:a16="http://schemas.microsoft.com/office/drawing/2014/main" id="{0824F188-2CEB-8244-A13A-0BAE4C6F5CE4}"/>
              </a:ext>
            </a:extLst>
          </p:cNvPr>
          <p:cNvSpPr/>
          <p:nvPr/>
        </p:nvSpPr>
        <p:spPr>
          <a:xfrm>
            <a:off x="6949440" y="6364224"/>
            <a:ext cx="304800" cy="243840"/>
          </a:xfrm>
          <a:prstGeom prst="rect">
            <a:avLst/>
          </a:prstGeom>
          <a:noFill/>
          <a:ln/>
        </p:spPr>
        <p:txBody>
          <a:bodyPr wrap="square" rtlCol="0" anchor="ctr"/>
          <a:lstStyle/>
          <a:p>
            <a:r>
              <a:rPr lang="en-US" sz="1067" dirty="0">
                <a:solidFill>
                  <a:srgbClr val="2E3F7F"/>
                </a:solidFill>
              </a:rPr>
              <a:t>▶</a:t>
            </a:r>
            <a:endParaRPr lang="en-US" sz="1067" dirty="0"/>
          </a:p>
        </p:txBody>
      </p:sp>
      <p:sp>
        <p:nvSpPr>
          <p:cNvPr id="9" name="Text 6">
            <a:extLst>
              <a:ext uri="{FF2B5EF4-FFF2-40B4-BE49-F238E27FC236}">
                <a16:creationId xmlns:a16="http://schemas.microsoft.com/office/drawing/2014/main" id="{103FD873-A2F0-79E3-2299-E314ADE630F2}"/>
              </a:ext>
            </a:extLst>
          </p:cNvPr>
          <p:cNvSpPr/>
          <p:nvPr/>
        </p:nvSpPr>
        <p:spPr>
          <a:xfrm>
            <a:off x="10728960" y="6400800"/>
            <a:ext cx="1219200" cy="365760"/>
          </a:xfrm>
          <a:prstGeom prst="rect">
            <a:avLst/>
          </a:prstGeom>
          <a:noFill/>
          <a:ln/>
        </p:spPr>
        <p:txBody>
          <a:bodyPr wrap="square" rtlCol="0" anchor="ctr"/>
          <a:lstStyle/>
          <a:p>
            <a:pPr algn="r"/>
            <a:r>
              <a:rPr lang="en-US" sz="1333" dirty="0">
                <a:solidFill>
                  <a:srgbClr val="4A5480"/>
                </a:solidFill>
              </a:rPr>
              <a:t>10/13</a:t>
            </a:r>
            <a:endParaRPr lang="en-US" sz="1333" dirty="0"/>
          </a:p>
        </p:txBody>
      </p:sp>
      <p:pic>
        <p:nvPicPr>
          <p:cNvPr id="5" name="Image 4">
            <a:extLst>
              <a:ext uri="{FF2B5EF4-FFF2-40B4-BE49-F238E27FC236}">
                <a16:creationId xmlns:a16="http://schemas.microsoft.com/office/drawing/2014/main" id="{2A097F66-B02F-0D5E-046D-A7CEA4EA02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498" y="1244004"/>
            <a:ext cx="4879546" cy="2420098"/>
          </a:xfrm>
          <a:prstGeom prst="rect">
            <a:avLst/>
          </a:prstGeom>
        </p:spPr>
      </p:pic>
      <p:pic>
        <p:nvPicPr>
          <p:cNvPr id="11" name="Image 10">
            <a:extLst>
              <a:ext uri="{FF2B5EF4-FFF2-40B4-BE49-F238E27FC236}">
                <a16:creationId xmlns:a16="http://schemas.microsoft.com/office/drawing/2014/main" id="{32C5BFC7-7F00-94F1-CBF7-C17D51895D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7498" y="3893831"/>
            <a:ext cx="4763585" cy="2362585"/>
          </a:xfrm>
          <a:prstGeom prst="rect">
            <a:avLst/>
          </a:prstGeom>
        </p:spPr>
      </p:pic>
      <p:pic>
        <p:nvPicPr>
          <p:cNvPr id="14" name="Image 13">
            <a:extLst>
              <a:ext uri="{FF2B5EF4-FFF2-40B4-BE49-F238E27FC236}">
                <a16:creationId xmlns:a16="http://schemas.microsoft.com/office/drawing/2014/main" id="{E43C9632-4AD7-993A-B3FA-0CA5D31C279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96693" y="1244004"/>
            <a:ext cx="3841867" cy="2280133"/>
          </a:xfrm>
          <a:prstGeom prst="rect">
            <a:avLst/>
          </a:prstGeom>
        </p:spPr>
      </p:pic>
    </p:spTree>
    <p:extLst>
      <p:ext uri="{BB962C8B-B14F-4D97-AF65-F5344CB8AC3E}">
        <p14:creationId xmlns:p14="http://schemas.microsoft.com/office/powerpoint/2010/main" val="38257836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124</TotalTime>
  <Words>1251</Words>
  <Application>Microsoft Office PowerPoint</Application>
  <PresentationFormat>Grand écran</PresentationFormat>
  <Paragraphs>237</Paragraphs>
  <Slides>18</Slides>
  <Notes>18</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18</vt:i4>
      </vt:variant>
    </vt:vector>
  </HeadingPairs>
  <TitlesOfParts>
    <vt:vector size="22" baseType="lpstr">
      <vt:lpstr>Aptos</vt:lpstr>
      <vt:lpstr>Aptos Display</vt:lpstr>
      <vt:lpstr>Arial</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Asma AL RIFAI</dc:creator>
  <cp:lastModifiedBy>Réhane Aricat</cp:lastModifiedBy>
  <cp:revision>2</cp:revision>
  <dcterms:created xsi:type="dcterms:W3CDTF">2026-04-07T18:45:02Z</dcterms:created>
  <dcterms:modified xsi:type="dcterms:W3CDTF">2026-04-07T21:32:02Z</dcterms:modified>
</cp:coreProperties>
</file>